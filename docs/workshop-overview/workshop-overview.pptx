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is a design brief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4475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783080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me a dashboard.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21024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is a design brief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4475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783080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me a dashboard.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21024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51960" y="123444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35331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16552" y="1691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supervisor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36408" y="123444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35331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01000" y="1691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delayed jobs before the morning stand-up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265176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77063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6552" y="3108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Laptop, weak connection, 40+ jobs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36408" y="265176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77063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01000" y="3108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risk; open job details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406908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418795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16552" y="45262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supervisor finds one delayed job in under 20 seconds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480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is not decoration. It is the product decision written down.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prompts describe a situation—not a screen.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prompt is the start, not the finish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59152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96896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61488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35424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0016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3952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38544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74736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12480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77072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prompt is the start, not the finish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59152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96896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61488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35424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0016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3952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38544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74736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12480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77072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278892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29077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PROMPT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1832" y="3246120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made a page!”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87168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77240" y="4315968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43484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PROMPT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" y="4773168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solves the task.”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prompt is the start, not the finish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59152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96896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61488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35424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0016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3952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38544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74736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12480" y="1325880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14447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77072" y="1783080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278892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29077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PROMPT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1832" y="3246120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made a page!”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87168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77240" y="4315968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43484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PROMPT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" y="4773168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solves the task.”</a:t>
            </a:r>
            <a:endParaRPr lang="en-US" sz="1400" dirty="0"/>
          </a:p>
        </p:txBody>
      </p:sp>
      <p:pic>
        <p:nvPicPr>
          <p:cNvPr id="31" name="Image 0" descr="/workspace/docs/workshop-overview/assets/agent-it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4600"/>
            <a:ext cx="5715000" cy="321868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judgment lives in the loop.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gives meaning. CSS gives direction.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5448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91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37744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514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20040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337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060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9377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HTML: what each region 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gives meaning. CSS gives direction.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5448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91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37744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514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20040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337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060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9377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HTML: what each region 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5361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6792" y="187452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first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14173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1392" y="15361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51392" y="187452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belongs together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28346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29535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36792" y="329184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0" y="28346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51392" y="29535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51392" y="329184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eye moves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CSS: how the structure communicates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Agent for both: what each part is and how it should 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is one moment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selected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is one moment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selected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job details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200400"/>
            <a:ext cx="68580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delayed jobs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657600"/>
            <a:ext cx="50292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is one moment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selected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job details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200400"/>
            <a:ext cx="68580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delayed jobs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0063A3"/>
          </a:solidFill>
          <a:ln w="12700">
            <a:solidFill>
              <a:srgbClr val="0063A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657600"/>
            <a:ext cx="50292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load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B83B3B"/>
          </a:solidFill>
          <a:ln w="12700">
            <a:solidFill>
              <a:srgbClr val="B83B3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36608" y="1417320"/>
            <a:ext cx="1938528" cy="3520440"/>
          </a:xfrm>
          <a:prstGeom prst="roundRect">
            <a:avLst>
              <a:gd name="adj" fmla="val 4717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0" y="1536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0" y="1874520"/>
            <a:ext cx="16093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ready to review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92640" y="27432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2D7A58"/>
          </a:solidFill>
          <a:ln w="12700">
            <a:solidFill>
              <a:srgbClr val="2D7A5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3200400"/>
            <a:ext cx="142646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365760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66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00200" y="5157216"/>
            <a:ext cx="8732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REQUEST → RESPONSE → RECOVERY 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is the movement between these moments.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framework appear?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filter panel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47288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“high”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34456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08776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changes the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9594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70264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list updates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framework appear?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filter panel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47288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“high”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34456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08776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changes the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9594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70264" y="13258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44475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1783080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list updates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system above can ride in different vehicles: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60720" y="30175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31363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25312" y="3474720"/>
            <a:ext cx="131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choice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30175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31363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99832" y="3474720"/>
            <a:ext cx="131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valid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509760" y="30175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74352" y="31363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74352" y="3474720"/>
            <a:ext cx="131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valid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1605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product idea. Different implementation vehicle.</a:t>
            </a:r>
            <a:endParaRPr lang="en-US" sz="2500" dirty="0"/>
          </a:p>
        </p:txBody>
      </p:sp>
      <p:sp>
        <p:nvSpPr>
          <p:cNvPr id="31" name="Shape 29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the vehicle. The interaction is the design.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Figma link carries structured context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link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288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+ variables + layout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70448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8776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builds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31936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70264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comparison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Figma link carries structured context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link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288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+ variables + layout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70448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8776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builds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31936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70264" y="132588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444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1783080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comparison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8016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31363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44752" y="3474720"/>
            <a:ext cx="36941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3796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1363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MCP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02552" y="3474720"/>
            <a:ext cx="36941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structure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8920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· components · variables · assets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Agent the selection and the user goal.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skills, and MCP do different jobs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wall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follow these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Modus.”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skills, and MCP do different jobs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wall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follow these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Modus.”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4447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783080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playbook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workflow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a form this way.”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skills, and MCP do different jobs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wall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follow these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Modus.”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4447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783080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playbook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workflow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a form this way.”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4447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57032" y="1783080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library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current facts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event is current?”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reduce guessing. They do not replace your brief.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invent a second design 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61872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07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190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invents substitutes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59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Custom button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175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Almost-right spacing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New colors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3342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One-off modal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invent a second design 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61872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07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190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invents substitutes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59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Custom button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175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Almost-right spacing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New colors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3342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One-off modal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84448" y="1261872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3807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7190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product language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21608" y="2240280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359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Foundations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21608" y="2898648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0175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Components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21608" y="3557016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Patterns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21608" y="4215384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43342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Templates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invent a second design 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61872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07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190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invents substitutes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59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Custom button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175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Almost-right spacing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New colors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3342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One-off modal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84448" y="1261872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3807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7190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product language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21608" y="2240280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359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Foundations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21608" y="2898648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0175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Components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21608" y="3557016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Patterns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21608" y="4215384"/>
            <a:ext cx="2468880" cy="530352"/>
          </a:xfrm>
          <a:prstGeom prst="roundRect">
            <a:avLst>
              <a:gd name="adj" fmla="val 17241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43342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Templates</a:t>
            </a:r>
            <a:endParaRPr lang="en-US" sz="1400" dirty="0"/>
          </a:p>
        </p:txBody>
      </p:sp>
      <p:pic>
        <p:nvPicPr>
          <p:cNvPr id="27" name="Image 0" descr="/workspace/docs/workshop-overview/assets/design-system-re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17320"/>
            <a:ext cx="4663440" cy="350215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583680" y="5047488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515721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“I made a design system!”  Designer: “We already have one.”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Modus. Change only what the product truly needs.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works” is a claim. The browser is evidence.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TASK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someone finish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STATES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Empty, loading, error, success?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works” is a claim. The browser is evidence.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TASK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someone finish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STATES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Empty, loading, error, success?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LAYOUT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and wide?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3649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KEYBOARD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370332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visible and usable?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works” is a claim. The browser is evidence.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TASK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someone finish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STATES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Empty, loading, error, success?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990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LAYOUT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73736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and wide?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3649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KEYBOARD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370332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visible and usable?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32461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33649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CONTENT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370332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names and real volume?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2440" y="32461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33649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REGRESSION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57032" y="3703320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earlier flow still work?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230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says: “Done.”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26680" y="5230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shows: evidence.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behavior. Do not accept the status message.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Figma to a prototype people can try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159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Figma to a prototype people can try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159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447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66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735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554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8023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669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Figma to a prototype people can try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0412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438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3/3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159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447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66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735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5548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802368" y="12801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13990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66960" y="17373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1560" y="2788920"/>
            <a:ext cx="9966960" cy="2331720"/>
          </a:xfrm>
          <a:prstGeom prst="arc">
            <a:avLst/>
          </a:prstGeom>
          <a:solidFill>
            <a:srgbClr val="FFFFFF">
              <a:alpha val="0"/>
            </a:srgbClr>
          </a:solidFill>
          <a:ln w="31750">
            <a:solidFill>
              <a:srgbClr val="F47F20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34340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AT EVERY STEP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07008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560320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24912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913632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78224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78224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66944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31536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20256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4848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84848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973568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138160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326880" y="3456432"/>
            <a:ext cx="1143000" cy="822960"/>
          </a:xfrm>
          <a:prstGeom prst="roundRect">
            <a:avLst>
              <a:gd name="adj" fmla="val 11111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91472" y="3575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491472" y="391363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shareable prototype turns opinion into something people can try.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640080" y="59893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7824" y="60899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not code. It is evidence for a product decision.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Trimble Modus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with Agent</dc:title>
  <dc:subject>Ten visual lessons for building a working prototype</dc:subject>
  <dc:creator>Modus AI Design Workshop</dc:creator>
  <cp:lastModifiedBy>Modus AI Design Workshop</cp:lastModifiedBy>
  <cp:revision>1</cp:revision>
  <dcterms:created xsi:type="dcterms:W3CDTF">2026-08-16T05:29:34Z</dcterms:created>
  <dcterms:modified xsi:type="dcterms:W3CDTF">2026-08-16T05:29:34Z</dcterms:modified>
</cp:coreProperties>
</file>