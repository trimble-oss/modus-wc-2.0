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is a design brief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44752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 REQUEST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" y="1783080"/>
            <a:ext cx="2505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me a dashboard.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21024" y="1536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251960" y="123444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16552" y="13533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16552" y="16916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supervisor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836408" y="123444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1000" y="13533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01000" y="169164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delayed jobs before the morning stand-up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51960" y="265176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277063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16552" y="3108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Laptop, weak connection, 40+ jobs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36408" y="265176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277063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01000" y="310896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risk; open job details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51960" y="4069080"/>
            <a:ext cx="3337560" cy="1207008"/>
          </a:xfrm>
          <a:prstGeom prst="roundRect">
            <a:avLst>
              <a:gd name="adj" fmla="val 757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16552" y="418795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16552" y="4526280"/>
            <a:ext cx="3008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supervisor finds one delayed job in under 20 seconds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48056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prompt is not decoration. It is the product decision written down.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prompts describe a situation—not a screen.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prompt is the start, not the finish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59152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96896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61488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61488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97680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35424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00016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36208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73952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38544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74736" y="1572768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412480" y="1325880"/>
            <a:ext cx="1664208" cy="868680"/>
          </a:xfrm>
          <a:prstGeom prst="roundRect">
            <a:avLst>
              <a:gd name="adj" fmla="val 1052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77072" y="1444752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77072" y="1783080"/>
            <a:ext cx="1335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51560" y="2788920"/>
            <a:ext cx="4297680" cy="2148840"/>
          </a:xfrm>
          <a:prstGeom prst="roundRect">
            <a:avLst>
              <a:gd name="adj" fmla="val 4255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16152" y="2907792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PROMPT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16152" y="3246120"/>
            <a:ext cx="396849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made a page!”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532120" y="3456432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≠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6720840" y="2788920"/>
            <a:ext cx="4297680" cy="2148840"/>
          </a:xfrm>
          <a:prstGeom prst="roundRect">
            <a:avLst>
              <a:gd name="adj" fmla="val 4255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85432" y="2907792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FIFTH PROMPT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85432" y="3246120"/>
            <a:ext cx="396849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solves the task.”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judgment lives in the loop.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gives meaning. CSS gives direction.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507492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55448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69164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05840" y="237744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25146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3200400"/>
            <a:ext cx="4434840" cy="1417320"/>
          </a:xfrm>
          <a:prstGeom prst="roundRect">
            <a:avLst>
              <a:gd name="adj" fmla="val 6452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33375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05840" y="4800600"/>
            <a:ext cx="4434840" cy="658368"/>
          </a:xfrm>
          <a:prstGeom prst="roundRect">
            <a:avLst>
              <a:gd name="adj" fmla="val 13889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49377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action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HTML: what each region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141732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36792" y="153619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36792" y="187452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matters first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86800" y="141732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51392" y="153619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851392" y="187452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belongs together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72200" y="28346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36792" y="29535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36792" y="329184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attention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283464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51392" y="295351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851392" y="3291840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eye moves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4652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CSS: how the structure communicates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Agent for both: what each part is and how it should read.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is one moment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selected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1752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job details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10896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08960" y="3200400"/>
            <a:ext cx="68580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4748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delayed jobs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30352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0063A3"/>
          </a:solidFill>
          <a:ln w="12700">
            <a:solidFill>
              <a:srgbClr val="0063A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0" y="3657600"/>
            <a:ext cx="50292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4204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0664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not load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B83B3B"/>
          </a:solidFill>
          <a:ln w="12700">
            <a:solidFill>
              <a:srgbClr val="B83B3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36608" y="1417320"/>
            <a:ext cx="1938528" cy="3520440"/>
          </a:xfrm>
          <a:prstGeom prst="roundRect">
            <a:avLst>
              <a:gd name="adj" fmla="val 4717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0" y="1536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601200" y="1874520"/>
            <a:ext cx="160934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ready to review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692640" y="27432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2D7A58"/>
          </a:solidFill>
          <a:ln w="12700">
            <a:solidFill>
              <a:srgbClr val="2D7A58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692640" y="3200400"/>
            <a:ext cx="1426464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92640" y="3657600"/>
            <a:ext cx="105156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5166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600200" y="5157216"/>
            <a:ext cx="8732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REQUEST → RESPONSE → RECOVERY →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product is the movement between these moments.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framework appear?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reusable filter panel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47288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11880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= “high”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34456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08776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3368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 changes the filter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9594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970264" y="132588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144475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34856" y="1783080"/>
            <a:ext cx="21854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list updates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2461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system above can ride in different vehicles: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76072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2531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2531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choice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3524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9983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9983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509760" y="301752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74352" y="3136392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74352" y="3474720"/>
            <a:ext cx="131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416052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7252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product idea. Different implementation vehicle.</a:t>
            </a:r>
            <a:endParaRPr lang="en-US" sz="2500" dirty="0"/>
          </a:p>
        </p:txBody>
      </p:sp>
      <p:sp>
        <p:nvSpPr>
          <p:cNvPr id="30" name="Shape 28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is the vehicle. The interaction is the design.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Figma link carries structured context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link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0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47288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11880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+ variables + layout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70448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08776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3368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builds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31936" y="1673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70264" y="1325880"/>
            <a:ext cx="2423160" cy="1051560"/>
          </a:xfrm>
          <a:prstGeom prst="roundRect">
            <a:avLst>
              <a:gd name="adj" fmla="val 8696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1444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34856" y="1783080"/>
            <a:ext cx="209397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comparison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280160" y="30175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E8ECEF"/>
          </a:solidFill>
          <a:ln w="12700">
            <a:solidFill>
              <a:srgbClr val="E8ECE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44752" y="313639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44752" y="3474720"/>
            <a:ext cx="369417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0" y="3429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537960" y="30175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02552" y="313639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MCP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02552" y="3474720"/>
            <a:ext cx="369417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48920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· components · variables · assets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Agent the selection and the user goal.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skills, and MCP do different jobs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wall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follow these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“Use Modus.”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5371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playbook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workflow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“Build a form this way.”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92440" y="1325880"/>
            <a:ext cx="3383280" cy="3429000"/>
          </a:xfrm>
          <a:prstGeom prst="roundRect">
            <a:avLst>
              <a:gd name="adj" fmla="val 2703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144475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57032" y="1783080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library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30632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current facts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6676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“Which event is current?”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they reduce guessing. They do not replace your brief.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invent a second design system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61872"/>
            <a:ext cx="4846320" cy="731520"/>
          </a:xfrm>
          <a:prstGeom prst="roundRect">
            <a:avLst>
              <a:gd name="adj" fmla="val 12500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380744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SYSTEM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19072"/>
            <a:ext cx="4517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invents familiar-looking substitutes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656832" y="1261872"/>
            <a:ext cx="4846320" cy="731520"/>
          </a:xfrm>
          <a:prstGeom prst="roundRect">
            <a:avLst>
              <a:gd name="adj" fmla="val 125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1424" y="1380744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21424" y="1719072"/>
            <a:ext cx="45171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starts from shared product language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359152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Custom button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2898648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01752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Almost-right spacing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557016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67588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New colors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215384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F7E2E2"/>
          </a:solidFill>
          <a:ln w="12700">
            <a:solidFill>
              <a:srgbClr val="F7E2E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4334256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One-off modal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93992" y="2240280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58584" y="2359152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Foundations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93992" y="2898648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58584" y="301752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Components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793992" y="3557016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58584" y="3675888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Patterns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93992" y="4215384"/>
            <a:ext cx="4572000" cy="530352"/>
          </a:xfrm>
          <a:prstGeom prst="roundRect">
            <a:avLst>
              <a:gd name="adj" fmla="val 17241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58584" y="4334256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Templates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017520" y="4983480"/>
            <a:ext cx="6126480" cy="685800"/>
          </a:xfrm>
          <a:prstGeom prst="roundRect">
            <a:avLst>
              <a:gd name="adj" fmla="val 13333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46120" y="51023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 “I made a design system!”  Designer: “We already have one.”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Modus. Change only what the product truly needs.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works” is a claim. The browser is evidence.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TASK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someone finish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STATES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5371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Empty, loading, error, success?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2440" y="128016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7032" y="139903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LAYOUT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57032" y="173736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 and wide?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KEYBOARD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039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visible and usable?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12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CONTENT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names and real volume?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092440" y="324612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57032" y="33649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 REGRESSION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57032" y="3703320"/>
            <a:ext cx="305409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earlier flow still work?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5230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says: “Done.”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726680" y="52303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7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shows: evidence.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behavior. Do not accept the status message.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Figma to a prototype people can try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0789920" y="4389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36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871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517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690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159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978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447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266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9735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1381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555480" y="15727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9802368" y="1280160"/>
            <a:ext cx="1572768" cy="914400"/>
          </a:xfrm>
          <a:prstGeom prst="roundRect">
            <a:avLst>
              <a:gd name="adj" fmla="val 10000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66960" y="139903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966960" y="173736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URL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51560" y="2788920"/>
            <a:ext cx="9966960" cy="2331720"/>
          </a:xfrm>
          <a:prstGeom prst="arc">
            <a:avLst/>
          </a:prstGeom>
          <a:solidFill>
            <a:srgbClr val="FFFFFF">
              <a:alpha val="0"/>
            </a:srgbClr>
          </a:solidFill>
          <a:ln w="31750">
            <a:solidFill>
              <a:srgbClr val="F47F20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4343400" y="2999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130" kern="0" dirty="0">
                <a:solidFill>
                  <a:srgbClr val="F47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AT EVERY STEP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207008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71600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60320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24912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724912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913632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78224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078224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266944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31536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31536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620256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84848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784848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973568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EBE3F5"/>
          </a:solidFill>
          <a:ln w="12700">
            <a:solidFill>
              <a:srgbClr val="EBE3F5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0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38160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326880" y="3456432"/>
            <a:ext cx="1143000" cy="822960"/>
          </a:xfrm>
          <a:prstGeom prst="roundRect">
            <a:avLst>
              <a:gd name="adj" fmla="val 11111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91472" y="3575304"/>
            <a:ext cx="813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9491472" y="391363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914400" y="48920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3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shareable prototype turns opinion into something people can try.</a:t>
            </a:r>
            <a:endParaRPr lang="en-US" sz="2200" dirty="0"/>
          </a:p>
        </p:txBody>
      </p:sp>
      <p:sp>
        <p:nvSpPr>
          <p:cNvPr id="51" name="Shape 49"/>
          <p:cNvSpPr/>
          <p:nvPr/>
        </p:nvSpPr>
        <p:spPr>
          <a:xfrm>
            <a:off x="640080" y="5989320"/>
            <a:ext cx="10881360" cy="512064"/>
          </a:xfrm>
          <a:prstGeom prst="roundRect">
            <a:avLst>
              <a:gd name="adj" fmla="val 17857"/>
            </a:avLst>
          </a:prstGeom>
          <a:solidFill>
            <a:srgbClr val="003E63"/>
          </a:solidFill>
          <a:ln w="12700">
            <a:solidFill>
              <a:srgbClr val="003E63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77824" y="6089904"/>
            <a:ext cx="10405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is not code. It is evidence for a product decision.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Trimble Modus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with Agent</dc:title>
  <dc:subject>Ten visual lessons for building a working prototype</dc:subject>
  <dc:creator>Modus AI Design Workshop</dc:creator>
  <cp:lastModifiedBy>Modus AI Design Workshop</cp:lastModifiedBy>
  <cp:revision>1</cp:revision>
  <dcterms:created xsi:type="dcterms:W3CDTF">2026-08-16T01:40:11Z</dcterms:created>
  <dcterms:modified xsi:type="dcterms:W3CDTF">2026-08-16T01:40:11Z</dcterms:modified>
</cp:coreProperties>
</file>