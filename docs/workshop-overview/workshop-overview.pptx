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SE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9C74F"/>
          </a:solidFill>
          <a:ln w="12700">
            <a:solidFill>
              <a:srgbClr val="F9C74F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64808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64808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Natural language is a design brief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10104120" y="43891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10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835640" y="43891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1/2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1325880"/>
            <a:ext cx="2834640" cy="1097280"/>
          </a:xfrm>
          <a:prstGeom prst="roundRect">
            <a:avLst>
              <a:gd name="adj" fmla="val 8333"/>
            </a:avLst>
          </a:prstGeom>
          <a:solidFill>
            <a:srgbClr val="F7E2E2"/>
          </a:solidFill>
          <a:ln w="12700">
            <a:solidFill>
              <a:srgbClr val="F7E2E2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1444752"/>
            <a:ext cx="2505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VAGUE REQUEST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04672" y="1783080"/>
            <a:ext cx="25054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 me a dashboard.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621024" y="1536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64808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Natural language is a design brief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10104120" y="43891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10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835640" y="43891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2/2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1325880"/>
            <a:ext cx="2834640" cy="1097280"/>
          </a:xfrm>
          <a:prstGeom prst="roundRect">
            <a:avLst>
              <a:gd name="adj" fmla="val 8333"/>
            </a:avLst>
          </a:prstGeom>
          <a:solidFill>
            <a:srgbClr val="F7E2E2"/>
          </a:solidFill>
          <a:ln w="12700">
            <a:solidFill>
              <a:srgbClr val="F7E2E2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1444752"/>
            <a:ext cx="2505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VAGUE REQUEST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04672" y="1783080"/>
            <a:ext cx="25054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 me a dashboard.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621024" y="1536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4251960" y="1234440"/>
            <a:ext cx="3337560" cy="1207008"/>
          </a:xfrm>
          <a:prstGeom prst="roundRect">
            <a:avLst>
              <a:gd name="adj" fmla="val 7576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16552" y="1353312"/>
            <a:ext cx="3008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416552" y="1691640"/>
            <a:ext cx="30083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 supervisor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836408" y="1234440"/>
            <a:ext cx="3337560" cy="1207008"/>
          </a:xfrm>
          <a:prstGeom prst="roundRect">
            <a:avLst>
              <a:gd name="adj" fmla="val 7576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01000" y="1353312"/>
            <a:ext cx="3008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001000" y="1691640"/>
            <a:ext cx="30083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delayed jobs before the morning stand-up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251960" y="2651760"/>
            <a:ext cx="3337560" cy="1207008"/>
          </a:xfrm>
          <a:prstGeom prst="roundRect">
            <a:avLst>
              <a:gd name="adj" fmla="val 7576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16552" y="2770632"/>
            <a:ext cx="3008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416552" y="3108960"/>
            <a:ext cx="30083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Laptop, weak connection, 40+ jobs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836408" y="2651760"/>
            <a:ext cx="3337560" cy="1207008"/>
          </a:xfrm>
          <a:prstGeom prst="roundRect">
            <a:avLst>
              <a:gd name="adj" fmla="val 7576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01000" y="2770632"/>
            <a:ext cx="3008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001000" y="3108960"/>
            <a:ext cx="30083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 by risk; open job details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251960" y="4069080"/>
            <a:ext cx="3337560" cy="1207008"/>
          </a:xfrm>
          <a:prstGeom prst="roundRect">
            <a:avLst>
              <a:gd name="adj" fmla="val 7576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416552" y="4187952"/>
            <a:ext cx="3008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ACCEPTANCE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416552" y="4526280"/>
            <a:ext cx="30083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supervisor finds one delayed job in under 20 seconds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58368" y="4480560"/>
            <a:ext cx="2971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83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prompt is not decoration. It is the product decision written down.</a:t>
            </a:r>
            <a:endParaRPr lang="en-US" sz="2000" dirty="0"/>
          </a:p>
        </p:txBody>
      </p:sp>
      <p:sp>
        <p:nvSpPr>
          <p:cNvPr id="25" name="Shape 23"/>
          <p:cNvSpPr/>
          <p:nvPr/>
        </p:nvSpPr>
        <p:spPr>
          <a:xfrm>
            <a:off x="640080" y="5989320"/>
            <a:ext cx="10881360" cy="512064"/>
          </a:xfrm>
          <a:prstGeom prst="roundRect">
            <a:avLst>
              <a:gd name="adj" fmla="val 17857"/>
            </a:avLst>
          </a:prstGeom>
          <a:solidFill>
            <a:srgbClr val="003E63"/>
          </a:solidFill>
          <a:ln w="12700">
            <a:solidFill>
              <a:srgbClr val="003E63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77824" y="6089904"/>
            <a:ext cx="10405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Useful prompts describe a situation—not a screen.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64808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first prompt is the start, not the finish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10104120" y="43891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10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835640" y="43891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1/3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58368" y="1325880"/>
            <a:ext cx="1664208" cy="868680"/>
          </a:xfrm>
          <a:prstGeom prst="roundRect">
            <a:avLst>
              <a:gd name="adj" fmla="val 10526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444752"/>
            <a:ext cx="1335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783080"/>
            <a:ext cx="13350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359152" y="1572768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2596896" y="1325880"/>
            <a:ext cx="1664208" cy="868680"/>
          </a:xfrm>
          <a:prstGeom prst="roundRect">
            <a:avLst>
              <a:gd name="adj" fmla="val 10526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61488" y="1444752"/>
            <a:ext cx="1335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61488" y="1783080"/>
            <a:ext cx="13350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297680" y="1572768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535424" y="1325880"/>
            <a:ext cx="1664208" cy="868680"/>
          </a:xfrm>
          <a:prstGeom prst="roundRect">
            <a:avLst>
              <a:gd name="adj" fmla="val 10526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00016" y="1444752"/>
            <a:ext cx="1335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700016" y="1783080"/>
            <a:ext cx="13350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Preview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236208" y="1572768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6473952" y="1325880"/>
            <a:ext cx="1664208" cy="868680"/>
          </a:xfrm>
          <a:prstGeom prst="roundRect">
            <a:avLst>
              <a:gd name="adj" fmla="val 10526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38544" y="1444752"/>
            <a:ext cx="1335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638544" y="1783080"/>
            <a:ext cx="13350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174736" y="1572768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8412480" y="1325880"/>
            <a:ext cx="1664208" cy="868680"/>
          </a:xfrm>
          <a:prstGeom prst="roundRect">
            <a:avLst>
              <a:gd name="adj" fmla="val 10526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77072" y="1444752"/>
            <a:ext cx="1335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577072" y="1783080"/>
            <a:ext cx="13350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64808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first prompt is the start, not the finish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10104120" y="43891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10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835640" y="43891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2/3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58368" y="1325880"/>
            <a:ext cx="1664208" cy="868680"/>
          </a:xfrm>
          <a:prstGeom prst="roundRect">
            <a:avLst>
              <a:gd name="adj" fmla="val 10526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444752"/>
            <a:ext cx="1335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783080"/>
            <a:ext cx="13350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359152" y="1572768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2596896" y="1325880"/>
            <a:ext cx="1664208" cy="868680"/>
          </a:xfrm>
          <a:prstGeom prst="roundRect">
            <a:avLst>
              <a:gd name="adj" fmla="val 10526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61488" y="1444752"/>
            <a:ext cx="1335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61488" y="1783080"/>
            <a:ext cx="13350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297680" y="1572768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535424" y="1325880"/>
            <a:ext cx="1664208" cy="868680"/>
          </a:xfrm>
          <a:prstGeom prst="roundRect">
            <a:avLst>
              <a:gd name="adj" fmla="val 10526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00016" y="1444752"/>
            <a:ext cx="1335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700016" y="1783080"/>
            <a:ext cx="13350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Preview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236208" y="1572768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6473952" y="1325880"/>
            <a:ext cx="1664208" cy="868680"/>
          </a:xfrm>
          <a:prstGeom prst="roundRect">
            <a:avLst>
              <a:gd name="adj" fmla="val 10526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38544" y="1444752"/>
            <a:ext cx="1335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638544" y="1783080"/>
            <a:ext cx="13350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174736" y="1572768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8412480" y="1325880"/>
            <a:ext cx="1664208" cy="868680"/>
          </a:xfrm>
          <a:prstGeom prst="roundRect">
            <a:avLst>
              <a:gd name="adj" fmla="val 10526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77072" y="1444752"/>
            <a:ext cx="1335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577072" y="1783080"/>
            <a:ext cx="13350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Revise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777240" y="2788920"/>
            <a:ext cx="3886200" cy="960120"/>
          </a:xfrm>
          <a:prstGeom prst="roundRect">
            <a:avLst>
              <a:gd name="adj" fmla="val 9524"/>
            </a:avLst>
          </a:prstGeom>
          <a:solidFill>
            <a:srgbClr val="F7E2E2"/>
          </a:solidFill>
          <a:ln w="12700">
            <a:solidFill>
              <a:srgbClr val="F7E2E2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41832" y="2907792"/>
            <a:ext cx="3557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PROMPT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941832" y="3246120"/>
            <a:ext cx="35570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“It made a page!”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2487168" y="38404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777240" y="4315968"/>
            <a:ext cx="3886200" cy="960120"/>
          </a:xfrm>
          <a:prstGeom prst="roundRect">
            <a:avLst>
              <a:gd name="adj" fmla="val 9524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41832" y="4434840"/>
            <a:ext cx="3557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FIFTH PROMPT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941832" y="4773168"/>
            <a:ext cx="35570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“It solves the task.”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64808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first prompt is the start, not the finish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10104120" y="43891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10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835640" y="43891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3/3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58368" y="1325880"/>
            <a:ext cx="1664208" cy="868680"/>
          </a:xfrm>
          <a:prstGeom prst="roundRect">
            <a:avLst>
              <a:gd name="adj" fmla="val 10526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444752"/>
            <a:ext cx="1335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783080"/>
            <a:ext cx="13350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359152" y="1572768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2596896" y="1325880"/>
            <a:ext cx="1664208" cy="868680"/>
          </a:xfrm>
          <a:prstGeom prst="roundRect">
            <a:avLst>
              <a:gd name="adj" fmla="val 10526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61488" y="1444752"/>
            <a:ext cx="1335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61488" y="1783080"/>
            <a:ext cx="13350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297680" y="1572768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535424" y="1325880"/>
            <a:ext cx="1664208" cy="868680"/>
          </a:xfrm>
          <a:prstGeom prst="roundRect">
            <a:avLst>
              <a:gd name="adj" fmla="val 10526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00016" y="1444752"/>
            <a:ext cx="1335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700016" y="1783080"/>
            <a:ext cx="13350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Preview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236208" y="1572768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6473952" y="1325880"/>
            <a:ext cx="1664208" cy="868680"/>
          </a:xfrm>
          <a:prstGeom prst="roundRect">
            <a:avLst>
              <a:gd name="adj" fmla="val 10526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38544" y="1444752"/>
            <a:ext cx="1335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638544" y="1783080"/>
            <a:ext cx="13350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174736" y="1572768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8412480" y="1325880"/>
            <a:ext cx="1664208" cy="868680"/>
          </a:xfrm>
          <a:prstGeom prst="roundRect">
            <a:avLst>
              <a:gd name="adj" fmla="val 10526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77072" y="1444752"/>
            <a:ext cx="1335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577072" y="1783080"/>
            <a:ext cx="13350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Revise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777240" y="2788920"/>
            <a:ext cx="3886200" cy="960120"/>
          </a:xfrm>
          <a:prstGeom prst="roundRect">
            <a:avLst>
              <a:gd name="adj" fmla="val 9524"/>
            </a:avLst>
          </a:prstGeom>
          <a:solidFill>
            <a:srgbClr val="F7E2E2"/>
          </a:solidFill>
          <a:ln w="12700">
            <a:solidFill>
              <a:srgbClr val="F7E2E2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41832" y="2907792"/>
            <a:ext cx="3557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PROMPT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941832" y="3246120"/>
            <a:ext cx="35570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“It made a page!”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2487168" y="38404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777240" y="4315968"/>
            <a:ext cx="3886200" cy="960120"/>
          </a:xfrm>
          <a:prstGeom prst="roundRect">
            <a:avLst>
              <a:gd name="adj" fmla="val 9524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41832" y="4434840"/>
            <a:ext cx="3557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FIFTH PROMPT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941832" y="4773168"/>
            <a:ext cx="35570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“It solves the task.”</a:t>
            </a:r>
            <a:endParaRPr lang="en-US" sz="1400" dirty="0"/>
          </a:p>
        </p:txBody>
      </p:sp>
      <p:pic>
        <p:nvPicPr>
          <p:cNvPr id="31" name="Image 0" descr="/workspace/docs/workshop-overview/assets/agent-it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74920" y="2514600"/>
            <a:ext cx="5715000" cy="3218688"/>
          </a:xfrm>
          <a:prstGeom prst="rect">
            <a:avLst/>
          </a:prstGeom>
        </p:spPr>
      </p:pic>
      <p:sp>
        <p:nvSpPr>
          <p:cNvPr id="32" name="Shape 29"/>
          <p:cNvSpPr/>
          <p:nvPr/>
        </p:nvSpPr>
        <p:spPr>
          <a:xfrm>
            <a:off x="640080" y="5989320"/>
            <a:ext cx="10881360" cy="512064"/>
          </a:xfrm>
          <a:prstGeom prst="roundRect">
            <a:avLst>
              <a:gd name="adj" fmla="val 17857"/>
            </a:avLst>
          </a:prstGeom>
          <a:solidFill>
            <a:srgbClr val="003E63"/>
          </a:solidFill>
          <a:ln w="12700">
            <a:solidFill>
              <a:srgbClr val="003E63">
                <a:alpha val="0"/>
              </a:srgbClr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877824" y="6089904"/>
            <a:ext cx="10405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judgment lives in the loop.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64808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HTML gives meaning. CSS gives direction.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10104120" y="43891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10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835640" y="43891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1/2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85800" y="1234440"/>
            <a:ext cx="5074920" cy="434340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554480"/>
            <a:ext cx="4434840" cy="658368"/>
          </a:xfrm>
          <a:prstGeom prst="roundRect">
            <a:avLst>
              <a:gd name="adj" fmla="val 13889"/>
            </a:avLst>
          </a:prstGeom>
          <a:solidFill>
            <a:srgbClr val="003E63"/>
          </a:solidFill>
          <a:ln w="12700">
            <a:solidFill>
              <a:srgbClr val="003E63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34440" y="1691640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Heading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1005840" y="2377440"/>
            <a:ext cx="4434840" cy="658368"/>
          </a:xfrm>
          <a:prstGeom prst="roundRect">
            <a:avLst>
              <a:gd name="adj" fmla="val 13889"/>
            </a:avLst>
          </a:prstGeom>
          <a:solidFill>
            <a:srgbClr val="E8ECEF"/>
          </a:solidFill>
          <a:ln w="12700">
            <a:solidFill>
              <a:srgbClr val="E8ECEF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34440" y="2514600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1005840" y="3200400"/>
            <a:ext cx="4434840" cy="1417320"/>
          </a:xfrm>
          <a:prstGeom prst="roundRect">
            <a:avLst>
              <a:gd name="adj" fmla="val 6452"/>
            </a:avLst>
          </a:prstGeom>
          <a:solidFill>
            <a:srgbClr val="E8ECEF"/>
          </a:solidFill>
          <a:ln w="12700">
            <a:solidFill>
              <a:srgbClr val="E8ECEF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34440" y="3337560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1005840" y="4800600"/>
            <a:ext cx="4434840" cy="658368"/>
          </a:xfrm>
          <a:prstGeom prst="roundRect">
            <a:avLst>
              <a:gd name="adj" fmla="val 13889"/>
            </a:avLst>
          </a:prstGeom>
          <a:solidFill>
            <a:srgbClr val="E8ECEF"/>
          </a:solidFill>
          <a:ln w="12700">
            <a:solidFill>
              <a:srgbClr val="E8ECE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34440" y="4937760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action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14400" y="53218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HTML: what each region is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64808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HTML gives meaning. CSS gives direction.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10104120" y="43891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10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835640" y="43891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2/2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85800" y="1234440"/>
            <a:ext cx="5074920" cy="434340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554480"/>
            <a:ext cx="4434840" cy="658368"/>
          </a:xfrm>
          <a:prstGeom prst="roundRect">
            <a:avLst>
              <a:gd name="adj" fmla="val 13889"/>
            </a:avLst>
          </a:prstGeom>
          <a:solidFill>
            <a:srgbClr val="003E63"/>
          </a:solidFill>
          <a:ln w="12700">
            <a:solidFill>
              <a:srgbClr val="003E63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34440" y="1691640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Heading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1005840" y="2377440"/>
            <a:ext cx="4434840" cy="658368"/>
          </a:xfrm>
          <a:prstGeom prst="roundRect">
            <a:avLst>
              <a:gd name="adj" fmla="val 13889"/>
            </a:avLst>
          </a:prstGeom>
          <a:solidFill>
            <a:srgbClr val="E8ECEF"/>
          </a:solidFill>
          <a:ln w="12700">
            <a:solidFill>
              <a:srgbClr val="E8ECEF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34440" y="2514600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1005840" y="3200400"/>
            <a:ext cx="4434840" cy="1417320"/>
          </a:xfrm>
          <a:prstGeom prst="roundRect">
            <a:avLst>
              <a:gd name="adj" fmla="val 6452"/>
            </a:avLst>
          </a:prstGeom>
          <a:solidFill>
            <a:srgbClr val="E8ECEF"/>
          </a:solidFill>
          <a:ln w="12700">
            <a:solidFill>
              <a:srgbClr val="E8ECEF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34440" y="3337560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1005840" y="4800600"/>
            <a:ext cx="4434840" cy="658368"/>
          </a:xfrm>
          <a:prstGeom prst="roundRect">
            <a:avLst>
              <a:gd name="adj" fmla="val 13889"/>
            </a:avLst>
          </a:prstGeom>
          <a:solidFill>
            <a:srgbClr val="E8ECEF"/>
          </a:solidFill>
          <a:ln w="12700">
            <a:solidFill>
              <a:srgbClr val="E8ECE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34440" y="4937760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action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14400" y="53218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HTML: what each region is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172200" y="1417320"/>
            <a:ext cx="2286000" cy="1143000"/>
          </a:xfrm>
          <a:prstGeom prst="roundRect">
            <a:avLst>
              <a:gd name="adj" fmla="val 8000"/>
            </a:avLst>
          </a:prstGeom>
          <a:solidFill>
            <a:srgbClr val="EBE3F5"/>
          </a:solidFill>
          <a:ln w="12700">
            <a:solidFill>
              <a:srgbClr val="EBE3F5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36792" y="1536192"/>
            <a:ext cx="1956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HIERARCHY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336792" y="1874520"/>
            <a:ext cx="195681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matters first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8686800" y="1417320"/>
            <a:ext cx="2286000" cy="1143000"/>
          </a:xfrm>
          <a:prstGeom prst="roundRect">
            <a:avLst>
              <a:gd name="adj" fmla="val 8000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851392" y="1536192"/>
            <a:ext cx="1956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SPACING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851392" y="1874520"/>
            <a:ext cx="195681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belongs together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172200" y="2834640"/>
            <a:ext cx="2286000" cy="1143000"/>
          </a:xfrm>
          <a:prstGeom prst="roundRect">
            <a:avLst>
              <a:gd name="adj" fmla="val 8000"/>
            </a:avLst>
          </a:prstGeom>
          <a:solidFill>
            <a:srgbClr val="EBE3F5"/>
          </a:solidFill>
          <a:ln w="12700">
            <a:solidFill>
              <a:srgbClr val="EBE3F5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36792" y="2953512"/>
            <a:ext cx="1956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COLOR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336792" y="3291840"/>
            <a:ext cx="195681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needs attention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8686800" y="2834640"/>
            <a:ext cx="2286000" cy="1143000"/>
          </a:xfrm>
          <a:prstGeom prst="roundRect">
            <a:avLst>
              <a:gd name="adj" fmla="val 8000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851392" y="2953512"/>
            <a:ext cx="1956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851392" y="3291840"/>
            <a:ext cx="195681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the eye moves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446520" y="43891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252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CSS: how the structure communicates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40080" y="5989320"/>
            <a:ext cx="10881360" cy="512064"/>
          </a:xfrm>
          <a:prstGeom prst="roundRect">
            <a:avLst>
              <a:gd name="adj" fmla="val 17857"/>
            </a:avLst>
          </a:prstGeom>
          <a:solidFill>
            <a:srgbClr val="003E63"/>
          </a:solidFill>
          <a:ln w="12700">
            <a:solidFill>
              <a:srgbClr val="003E63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77824" y="6089904"/>
            <a:ext cx="10405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Agent for both: what each part is and how it should read.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64808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screenshot is one moment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10104120" y="43891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10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835640" y="43891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1/3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58368" y="1417320"/>
            <a:ext cx="1938528" cy="3520440"/>
          </a:xfrm>
          <a:prstGeom prst="roundRect">
            <a:avLst>
              <a:gd name="adj" fmla="val 4717"/>
            </a:avLst>
          </a:prstGeom>
          <a:solidFill>
            <a:srgbClr val="E8ECEF"/>
          </a:solidFill>
          <a:ln w="12700">
            <a:solidFill>
              <a:srgbClr val="E8ECEF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536192"/>
            <a:ext cx="1609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874520"/>
            <a:ext cx="1609344" cy="29535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selected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914400" y="2743200"/>
            <a:ext cx="1426464" cy="274320"/>
          </a:xfrm>
          <a:prstGeom prst="roundRect">
            <a:avLst>
              <a:gd name="adj" fmla="val 33333"/>
            </a:avLst>
          </a:prstGeom>
          <a:solidFill>
            <a:srgbClr val="0063A3"/>
          </a:solidFill>
          <a:ln w="12700">
            <a:solidFill>
              <a:srgbClr val="0063A3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3200400"/>
            <a:ext cx="1426464" cy="274320"/>
          </a:xfrm>
          <a:prstGeom prst="roundRect">
            <a:avLst>
              <a:gd name="adj" fmla="val 3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657600"/>
            <a:ext cx="1051560" cy="274320"/>
          </a:xfrm>
          <a:prstGeom prst="roundRect">
            <a:avLst>
              <a:gd name="adj" fmla="val 3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64808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screenshot is one moment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10104120" y="43891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10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835640" y="43891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2/3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58368" y="1417320"/>
            <a:ext cx="1938528" cy="3520440"/>
          </a:xfrm>
          <a:prstGeom prst="roundRect">
            <a:avLst>
              <a:gd name="adj" fmla="val 4717"/>
            </a:avLst>
          </a:prstGeom>
          <a:solidFill>
            <a:srgbClr val="E8ECEF"/>
          </a:solidFill>
          <a:ln w="12700">
            <a:solidFill>
              <a:srgbClr val="E8ECEF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536192"/>
            <a:ext cx="1609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874520"/>
            <a:ext cx="1609344" cy="29535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selected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914400" y="2743200"/>
            <a:ext cx="1426464" cy="274320"/>
          </a:xfrm>
          <a:prstGeom prst="roundRect">
            <a:avLst>
              <a:gd name="adj" fmla="val 33333"/>
            </a:avLst>
          </a:prstGeom>
          <a:solidFill>
            <a:srgbClr val="0063A3"/>
          </a:solidFill>
          <a:ln w="12700">
            <a:solidFill>
              <a:srgbClr val="0063A3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3200400"/>
            <a:ext cx="1426464" cy="274320"/>
          </a:xfrm>
          <a:prstGeom prst="roundRect">
            <a:avLst>
              <a:gd name="adj" fmla="val 3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657600"/>
            <a:ext cx="1051560" cy="274320"/>
          </a:xfrm>
          <a:prstGeom prst="roundRect">
            <a:avLst>
              <a:gd name="adj" fmla="val 3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852928" y="1417320"/>
            <a:ext cx="1938528" cy="3520440"/>
          </a:xfrm>
          <a:prstGeom prst="roundRect">
            <a:avLst>
              <a:gd name="adj" fmla="val 4717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17520" y="1536192"/>
            <a:ext cx="1609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LOADING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017520" y="1874520"/>
            <a:ext cx="1609344" cy="29535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Getting job details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108960" y="2743200"/>
            <a:ext cx="1426464" cy="274320"/>
          </a:xfrm>
          <a:prstGeom prst="roundRect">
            <a:avLst>
              <a:gd name="adj" fmla="val 33333"/>
            </a:avLst>
          </a:prstGeom>
          <a:solidFill>
            <a:srgbClr val="0063A3"/>
          </a:solidFill>
          <a:ln w="12700">
            <a:solidFill>
              <a:srgbClr val="0063A3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108960" y="3200400"/>
            <a:ext cx="685800" cy="274320"/>
          </a:xfrm>
          <a:prstGeom prst="roundRect">
            <a:avLst>
              <a:gd name="adj" fmla="val 3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08960" y="3657600"/>
            <a:ext cx="1051560" cy="274320"/>
          </a:xfrm>
          <a:prstGeom prst="roundRect">
            <a:avLst>
              <a:gd name="adj" fmla="val 3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047488" y="1417320"/>
            <a:ext cx="1938528" cy="3520440"/>
          </a:xfrm>
          <a:prstGeom prst="roundRect">
            <a:avLst>
              <a:gd name="adj" fmla="val 4717"/>
            </a:avLst>
          </a:prstGeom>
          <a:solidFill>
            <a:srgbClr val="EBE3F5"/>
          </a:solidFill>
          <a:ln w="12700">
            <a:solidFill>
              <a:srgbClr val="EBE3F5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212080" y="1536192"/>
            <a:ext cx="1609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EMPTY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212080" y="1874520"/>
            <a:ext cx="1609344" cy="29535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delayed jobs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303520" y="2743200"/>
            <a:ext cx="1426464" cy="274320"/>
          </a:xfrm>
          <a:prstGeom prst="roundRect">
            <a:avLst>
              <a:gd name="adj" fmla="val 33333"/>
            </a:avLst>
          </a:prstGeom>
          <a:solidFill>
            <a:srgbClr val="0063A3"/>
          </a:solidFill>
          <a:ln w="12700">
            <a:solidFill>
              <a:srgbClr val="0063A3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0" y="3200400"/>
            <a:ext cx="1426464" cy="274320"/>
          </a:xfrm>
          <a:prstGeom prst="roundRect">
            <a:avLst>
              <a:gd name="adj" fmla="val 3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03520" y="3657600"/>
            <a:ext cx="502920" cy="274320"/>
          </a:xfrm>
          <a:prstGeom prst="roundRect">
            <a:avLst>
              <a:gd name="adj" fmla="val 3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64808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screenshot is one moment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10104120" y="43891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10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835640" y="43891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3/3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58368" y="1417320"/>
            <a:ext cx="1938528" cy="3520440"/>
          </a:xfrm>
          <a:prstGeom prst="roundRect">
            <a:avLst>
              <a:gd name="adj" fmla="val 4717"/>
            </a:avLst>
          </a:prstGeom>
          <a:solidFill>
            <a:srgbClr val="E8ECEF"/>
          </a:solidFill>
          <a:ln w="12700">
            <a:solidFill>
              <a:srgbClr val="E8ECEF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536192"/>
            <a:ext cx="1609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874520"/>
            <a:ext cx="1609344" cy="29535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selected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914400" y="2743200"/>
            <a:ext cx="1426464" cy="274320"/>
          </a:xfrm>
          <a:prstGeom prst="roundRect">
            <a:avLst>
              <a:gd name="adj" fmla="val 33333"/>
            </a:avLst>
          </a:prstGeom>
          <a:solidFill>
            <a:srgbClr val="0063A3"/>
          </a:solidFill>
          <a:ln w="12700">
            <a:solidFill>
              <a:srgbClr val="0063A3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3200400"/>
            <a:ext cx="1426464" cy="274320"/>
          </a:xfrm>
          <a:prstGeom prst="roundRect">
            <a:avLst>
              <a:gd name="adj" fmla="val 3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657600"/>
            <a:ext cx="1051560" cy="274320"/>
          </a:xfrm>
          <a:prstGeom prst="roundRect">
            <a:avLst>
              <a:gd name="adj" fmla="val 3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852928" y="1417320"/>
            <a:ext cx="1938528" cy="3520440"/>
          </a:xfrm>
          <a:prstGeom prst="roundRect">
            <a:avLst>
              <a:gd name="adj" fmla="val 4717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17520" y="1536192"/>
            <a:ext cx="1609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LOADING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017520" y="1874520"/>
            <a:ext cx="1609344" cy="29535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Getting job details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108960" y="2743200"/>
            <a:ext cx="1426464" cy="274320"/>
          </a:xfrm>
          <a:prstGeom prst="roundRect">
            <a:avLst>
              <a:gd name="adj" fmla="val 33333"/>
            </a:avLst>
          </a:prstGeom>
          <a:solidFill>
            <a:srgbClr val="0063A3"/>
          </a:solidFill>
          <a:ln w="12700">
            <a:solidFill>
              <a:srgbClr val="0063A3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108960" y="3200400"/>
            <a:ext cx="685800" cy="274320"/>
          </a:xfrm>
          <a:prstGeom prst="roundRect">
            <a:avLst>
              <a:gd name="adj" fmla="val 3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08960" y="3657600"/>
            <a:ext cx="1051560" cy="274320"/>
          </a:xfrm>
          <a:prstGeom prst="roundRect">
            <a:avLst>
              <a:gd name="adj" fmla="val 3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047488" y="1417320"/>
            <a:ext cx="1938528" cy="3520440"/>
          </a:xfrm>
          <a:prstGeom prst="roundRect">
            <a:avLst>
              <a:gd name="adj" fmla="val 4717"/>
            </a:avLst>
          </a:prstGeom>
          <a:solidFill>
            <a:srgbClr val="EBE3F5"/>
          </a:solidFill>
          <a:ln w="12700">
            <a:solidFill>
              <a:srgbClr val="EBE3F5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212080" y="1536192"/>
            <a:ext cx="1609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EMPTY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212080" y="1874520"/>
            <a:ext cx="1609344" cy="29535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delayed jobs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303520" y="2743200"/>
            <a:ext cx="1426464" cy="274320"/>
          </a:xfrm>
          <a:prstGeom prst="roundRect">
            <a:avLst>
              <a:gd name="adj" fmla="val 33333"/>
            </a:avLst>
          </a:prstGeom>
          <a:solidFill>
            <a:srgbClr val="0063A3"/>
          </a:solidFill>
          <a:ln w="12700">
            <a:solidFill>
              <a:srgbClr val="0063A3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0" y="3200400"/>
            <a:ext cx="1426464" cy="274320"/>
          </a:xfrm>
          <a:prstGeom prst="roundRect">
            <a:avLst>
              <a:gd name="adj" fmla="val 3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03520" y="3657600"/>
            <a:ext cx="502920" cy="274320"/>
          </a:xfrm>
          <a:prstGeom prst="roundRect">
            <a:avLst>
              <a:gd name="adj" fmla="val 3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242048" y="1417320"/>
            <a:ext cx="1938528" cy="3520440"/>
          </a:xfrm>
          <a:prstGeom prst="roundRect">
            <a:avLst>
              <a:gd name="adj" fmla="val 4717"/>
            </a:avLst>
          </a:prstGeom>
          <a:solidFill>
            <a:srgbClr val="F7E2E2"/>
          </a:solidFill>
          <a:ln w="12700">
            <a:solidFill>
              <a:srgbClr val="F7E2E2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406640" y="1536192"/>
            <a:ext cx="1609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7406640" y="1874520"/>
            <a:ext cx="1609344" cy="29535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Could not load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498080" y="2743200"/>
            <a:ext cx="1426464" cy="274320"/>
          </a:xfrm>
          <a:prstGeom prst="roundRect">
            <a:avLst>
              <a:gd name="adj" fmla="val 33333"/>
            </a:avLst>
          </a:prstGeom>
          <a:solidFill>
            <a:srgbClr val="B83B3B"/>
          </a:solidFill>
          <a:ln w="12700">
            <a:solidFill>
              <a:srgbClr val="B83B3B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498080" y="3200400"/>
            <a:ext cx="1426464" cy="274320"/>
          </a:xfrm>
          <a:prstGeom prst="roundRect">
            <a:avLst>
              <a:gd name="adj" fmla="val 3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98080" y="3657600"/>
            <a:ext cx="1051560" cy="274320"/>
          </a:xfrm>
          <a:prstGeom prst="roundRect">
            <a:avLst>
              <a:gd name="adj" fmla="val 3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436608" y="1417320"/>
            <a:ext cx="1938528" cy="3520440"/>
          </a:xfrm>
          <a:prstGeom prst="roundRect">
            <a:avLst>
              <a:gd name="adj" fmla="val 4717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601200" y="1536192"/>
            <a:ext cx="1609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SUCCESS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9601200" y="1874520"/>
            <a:ext cx="1609344" cy="29535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 ready to review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9692640" y="2743200"/>
            <a:ext cx="1426464" cy="274320"/>
          </a:xfrm>
          <a:prstGeom prst="roundRect">
            <a:avLst>
              <a:gd name="adj" fmla="val 33333"/>
            </a:avLst>
          </a:prstGeom>
          <a:solidFill>
            <a:srgbClr val="2D7A58"/>
          </a:solidFill>
          <a:ln w="12700">
            <a:solidFill>
              <a:srgbClr val="2D7A58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692640" y="3200400"/>
            <a:ext cx="1426464" cy="274320"/>
          </a:xfrm>
          <a:prstGeom prst="roundRect">
            <a:avLst>
              <a:gd name="adj" fmla="val 3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692640" y="3657600"/>
            <a:ext cx="1051560" cy="274320"/>
          </a:xfrm>
          <a:prstGeom prst="roundRect">
            <a:avLst>
              <a:gd name="adj" fmla="val 3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96112" y="5166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1600200" y="5157216"/>
            <a:ext cx="8732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REQUEST → RESPONSE → RECOVERY →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0080" y="5989320"/>
            <a:ext cx="10881360" cy="512064"/>
          </a:xfrm>
          <a:prstGeom prst="roundRect">
            <a:avLst>
              <a:gd name="adj" fmla="val 17857"/>
            </a:avLst>
          </a:prstGeom>
          <a:solidFill>
            <a:srgbClr val="003E63"/>
          </a:solidFill>
          <a:ln w="12700">
            <a:solidFill>
              <a:srgbClr val="003E63">
                <a:alpha val="0"/>
              </a:srgbClr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77824" y="6089904"/>
            <a:ext cx="10405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product is the movement between these moments.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64808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does a framework appear?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10104120" y="43891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10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835640" y="43891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1/2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85800" y="1325880"/>
            <a:ext cx="2514600" cy="1280160"/>
          </a:xfrm>
          <a:prstGeom prst="roundRect">
            <a:avLst>
              <a:gd name="adj" fmla="val 7143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0392" y="1444752"/>
            <a:ext cx="2185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COMPONENT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50392" y="1783080"/>
            <a:ext cx="21854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reusable filter panel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447288" y="1325880"/>
            <a:ext cx="2514600" cy="1280160"/>
          </a:xfrm>
          <a:prstGeom prst="roundRect">
            <a:avLst>
              <a:gd name="adj" fmla="val 7143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11880" y="1444752"/>
            <a:ext cx="2185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611880" y="1783080"/>
            <a:ext cx="21854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= “high”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934456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208776" y="1325880"/>
            <a:ext cx="2514600" cy="1280160"/>
          </a:xfrm>
          <a:prstGeom prst="roundRect">
            <a:avLst>
              <a:gd name="adj" fmla="val 7143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73368" y="1444752"/>
            <a:ext cx="2185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373368" y="1783080"/>
            <a:ext cx="21854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user changes the filter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695944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970264" y="1325880"/>
            <a:ext cx="2514600" cy="1280160"/>
          </a:xfrm>
          <a:prstGeom prst="roundRect">
            <a:avLst>
              <a:gd name="adj" fmla="val 7143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34856" y="1444752"/>
            <a:ext cx="2185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134856" y="1783080"/>
            <a:ext cx="21854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list updates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64808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does a framework appear?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10104120" y="43891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10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835640" y="43891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2/2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85800" y="1325880"/>
            <a:ext cx="2514600" cy="1280160"/>
          </a:xfrm>
          <a:prstGeom prst="roundRect">
            <a:avLst>
              <a:gd name="adj" fmla="val 7143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0392" y="1444752"/>
            <a:ext cx="2185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COMPONENT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50392" y="1783080"/>
            <a:ext cx="21854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reusable filter panel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447288" y="1325880"/>
            <a:ext cx="2514600" cy="1280160"/>
          </a:xfrm>
          <a:prstGeom prst="roundRect">
            <a:avLst>
              <a:gd name="adj" fmla="val 7143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11880" y="1444752"/>
            <a:ext cx="2185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611880" y="1783080"/>
            <a:ext cx="21854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= “high”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934456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208776" y="1325880"/>
            <a:ext cx="2514600" cy="1280160"/>
          </a:xfrm>
          <a:prstGeom prst="roundRect">
            <a:avLst>
              <a:gd name="adj" fmla="val 7143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73368" y="1444752"/>
            <a:ext cx="2185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373368" y="1783080"/>
            <a:ext cx="21854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user changes the filter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695944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970264" y="1325880"/>
            <a:ext cx="2514600" cy="1280160"/>
          </a:xfrm>
          <a:prstGeom prst="roundRect">
            <a:avLst>
              <a:gd name="adj" fmla="val 7143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34856" y="1444752"/>
            <a:ext cx="2185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134856" y="1783080"/>
            <a:ext cx="21854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list updates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31520" y="3246120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design system above can ride in different vehicles: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760720" y="3017520"/>
            <a:ext cx="1645920" cy="1143000"/>
          </a:xfrm>
          <a:prstGeom prst="roundRect">
            <a:avLst>
              <a:gd name="adj" fmla="val 8000"/>
            </a:avLst>
          </a:prstGeom>
          <a:solidFill>
            <a:srgbClr val="F9C74F"/>
          </a:solidFill>
          <a:ln w="12700">
            <a:solidFill>
              <a:srgbClr val="F9C74F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25312" y="3136392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925312" y="3474720"/>
            <a:ext cx="131673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Workshop choice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7635240" y="3017520"/>
            <a:ext cx="1645920" cy="1143000"/>
          </a:xfrm>
          <a:prstGeom prst="roundRect">
            <a:avLst>
              <a:gd name="adj" fmla="val 8000"/>
            </a:avLst>
          </a:prstGeom>
          <a:solidFill>
            <a:srgbClr val="E8ECEF"/>
          </a:solidFill>
          <a:ln w="12700">
            <a:solidFill>
              <a:srgbClr val="E8ECEF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99832" y="3136392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ANGULAR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799832" y="3474720"/>
            <a:ext cx="131673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Also valid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9509760" y="3017520"/>
            <a:ext cx="1645920" cy="1143000"/>
          </a:xfrm>
          <a:prstGeom prst="roundRect">
            <a:avLst>
              <a:gd name="adj" fmla="val 8000"/>
            </a:avLst>
          </a:prstGeom>
          <a:solidFill>
            <a:srgbClr val="E8ECEF"/>
          </a:solidFill>
          <a:ln w="12700">
            <a:solidFill>
              <a:srgbClr val="E8ECE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674352" y="3136392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VUE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9674352" y="3474720"/>
            <a:ext cx="131673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Also valid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914400" y="4160520"/>
            <a:ext cx="10149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7252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product idea. Different implementation vehicle.</a:t>
            </a:r>
            <a:endParaRPr lang="en-US" sz="2500" dirty="0"/>
          </a:p>
        </p:txBody>
      </p:sp>
      <p:sp>
        <p:nvSpPr>
          <p:cNvPr id="31" name="Shape 29"/>
          <p:cNvSpPr/>
          <p:nvPr/>
        </p:nvSpPr>
        <p:spPr>
          <a:xfrm>
            <a:off x="640080" y="5989320"/>
            <a:ext cx="10881360" cy="512064"/>
          </a:xfrm>
          <a:prstGeom prst="roundRect">
            <a:avLst>
              <a:gd name="adj" fmla="val 17857"/>
            </a:avLst>
          </a:prstGeom>
          <a:solidFill>
            <a:srgbClr val="003E63"/>
          </a:solidFill>
          <a:ln w="12700">
            <a:solidFill>
              <a:srgbClr val="003E63">
                <a:alpha val="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77824" y="6089904"/>
            <a:ext cx="10405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framework is the vehicle. The interaction is the design.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64808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Figma link carries structured context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10104120" y="43891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10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835640" y="43891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1/2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85800" y="1325880"/>
            <a:ext cx="2423160" cy="1051560"/>
          </a:xfrm>
          <a:prstGeom prst="roundRect">
            <a:avLst>
              <a:gd name="adj" fmla="val 8696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0392" y="1444752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50392" y="1783080"/>
            <a:ext cx="2093976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Selection link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08960" y="167335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3447288" y="1325880"/>
            <a:ext cx="2423160" cy="1051560"/>
          </a:xfrm>
          <a:prstGeom prst="roundRect">
            <a:avLst>
              <a:gd name="adj" fmla="val 8696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11880" y="1444752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611880" y="1783080"/>
            <a:ext cx="2093976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Components + variables + layout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870448" y="167335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208776" y="1325880"/>
            <a:ext cx="2423160" cy="1051560"/>
          </a:xfrm>
          <a:prstGeom prst="roundRect">
            <a:avLst>
              <a:gd name="adj" fmla="val 8696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73368" y="1444752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373368" y="1783080"/>
            <a:ext cx="2093976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builds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631936" y="167335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970264" y="1325880"/>
            <a:ext cx="2423160" cy="1051560"/>
          </a:xfrm>
          <a:prstGeom prst="roundRect">
            <a:avLst>
              <a:gd name="adj" fmla="val 8696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34856" y="1444752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134856" y="1783080"/>
            <a:ext cx="2093976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 comparison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64808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Figma link carries structured context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10104120" y="43891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10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835640" y="43891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2/2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85800" y="1325880"/>
            <a:ext cx="2423160" cy="1051560"/>
          </a:xfrm>
          <a:prstGeom prst="roundRect">
            <a:avLst>
              <a:gd name="adj" fmla="val 8696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0392" y="1444752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50392" y="1783080"/>
            <a:ext cx="2093976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Selection link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08960" y="167335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3447288" y="1325880"/>
            <a:ext cx="2423160" cy="1051560"/>
          </a:xfrm>
          <a:prstGeom prst="roundRect">
            <a:avLst>
              <a:gd name="adj" fmla="val 8696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11880" y="1444752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611880" y="1783080"/>
            <a:ext cx="2093976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Components + variables + layout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870448" y="167335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208776" y="1325880"/>
            <a:ext cx="2423160" cy="1051560"/>
          </a:xfrm>
          <a:prstGeom prst="roundRect">
            <a:avLst>
              <a:gd name="adj" fmla="val 8696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73368" y="1444752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373368" y="1783080"/>
            <a:ext cx="2093976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builds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631936" y="167335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970264" y="1325880"/>
            <a:ext cx="2423160" cy="1051560"/>
          </a:xfrm>
          <a:prstGeom prst="roundRect">
            <a:avLst>
              <a:gd name="adj" fmla="val 8696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34856" y="1444752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134856" y="1783080"/>
            <a:ext cx="2093976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 comparison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1280160" y="3017520"/>
            <a:ext cx="4023360" cy="1508760"/>
          </a:xfrm>
          <a:prstGeom prst="roundRect">
            <a:avLst>
              <a:gd name="adj" fmla="val 6061"/>
            </a:avLst>
          </a:prstGeom>
          <a:solidFill>
            <a:srgbClr val="E8ECEF"/>
          </a:solidFill>
          <a:ln w="12700">
            <a:solidFill>
              <a:srgbClr val="E8ECEF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444752" y="3136392"/>
            <a:ext cx="3694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SCREENSHOT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444752" y="3474720"/>
            <a:ext cx="3694176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pixels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486400" y="34290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6537960" y="3017520"/>
            <a:ext cx="4023360" cy="1508760"/>
          </a:xfrm>
          <a:prstGeom prst="roundRect">
            <a:avLst>
              <a:gd name="adj" fmla="val 6061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02552" y="3136392"/>
            <a:ext cx="3694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FIGMA MCP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702552" y="3474720"/>
            <a:ext cx="3694176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structure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60120" y="4892040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layout · components · variables · assets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640080" y="5989320"/>
            <a:ext cx="10881360" cy="512064"/>
          </a:xfrm>
          <a:prstGeom prst="roundRect">
            <a:avLst>
              <a:gd name="adj" fmla="val 17857"/>
            </a:avLst>
          </a:prstGeom>
          <a:solidFill>
            <a:srgbClr val="003E63"/>
          </a:solidFill>
          <a:ln w="12700">
            <a:solidFill>
              <a:srgbClr val="003E63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77824" y="6089904"/>
            <a:ext cx="10405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Give Agent the selection and the user goal.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64808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Rules, skills, and MCP do different jobs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10104120" y="43891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10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835640" y="43891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1/3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85800" y="1325880"/>
            <a:ext cx="3383280" cy="3429000"/>
          </a:xfrm>
          <a:prstGeom prst="roundRect">
            <a:avLst>
              <a:gd name="adj" fmla="val 2703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0392" y="1444752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50392" y="1783080"/>
            <a:ext cx="3054096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Standards wall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60120" y="3063240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Always follow these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60120" y="38862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“Use Modus.”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64808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Rules, skills, and MCP do different jobs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10104120" y="43891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10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835640" y="43891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2/3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85800" y="1325880"/>
            <a:ext cx="3383280" cy="3429000"/>
          </a:xfrm>
          <a:prstGeom prst="roundRect">
            <a:avLst>
              <a:gd name="adj" fmla="val 2703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0392" y="1444752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50392" y="1783080"/>
            <a:ext cx="3054096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Standards wall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60120" y="3063240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Always follow these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60120" y="38862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“Use Modus.”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389120" y="1325880"/>
            <a:ext cx="3383280" cy="3429000"/>
          </a:xfrm>
          <a:prstGeom prst="roundRect">
            <a:avLst>
              <a:gd name="adj" fmla="val 2703"/>
            </a:avLst>
          </a:prstGeom>
          <a:solidFill>
            <a:srgbClr val="EBE3F5"/>
          </a:solidFill>
          <a:ln w="12700">
            <a:solidFill>
              <a:srgbClr val="EBE3F5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53712" y="1444752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53712" y="1783080"/>
            <a:ext cx="3054096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playbook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663440" y="3063240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this workflow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663440" y="38862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“Build a form this way.”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64808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Rules, skills, and MCP do different jobs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10104120" y="43891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10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835640" y="43891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3/3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85800" y="1325880"/>
            <a:ext cx="3383280" cy="3429000"/>
          </a:xfrm>
          <a:prstGeom prst="roundRect">
            <a:avLst>
              <a:gd name="adj" fmla="val 2703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0392" y="1444752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50392" y="1783080"/>
            <a:ext cx="3054096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Standards wall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60120" y="3063240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Always follow these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60120" y="38862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“Use Modus.”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389120" y="1325880"/>
            <a:ext cx="3383280" cy="3429000"/>
          </a:xfrm>
          <a:prstGeom prst="roundRect">
            <a:avLst>
              <a:gd name="adj" fmla="val 2703"/>
            </a:avLst>
          </a:prstGeom>
          <a:solidFill>
            <a:srgbClr val="EBE3F5"/>
          </a:solidFill>
          <a:ln w="12700">
            <a:solidFill>
              <a:srgbClr val="EBE3F5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53712" y="1444752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53712" y="1783080"/>
            <a:ext cx="3054096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playbook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663440" y="3063240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this workflow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663440" y="38862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“Build a form this way.”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092440" y="1325880"/>
            <a:ext cx="3383280" cy="3429000"/>
          </a:xfrm>
          <a:prstGeom prst="roundRect">
            <a:avLst>
              <a:gd name="adj" fmla="val 2703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57032" y="1444752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257032" y="1783080"/>
            <a:ext cx="3054096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Connected library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366760" y="3063240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up current facts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366760" y="38862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“Which event is current?”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40080" y="5989320"/>
            <a:ext cx="10881360" cy="512064"/>
          </a:xfrm>
          <a:prstGeom prst="roundRect">
            <a:avLst>
              <a:gd name="adj" fmla="val 17857"/>
            </a:avLst>
          </a:prstGeom>
          <a:solidFill>
            <a:srgbClr val="003E63"/>
          </a:solidFill>
          <a:ln w="12700">
            <a:solidFill>
              <a:srgbClr val="003E63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77824" y="6089904"/>
            <a:ext cx="10405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Together they reduce guessing. They do not replace your brief.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64808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not invent a second design system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10104120" y="43891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10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835640" y="43891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1/3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85800" y="1261872"/>
            <a:ext cx="2743200" cy="731520"/>
          </a:xfrm>
          <a:prstGeom prst="roundRect">
            <a:avLst>
              <a:gd name="adj" fmla="val 12500"/>
            </a:avLst>
          </a:prstGeom>
          <a:solidFill>
            <a:srgbClr val="F7E2E2"/>
          </a:solidFill>
          <a:ln w="12700">
            <a:solidFill>
              <a:srgbClr val="F7E2E2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0392" y="1380744"/>
            <a:ext cx="2414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PARALLEL SYSTEM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50392" y="1719072"/>
            <a:ext cx="24140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invents substitutes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22960" y="2240280"/>
            <a:ext cx="2468880" cy="530352"/>
          </a:xfrm>
          <a:prstGeom prst="roundRect">
            <a:avLst>
              <a:gd name="adj" fmla="val 17241"/>
            </a:avLst>
          </a:prstGeom>
          <a:solidFill>
            <a:srgbClr val="F7E2E2"/>
          </a:solidFill>
          <a:ln w="12700">
            <a:solidFill>
              <a:srgbClr val="F7E2E2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7552" y="2359152"/>
            <a:ext cx="2139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  Custom button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22960" y="2898648"/>
            <a:ext cx="2468880" cy="530352"/>
          </a:xfrm>
          <a:prstGeom prst="roundRect">
            <a:avLst>
              <a:gd name="adj" fmla="val 17241"/>
            </a:avLst>
          </a:prstGeom>
          <a:solidFill>
            <a:srgbClr val="F7E2E2"/>
          </a:solidFill>
          <a:ln w="12700">
            <a:solidFill>
              <a:srgbClr val="F7E2E2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87552" y="3017520"/>
            <a:ext cx="2139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  Almost-right spacing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22960" y="3557016"/>
            <a:ext cx="2468880" cy="530352"/>
          </a:xfrm>
          <a:prstGeom prst="roundRect">
            <a:avLst>
              <a:gd name="adj" fmla="val 17241"/>
            </a:avLst>
          </a:prstGeom>
          <a:solidFill>
            <a:srgbClr val="F7E2E2"/>
          </a:solidFill>
          <a:ln w="12700">
            <a:solidFill>
              <a:srgbClr val="F7E2E2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3675888"/>
            <a:ext cx="2139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  New colors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22960" y="4215384"/>
            <a:ext cx="2468880" cy="530352"/>
          </a:xfrm>
          <a:prstGeom prst="roundRect">
            <a:avLst>
              <a:gd name="adj" fmla="val 17241"/>
            </a:avLst>
          </a:prstGeom>
          <a:solidFill>
            <a:srgbClr val="F7E2E2"/>
          </a:solidFill>
          <a:ln w="12700">
            <a:solidFill>
              <a:srgbClr val="F7E2E2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87552" y="4334256"/>
            <a:ext cx="2139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  One-off modal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64808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not invent a second design system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10104120" y="43891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10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835640" y="43891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2/3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85800" y="1261872"/>
            <a:ext cx="2743200" cy="731520"/>
          </a:xfrm>
          <a:prstGeom prst="roundRect">
            <a:avLst>
              <a:gd name="adj" fmla="val 12500"/>
            </a:avLst>
          </a:prstGeom>
          <a:solidFill>
            <a:srgbClr val="F7E2E2"/>
          </a:solidFill>
          <a:ln w="12700">
            <a:solidFill>
              <a:srgbClr val="F7E2E2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0392" y="1380744"/>
            <a:ext cx="2414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PARALLEL SYSTEM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50392" y="1719072"/>
            <a:ext cx="24140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invents substitutes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22960" y="2240280"/>
            <a:ext cx="2468880" cy="530352"/>
          </a:xfrm>
          <a:prstGeom prst="roundRect">
            <a:avLst>
              <a:gd name="adj" fmla="val 17241"/>
            </a:avLst>
          </a:prstGeom>
          <a:solidFill>
            <a:srgbClr val="F7E2E2"/>
          </a:solidFill>
          <a:ln w="12700">
            <a:solidFill>
              <a:srgbClr val="F7E2E2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7552" y="2359152"/>
            <a:ext cx="2139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  Custom button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22960" y="2898648"/>
            <a:ext cx="2468880" cy="530352"/>
          </a:xfrm>
          <a:prstGeom prst="roundRect">
            <a:avLst>
              <a:gd name="adj" fmla="val 17241"/>
            </a:avLst>
          </a:prstGeom>
          <a:solidFill>
            <a:srgbClr val="F7E2E2"/>
          </a:solidFill>
          <a:ln w="12700">
            <a:solidFill>
              <a:srgbClr val="F7E2E2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87552" y="3017520"/>
            <a:ext cx="2139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  Almost-right spacing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22960" y="3557016"/>
            <a:ext cx="2468880" cy="530352"/>
          </a:xfrm>
          <a:prstGeom prst="roundRect">
            <a:avLst>
              <a:gd name="adj" fmla="val 17241"/>
            </a:avLst>
          </a:prstGeom>
          <a:solidFill>
            <a:srgbClr val="F7E2E2"/>
          </a:solidFill>
          <a:ln w="12700">
            <a:solidFill>
              <a:srgbClr val="F7E2E2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3675888"/>
            <a:ext cx="2139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  New colors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22960" y="4215384"/>
            <a:ext cx="2468880" cy="530352"/>
          </a:xfrm>
          <a:prstGeom prst="roundRect">
            <a:avLst>
              <a:gd name="adj" fmla="val 17241"/>
            </a:avLst>
          </a:prstGeom>
          <a:solidFill>
            <a:srgbClr val="F7E2E2"/>
          </a:solidFill>
          <a:ln w="12700">
            <a:solidFill>
              <a:srgbClr val="F7E2E2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87552" y="4334256"/>
            <a:ext cx="2139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  One-off modal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584448" y="1261872"/>
            <a:ext cx="2743200" cy="731520"/>
          </a:xfrm>
          <a:prstGeom prst="roundRect">
            <a:avLst>
              <a:gd name="adj" fmla="val 12500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749040" y="1380744"/>
            <a:ext cx="2414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749040" y="1719072"/>
            <a:ext cx="24140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product language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721608" y="2240280"/>
            <a:ext cx="2468880" cy="530352"/>
          </a:xfrm>
          <a:prstGeom prst="roundRect">
            <a:avLst>
              <a:gd name="adj" fmla="val 17241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886200" y="2359152"/>
            <a:ext cx="2139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Foundations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3721608" y="2898648"/>
            <a:ext cx="2468880" cy="530352"/>
          </a:xfrm>
          <a:prstGeom prst="roundRect">
            <a:avLst>
              <a:gd name="adj" fmla="val 17241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886200" y="3017520"/>
            <a:ext cx="2139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Components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3721608" y="3557016"/>
            <a:ext cx="2468880" cy="530352"/>
          </a:xfrm>
          <a:prstGeom prst="roundRect">
            <a:avLst>
              <a:gd name="adj" fmla="val 17241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886200" y="3675888"/>
            <a:ext cx="2139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Patterns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3721608" y="4215384"/>
            <a:ext cx="2468880" cy="530352"/>
          </a:xfrm>
          <a:prstGeom prst="roundRect">
            <a:avLst>
              <a:gd name="adj" fmla="val 17241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86200" y="4334256"/>
            <a:ext cx="2139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Templates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64808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not invent a second design system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10104120" y="43891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10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835640" y="43891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3/3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85800" y="1261872"/>
            <a:ext cx="2743200" cy="731520"/>
          </a:xfrm>
          <a:prstGeom prst="roundRect">
            <a:avLst>
              <a:gd name="adj" fmla="val 12500"/>
            </a:avLst>
          </a:prstGeom>
          <a:solidFill>
            <a:srgbClr val="F7E2E2"/>
          </a:solidFill>
          <a:ln w="12700">
            <a:solidFill>
              <a:srgbClr val="F7E2E2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0392" y="1380744"/>
            <a:ext cx="2414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PARALLEL SYSTEM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50392" y="1719072"/>
            <a:ext cx="24140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invents substitutes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22960" y="2240280"/>
            <a:ext cx="2468880" cy="530352"/>
          </a:xfrm>
          <a:prstGeom prst="roundRect">
            <a:avLst>
              <a:gd name="adj" fmla="val 17241"/>
            </a:avLst>
          </a:prstGeom>
          <a:solidFill>
            <a:srgbClr val="F7E2E2"/>
          </a:solidFill>
          <a:ln w="12700">
            <a:solidFill>
              <a:srgbClr val="F7E2E2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7552" y="2359152"/>
            <a:ext cx="2139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  Custom button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22960" y="2898648"/>
            <a:ext cx="2468880" cy="530352"/>
          </a:xfrm>
          <a:prstGeom prst="roundRect">
            <a:avLst>
              <a:gd name="adj" fmla="val 17241"/>
            </a:avLst>
          </a:prstGeom>
          <a:solidFill>
            <a:srgbClr val="F7E2E2"/>
          </a:solidFill>
          <a:ln w="12700">
            <a:solidFill>
              <a:srgbClr val="F7E2E2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87552" y="3017520"/>
            <a:ext cx="2139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  Almost-right spacing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22960" y="3557016"/>
            <a:ext cx="2468880" cy="530352"/>
          </a:xfrm>
          <a:prstGeom prst="roundRect">
            <a:avLst>
              <a:gd name="adj" fmla="val 17241"/>
            </a:avLst>
          </a:prstGeom>
          <a:solidFill>
            <a:srgbClr val="F7E2E2"/>
          </a:solidFill>
          <a:ln w="12700">
            <a:solidFill>
              <a:srgbClr val="F7E2E2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3675888"/>
            <a:ext cx="2139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  New colors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22960" y="4215384"/>
            <a:ext cx="2468880" cy="530352"/>
          </a:xfrm>
          <a:prstGeom prst="roundRect">
            <a:avLst>
              <a:gd name="adj" fmla="val 17241"/>
            </a:avLst>
          </a:prstGeom>
          <a:solidFill>
            <a:srgbClr val="F7E2E2"/>
          </a:solidFill>
          <a:ln w="12700">
            <a:solidFill>
              <a:srgbClr val="F7E2E2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87552" y="4334256"/>
            <a:ext cx="2139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  One-off modal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584448" y="1261872"/>
            <a:ext cx="2743200" cy="731520"/>
          </a:xfrm>
          <a:prstGeom prst="roundRect">
            <a:avLst>
              <a:gd name="adj" fmla="val 12500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749040" y="1380744"/>
            <a:ext cx="2414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749040" y="1719072"/>
            <a:ext cx="24140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product language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721608" y="2240280"/>
            <a:ext cx="2468880" cy="530352"/>
          </a:xfrm>
          <a:prstGeom prst="roundRect">
            <a:avLst>
              <a:gd name="adj" fmla="val 17241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886200" y="2359152"/>
            <a:ext cx="2139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Foundations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3721608" y="2898648"/>
            <a:ext cx="2468880" cy="530352"/>
          </a:xfrm>
          <a:prstGeom prst="roundRect">
            <a:avLst>
              <a:gd name="adj" fmla="val 17241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886200" y="3017520"/>
            <a:ext cx="2139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Components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3721608" y="3557016"/>
            <a:ext cx="2468880" cy="530352"/>
          </a:xfrm>
          <a:prstGeom prst="roundRect">
            <a:avLst>
              <a:gd name="adj" fmla="val 17241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886200" y="3675888"/>
            <a:ext cx="2139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Patterns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3721608" y="4215384"/>
            <a:ext cx="2468880" cy="530352"/>
          </a:xfrm>
          <a:prstGeom prst="roundRect">
            <a:avLst>
              <a:gd name="adj" fmla="val 17241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86200" y="4334256"/>
            <a:ext cx="2139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Templates</a:t>
            </a:r>
            <a:endParaRPr lang="en-US" sz="1400" dirty="0"/>
          </a:p>
        </p:txBody>
      </p:sp>
      <p:pic>
        <p:nvPicPr>
          <p:cNvPr id="27" name="Image 0" descr="/workspace/docs/workshop-overview/assets/design-system-reu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417320"/>
            <a:ext cx="4663440" cy="3502152"/>
          </a:xfrm>
          <a:prstGeom prst="rect">
            <a:avLst/>
          </a:prstGeom>
        </p:spPr>
      </p:pic>
      <p:sp>
        <p:nvSpPr>
          <p:cNvPr id="28" name="Shape 25"/>
          <p:cNvSpPr/>
          <p:nvPr/>
        </p:nvSpPr>
        <p:spPr>
          <a:xfrm>
            <a:off x="6583680" y="5047488"/>
            <a:ext cx="4663440" cy="621792"/>
          </a:xfrm>
          <a:prstGeom prst="roundRect">
            <a:avLst>
              <a:gd name="adj" fmla="val 14706"/>
            </a:avLst>
          </a:prstGeom>
          <a:solidFill>
            <a:srgbClr val="F9C74F"/>
          </a:solidFill>
          <a:ln w="12700">
            <a:solidFill>
              <a:srgbClr val="F9C74F">
                <a:alpha val="0"/>
              </a:srgbClr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784848" y="5157216"/>
            <a:ext cx="4261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Agent: “I made a design system!”  Designer: “We already have one.”</a:t>
            </a:r>
            <a:endParaRPr lang="en-US" sz="1250" dirty="0"/>
          </a:p>
        </p:txBody>
      </p:sp>
      <p:sp>
        <p:nvSpPr>
          <p:cNvPr id="30" name="Shape 27"/>
          <p:cNvSpPr/>
          <p:nvPr/>
        </p:nvSpPr>
        <p:spPr>
          <a:xfrm>
            <a:off x="640080" y="5989320"/>
            <a:ext cx="10881360" cy="512064"/>
          </a:xfrm>
          <a:prstGeom prst="roundRect">
            <a:avLst>
              <a:gd name="adj" fmla="val 17857"/>
            </a:avLst>
          </a:prstGeom>
          <a:solidFill>
            <a:srgbClr val="003E63"/>
          </a:solidFill>
          <a:ln w="12700">
            <a:solidFill>
              <a:srgbClr val="003E63">
                <a:alpha val="0"/>
              </a:srgbClr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877824" y="6089904"/>
            <a:ext cx="10405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with Modus. Change only what the product truly needs.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64808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“It works” is a claim. The browser is evidence.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10104120" y="43891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10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835640" y="43891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1/3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85800" y="1280160"/>
            <a:ext cx="3383280" cy="1600200"/>
          </a:xfrm>
          <a:prstGeom prst="roundRect">
            <a:avLst>
              <a:gd name="adj" fmla="val 5714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0392" y="1399032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□  TASK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50392" y="1737360"/>
            <a:ext cx="3054096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someone finish it?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89120" y="1280160"/>
            <a:ext cx="3383280" cy="1600200"/>
          </a:xfrm>
          <a:prstGeom prst="roundRect">
            <a:avLst>
              <a:gd name="adj" fmla="val 5714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53712" y="1399032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□  STATES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53712" y="1737360"/>
            <a:ext cx="3054096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Empty, loading, error, success?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64808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“It works” is a claim. The browser is evidence.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10104120" y="43891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10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835640" y="43891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2/3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85800" y="1280160"/>
            <a:ext cx="3383280" cy="1600200"/>
          </a:xfrm>
          <a:prstGeom prst="roundRect">
            <a:avLst>
              <a:gd name="adj" fmla="val 5714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0392" y="1399032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□  TASK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50392" y="1737360"/>
            <a:ext cx="3054096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someone finish it?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89120" y="1280160"/>
            <a:ext cx="3383280" cy="1600200"/>
          </a:xfrm>
          <a:prstGeom prst="roundRect">
            <a:avLst>
              <a:gd name="adj" fmla="val 5714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53712" y="1399032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□  STATES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53712" y="1737360"/>
            <a:ext cx="3054096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Empty, loading, error, success?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092440" y="1280160"/>
            <a:ext cx="3383280" cy="1600200"/>
          </a:xfrm>
          <a:prstGeom prst="roundRect">
            <a:avLst>
              <a:gd name="adj" fmla="val 5714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57032" y="1399032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□  LAYOUT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57032" y="1737360"/>
            <a:ext cx="3054096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Narrow and wide?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85800" y="3246120"/>
            <a:ext cx="3383280" cy="1600200"/>
          </a:xfrm>
          <a:prstGeom prst="roundRect">
            <a:avLst>
              <a:gd name="adj" fmla="val 5714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0392" y="3364992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□  KEYBOARD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50392" y="3703320"/>
            <a:ext cx="3054096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 visible and usable?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64808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“It works” is a claim. The browser is evidence.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10104120" y="43891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10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835640" y="43891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3/3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85800" y="1280160"/>
            <a:ext cx="3383280" cy="1600200"/>
          </a:xfrm>
          <a:prstGeom prst="roundRect">
            <a:avLst>
              <a:gd name="adj" fmla="val 5714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0392" y="1399032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□  TASK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50392" y="1737360"/>
            <a:ext cx="3054096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someone finish it?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89120" y="1280160"/>
            <a:ext cx="3383280" cy="1600200"/>
          </a:xfrm>
          <a:prstGeom prst="roundRect">
            <a:avLst>
              <a:gd name="adj" fmla="val 5714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53712" y="1399032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□  STATES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53712" y="1737360"/>
            <a:ext cx="3054096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Empty, loading, error, success?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092440" y="1280160"/>
            <a:ext cx="3383280" cy="1600200"/>
          </a:xfrm>
          <a:prstGeom prst="roundRect">
            <a:avLst>
              <a:gd name="adj" fmla="val 5714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57032" y="1399032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□  LAYOUT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57032" y="1737360"/>
            <a:ext cx="3054096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Narrow and wide?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85800" y="3246120"/>
            <a:ext cx="3383280" cy="1600200"/>
          </a:xfrm>
          <a:prstGeom prst="roundRect">
            <a:avLst>
              <a:gd name="adj" fmla="val 5714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0392" y="3364992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□  KEYBOARD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50392" y="3703320"/>
            <a:ext cx="3054096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 visible and usable?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389120" y="3246120"/>
            <a:ext cx="3383280" cy="1600200"/>
          </a:xfrm>
          <a:prstGeom prst="roundRect">
            <a:avLst>
              <a:gd name="adj" fmla="val 5714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53712" y="3364992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□  CONTENT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53712" y="3703320"/>
            <a:ext cx="3054096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 names and real volume?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092440" y="3246120"/>
            <a:ext cx="3383280" cy="1600200"/>
          </a:xfrm>
          <a:prstGeom prst="roundRect">
            <a:avLst>
              <a:gd name="adj" fmla="val 5714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57032" y="3364992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□  REGRESSION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257032" y="3703320"/>
            <a:ext cx="3054096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Did the earlier flow still work?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22960" y="523036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83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says: “Done.”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7726680" y="523036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D7A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 shows: evidence.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640080" y="5989320"/>
            <a:ext cx="10881360" cy="512064"/>
          </a:xfrm>
          <a:prstGeom prst="roundRect">
            <a:avLst>
              <a:gd name="adj" fmla="val 17857"/>
            </a:avLst>
          </a:prstGeom>
          <a:solidFill>
            <a:srgbClr val="003E63"/>
          </a:solidFill>
          <a:ln w="12700">
            <a:solidFill>
              <a:srgbClr val="003E63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77824" y="6089904"/>
            <a:ext cx="10405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the behavior. Do not accept the status message.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64808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Figma to a prototype people can try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10104120" y="43891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10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835640" y="43891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1/3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58368" y="1280160"/>
            <a:ext cx="1572768" cy="914400"/>
          </a:xfrm>
          <a:prstGeom prst="roundRect">
            <a:avLst>
              <a:gd name="adj" fmla="val 10000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399032"/>
            <a:ext cx="1243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737360"/>
            <a:ext cx="1243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Figma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240280" y="1572768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2487168" y="1280160"/>
            <a:ext cx="1572768" cy="914400"/>
          </a:xfrm>
          <a:prstGeom prst="roundRect">
            <a:avLst>
              <a:gd name="adj" fmla="val 10000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651760" y="1399032"/>
            <a:ext cx="1243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651760" y="1737360"/>
            <a:ext cx="1243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069080" y="1572768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4315968" y="1280160"/>
            <a:ext cx="1572768" cy="914400"/>
          </a:xfrm>
          <a:prstGeom prst="roundRect">
            <a:avLst>
              <a:gd name="adj" fmla="val 10000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80560" y="1399032"/>
            <a:ext cx="1243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480560" y="1737360"/>
            <a:ext cx="1243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64808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Figma to a prototype people can try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10104120" y="43891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10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835640" y="43891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2/3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58368" y="1280160"/>
            <a:ext cx="1572768" cy="914400"/>
          </a:xfrm>
          <a:prstGeom prst="roundRect">
            <a:avLst>
              <a:gd name="adj" fmla="val 10000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399032"/>
            <a:ext cx="1243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737360"/>
            <a:ext cx="1243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Figma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240280" y="1572768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2487168" y="1280160"/>
            <a:ext cx="1572768" cy="914400"/>
          </a:xfrm>
          <a:prstGeom prst="roundRect">
            <a:avLst>
              <a:gd name="adj" fmla="val 10000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651760" y="1399032"/>
            <a:ext cx="1243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651760" y="1737360"/>
            <a:ext cx="1243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069080" y="1572768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4315968" y="1280160"/>
            <a:ext cx="1572768" cy="914400"/>
          </a:xfrm>
          <a:prstGeom prst="roundRect">
            <a:avLst>
              <a:gd name="adj" fmla="val 10000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80560" y="1399032"/>
            <a:ext cx="1243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480560" y="1737360"/>
            <a:ext cx="1243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897880" y="1572768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6144768" y="1280160"/>
            <a:ext cx="1572768" cy="914400"/>
          </a:xfrm>
          <a:prstGeom prst="roundRect">
            <a:avLst>
              <a:gd name="adj" fmla="val 10000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09360" y="1399032"/>
            <a:ext cx="1243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309360" y="1737360"/>
            <a:ext cx="1243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726680" y="1572768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7973568" y="1280160"/>
            <a:ext cx="1572768" cy="914400"/>
          </a:xfrm>
          <a:prstGeom prst="roundRect">
            <a:avLst>
              <a:gd name="adj" fmla="val 10000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138160" y="1399032"/>
            <a:ext cx="1243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138160" y="1737360"/>
            <a:ext cx="1243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555480" y="1572768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9802368" y="1280160"/>
            <a:ext cx="1572768" cy="914400"/>
          </a:xfrm>
          <a:prstGeom prst="roundRect">
            <a:avLst>
              <a:gd name="adj" fmla="val 10000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966960" y="1399032"/>
            <a:ext cx="1243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966960" y="1737360"/>
            <a:ext cx="1243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URL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64808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Figma to a prototype people can try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10104120" y="43891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10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835640" y="43891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3/3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58368" y="1280160"/>
            <a:ext cx="1572768" cy="914400"/>
          </a:xfrm>
          <a:prstGeom prst="roundRect">
            <a:avLst>
              <a:gd name="adj" fmla="val 10000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399032"/>
            <a:ext cx="1243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737360"/>
            <a:ext cx="1243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Figma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240280" y="1572768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2487168" y="1280160"/>
            <a:ext cx="1572768" cy="914400"/>
          </a:xfrm>
          <a:prstGeom prst="roundRect">
            <a:avLst>
              <a:gd name="adj" fmla="val 10000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651760" y="1399032"/>
            <a:ext cx="1243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651760" y="1737360"/>
            <a:ext cx="1243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069080" y="1572768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4315968" y="1280160"/>
            <a:ext cx="1572768" cy="914400"/>
          </a:xfrm>
          <a:prstGeom prst="roundRect">
            <a:avLst>
              <a:gd name="adj" fmla="val 10000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80560" y="1399032"/>
            <a:ext cx="1243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480560" y="1737360"/>
            <a:ext cx="1243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897880" y="1572768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6144768" y="1280160"/>
            <a:ext cx="1572768" cy="914400"/>
          </a:xfrm>
          <a:prstGeom prst="roundRect">
            <a:avLst>
              <a:gd name="adj" fmla="val 10000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09360" y="1399032"/>
            <a:ext cx="1243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309360" y="1737360"/>
            <a:ext cx="1243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726680" y="1572768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7973568" y="1280160"/>
            <a:ext cx="1572768" cy="914400"/>
          </a:xfrm>
          <a:prstGeom prst="roundRect">
            <a:avLst>
              <a:gd name="adj" fmla="val 10000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138160" y="1399032"/>
            <a:ext cx="1243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138160" y="1737360"/>
            <a:ext cx="1243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555480" y="1572768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9802368" y="1280160"/>
            <a:ext cx="1572768" cy="914400"/>
          </a:xfrm>
          <a:prstGeom prst="roundRect">
            <a:avLst>
              <a:gd name="adj" fmla="val 10000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966960" y="1399032"/>
            <a:ext cx="1243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966960" y="1737360"/>
            <a:ext cx="1243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URL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1051560" y="2788920"/>
            <a:ext cx="9966960" cy="2331720"/>
          </a:xfrm>
          <a:prstGeom prst="arc">
            <a:avLst/>
          </a:prstGeom>
          <a:solidFill>
            <a:srgbClr val="FFFFFF">
              <a:alpha val="0"/>
            </a:srgbClr>
          </a:solidFill>
          <a:ln w="31750">
            <a:solidFill>
              <a:srgbClr val="F47F20"/>
            </a:solidFill>
            <a:prstDash val="solid"/>
            <a:headEnd type="none"/>
            <a:tailEnd type="triangle"/>
          </a:ln>
        </p:spPr>
      </p:sp>
      <p:sp>
        <p:nvSpPr>
          <p:cNvPr id="29" name="Text 27"/>
          <p:cNvSpPr/>
          <p:nvPr/>
        </p:nvSpPr>
        <p:spPr>
          <a:xfrm>
            <a:off x="4343400" y="299923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spc="130" kern="0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 AT EVERY STEP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207008" y="3456432"/>
            <a:ext cx="1143000" cy="822960"/>
          </a:xfrm>
          <a:prstGeom prst="roundRect">
            <a:avLst>
              <a:gd name="adj" fmla="val 11111"/>
            </a:avLst>
          </a:prstGeom>
          <a:solidFill>
            <a:srgbClr val="F9C74F"/>
          </a:solidFill>
          <a:ln w="12700">
            <a:solidFill>
              <a:srgbClr val="F9C74F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371600" y="3575304"/>
            <a:ext cx="813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371600" y="3913632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2560320" y="3456432"/>
            <a:ext cx="1143000" cy="822960"/>
          </a:xfrm>
          <a:prstGeom prst="roundRect">
            <a:avLst>
              <a:gd name="adj" fmla="val 11111"/>
            </a:avLst>
          </a:prstGeom>
          <a:solidFill>
            <a:srgbClr val="EBE3F5"/>
          </a:solidFill>
          <a:ln w="12700">
            <a:solidFill>
              <a:srgbClr val="EBE3F5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724912" y="3575304"/>
            <a:ext cx="813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2724912" y="3913632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913632" y="3456432"/>
            <a:ext cx="1143000" cy="822960"/>
          </a:xfrm>
          <a:prstGeom prst="roundRect">
            <a:avLst>
              <a:gd name="adj" fmla="val 11111"/>
            </a:avLst>
          </a:prstGeom>
          <a:solidFill>
            <a:srgbClr val="F9C74F"/>
          </a:solidFill>
          <a:ln w="12700">
            <a:solidFill>
              <a:srgbClr val="F9C74F">
                <a:alpha val="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078224" y="3575304"/>
            <a:ext cx="813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4078224" y="3913632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5266944" y="3456432"/>
            <a:ext cx="1143000" cy="822960"/>
          </a:xfrm>
          <a:prstGeom prst="roundRect">
            <a:avLst>
              <a:gd name="adj" fmla="val 11111"/>
            </a:avLst>
          </a:prstGeom>
          <a:solidFill>
            <a:srgbClr val="EBE3F5"/>
          </a:solidFill>
          <a:ln w="12700">
            <a:solidFill>
              <a:srgbClr val="EBE3F5">
                <a:alpha val="0"/>
              </a:srgbClr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431536" y="3575304"/>
            <a:ext cx="813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5431536" y="3913632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6620256" y="3456432"/>
            <a:ext cx="1143000" cy="822960"/>
          </a:xfrm>
          <a:prstGeom prst="roundRect">
            <a:avLst>
              <a:gd name="adj" fmla="val 11111"/>
            </a:avLst>
          </a:prstGeom>
          <a:solidFill>
            <a:srgbClr val="F9C74F"/>
          </a:solidFill>
          <a:ln w="12700">
            <a:solidFill>
              <a:srgbClr val="F9C74F">
                <a:alpha val="0"/>
              </a:srgbClr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784848" y="3575304"/>
            <a:ext cx="813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6784848" y="3913632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Adjust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7973568" y="3456432"/>
            <a:ext cx="1143000" cy="822960"/>
          </a:xfrm>
          <a:prstGeom prst="roundRect">
            <a:avLst>
              <a:gd name="adj" fmla="val 11111"/>
            </a:avLst>
          </a:prstGeom>
          <a:solidFill>
            <a:srgbClr val="EBE3F5"/>
          </a:solidFill>
          <a:ln w="12700">
            <a:solidFill>
              <a:srgbClr val="EBE3F5">
                <a:alpha val="0"/>
              </a:srgbClr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138160" y="3575304"/>
            <a:ext cx="813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8138160" y="3913632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9326880" y="3456432"/>
            <a:ext cx="1143000" cy="822960"/>
          </a:xfrm>
          <a:prstGeom prst="roundRect">
            <a:avLst>
              <a:gd name="adj" fmla="val 11111"/>
            </a:avLst>
          </a:prstGeom>
          <a:solidFill>
            <a:srgbClr val="F9C74F"/>
          </a:solidFill>
          <a:ln w="12700">
            <a:solidFill>
              <a:srgbClr val="F9C74F">
                <a:alpha val="0"/>
              </a:srgbClr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491472" y="3575304"/>
            <a:ext cx="813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9491472" y="3913632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914400" y="489204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3E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shareable prototype turns opinion into something people can try.</a:t>
            </a:r>
            <a:endParaRPr lang="en-US" sz="2200" dirty="0"/>
          </a:p>
        </p:txBody>
      </p:sp>
      <p:sp>
        <p:nvSpPr>
          <p:cNvPr id="52" name="Shape 50"/>
          <p:cNvSpPr/>
          <p:nvPr/>
        </p:nvSpPr>
        <p:spPr>
          <a:xfrm>
            <a:off x="640080" y="5989320"/>
            <a:ext cx="10881360" cy="512064"/>
          </a:xfrm>
          <a:prstGeom prst="roundRect">
            <a:avLst>
              <a:gd name="adj" fmla="val 17857"/>
            </a:avLst>
          </a:prstGeom>
          <a:solidFill>
            <a:srgbClr val="003E63"/>
          </a:solidFill>
          <a:ln w="12700">
            <a:solidFill>
              <a:srgbClr val="003E63">
                <a:alpha val="0"/>
              </a:srgbClr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77824" y="6089904"/>
            <a:ext cx="10405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output is not code. It is evidence for a product decision.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64808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Trimble Modus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Designing with Agent</dc:title>
  <dc:subject>Ten visual lessons for building a working prototype</dc:subject>
  <dc:creator>Modus AI Design Workshop</dc:creator>
  <cp:lastModifiedBy>Modus AI Design Workshop</cp:lastModifiedBy>
  <cp:revision>1</cp:revision>
  <dcterms:created xsi:type="dcterms:W3CDTF">2026-08-16T05:44:41Z</dcterms:created>
  <dcterms:modified xsi:type="dcterms:W3CDTF">2026-08-16T05:44:41Z</dcterms:modified>
</cp:coreProperties>
</file>