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explain the plan in plain terms. We are going to describe an interface, see what Agent makes, and improve it by looking at the result. Nobody needs to read or write code during the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begin with theory. Set up the first experiment: describe something small, run it, and inspect it. The useful skill is learning how to notice the gap between what we meant and what Agent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boundary without making it sound like a handoff wall. Designers will produce a useful, testable frontend prototype. Engineering still reviews and connects the parts that involve real data, security, performance, and production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loop once, then ask the group what they would do after seeing an imperfect first result. Keep returning to this sequence during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for the rhythm: short explanation, hands-on work, a quick check, and questions. The first full assessment comes after the setup and context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result they can see. Introduce HTML and CSS only after the first page gives those terms a practical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group in Agent and Preview. The point is not to accept the first result. The point is to learn how to turn a visual observation into the next useful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two-pane setup. Agent is where they describe the work. Preview is where they decide whether it works. If code appears, reassure them that they do not need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anonymous boxes to explain that a page begins with organization. Do not introduce tags or show source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HTML as the description of what each part is. Participants only need this mental model so they can ask Agent for a properly organized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 from the HTML structure slide to this one and point out what changed visually. The purpose stayed the same; the presentation became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explanation at this level. The group should understand what to ask for, not how to write HTML tags or CSS selectors.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25–30 minutes. If someone gets stuck, ask what one person should be able to do on the first screen. Help them narrow the goal instead of giving them a screen to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low pressure. Check whether each person can create, inspect, and revise a page. Do not discuss the generated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blocked and basic questions first. After each answer, briefly state how the same approach could help in another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working with the page each person already made. We are going to add behavior, not start a second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to Figma. Separate frames can document open, closed, empty, or error states. In the working interface, those moments belong to the same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explain framework internals. Explain the practical reason: once the interface needs behavior and repeated parts, Agent needs a framework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clear that participants are not learning React syntax. They only need to know why Agent is using it and that Angular or Vue may be the right choice in another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closed state first. Ask the group what information the interface must keep track of. Use Figma on the iPad only if the visual comparison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 to the open state. The group only needs to understand the behavior; do not show a hook or generated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six moments as a checklist. Not every feature needs all six, but Agent should not build only the final happy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25–30 minutes. Participants should now decide more of the request themselves. Ask them to choose one useful behavior rather than adding several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check visual and behavioral. Nobody needs to identify React code or explain how Agent implemented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participant to explain state in everyday language. Resolve framework questions, then move into setup and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full assessment. Participants will connect Agent to Modus and Figma instead of relying on general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item through what it helps Agent do. The setup page will handle installation, so participants do not need to learn configuration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live setup route and let participants paste the official prompt into Agent. Avoid showing or explaining the underlying configuration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Rules page. Explain that rules keep Agent from changing direction every time. Do not discuss .mdc syntax.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Skills page. Point out a few practical examples. Designers do not need to remember file names or manually choose every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MCP as a connection, not a smarter model. It can bring in current Modus documentation or a Figma selection. Leave databases and secret management out of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the setup: Figma provides the Cursor plugin. Modus provides the Figma libraries and implementation guidance. There is no separate Modus Figma plugin to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 this as a quick tour. The goal is not to install everything. Connect only the tools that hold information the team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60–75 minutes. Participants should use their own Figma work. Keep the golden Modus file available only as a recovery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one short reflection from each person: what changed in the way they described, checked, or corrected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showing the reference, ask participants to recall the workflow and the context they connected on Day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short tour of where to find foundations, components, patterns, templates, Figma libraries, and AI setup. Teach where to look instead of opening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the Atomic Design System, Palette, Icons, and Blueprint Figma files. Explain that this reduces rework and keeps the prototype close to what engineering can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checks in practical terms. Modus is designed with accessibility in mind, but every generated experience still needs to be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rely on a message saying the tests passed. Ask participants to watch the behavior themselves and check earlier interactions after each meaningful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prepared flawed app: missing empty state, narrow-layout issue, focus problem, long-content overflow, fabricated connected data, or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 a working result or a working result with a small amount of help. Pay special attention to states, accessibility, safe assumptions, and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answers grounded in what participants can see in Preview or confirm in the Modus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practical. Participants need to publish and share a prototype, not learn DevOps or production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Cursor Source Control or Agent for these steps. Participants do not need terminal Git or a diff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sharing a Cursor Agent run does not automatically share the repository. The other person still needs the correct repository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someone else open the links from a different account or device. A localhost link does not count as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 polished look cannot make up for a broken flow, unsafe assumption, inaccessible interaction, or missing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 with one thing to keep and one thing to improve. This is a product and workflow review, not a code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managers to assign a real, low-risk prototype within two weeks. Keep useful Agent conversations and examples of what failed and improved—not only final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open questions. Remind the group that Agent can implement quickly, but people still need to describe the goal, check the behavior, and decide whether the result is good enough to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9C74F"/>
          </a:solidFill>
          <a:ln w="12700">
            <a:solidFill>
              <a:srgbClr val="F9C74F"/>
            </a:solidFill>
            <a:prstDash val="solid"/>
          </a:ln>
        </p:spPr>
      </p:sp>
      <p:sp>
        <p:nvSpPr>
          <p:cNvPr id="3" name="Text 1"/>
          <p:cNvSpPr/>
          <p:nvPr/>
        </p:nvSpPr>
        <p:spPr>
          <a:xfrm>
            <a:off x="9235440" y="6473952"/>
            <a:ext cx="2468880" cy="164592"/>
          </a:xfrm>
          <a:prstGeom prst="rect">
            <a:avLst/>
          </a:prstGeom>
          <a:noFill/>
          <a:ln/>
        </p:spPr>
        <p:txBody>
          <a:bodyPr wrap="square" lIns="0" tIns="0" rIns="0" bIns="0" rtlCol="0" anchor="ctr"/>
          <a:lstStyle/>
          <a:p>
            <a:pPr algn="r" indent="0" marL="0">
              <a:buNone/>
            </a:pPr>
            <a:r>
              <a:rPr lang="en-US" sz="750" dirty="0">
                <a:solidFill>
                  <a:srgbClr val="77848D"/>
                </a:solidFill>
                <a:latin typeface="Arial" pitchFamily="34" charset="0"/>
                <a:ea typeface="Arial" pitchFamily="34" charset="-122"/>
                <a:cs typeface="Arial" pitchFamily="34" charset="-120"/>
              </a:rPr>
              <a:t>Base layout — editable</a:t>
            </a:r>
            <a:endParaRPr lang="en-US" sz="7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E63"/>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003E63"/>
          </a:solidFill>
          <a:ln w="12700">
            <a:solidFill>
              <a:srgbClr val="333333">
                <a:alpha val="0"/>
              </a:srgbClr>
            </a:solidFill>
            <a:prstDash val="solid"/>
          </a:ln>
        </p:spPr>
      </p:sp>
      <p:sp>
        <p:nvSpPr>
          <p:cNvPr id="4" name="Shape 1"/>
          <p:cNvSpPr/>
          <p:nvPr/>
        </p:nvSpPr>
        <p:spPr>
          <a:xfrm rot="1800000">
            <a:off x="7772400" y="-914400"/>
            <a:ext cx="5212080" cy="5212080"/>
          </a:xfrm>
          <a:prstGeom prst="arc">
            <a:avLst/>
          </a:prstGeom>
          <a:solidFill>
            <a:srgbClr val="F9C74F">
              <a:alpha val="98000"/>
            </a:srgbClr>
          </a:solidFill>
          <a:ln w="12700">
            <a:solidFill>
              <a:srgbClr val="333333">
                <a:alpha val="0"/>
              </a:srgbClr>
            </a:solidFill>
            <a:prstDash val="solid"/>
          </a:ln>
        </p:spPr>
      </p:sp>
      <p:sp>
        <p:nvSpPr>
          <p:cNvPr id="5" name="Text 2"/>
          <p:cNvSpPr/>
          <p:nvPr/>
        </p:nvSpPr>
        <p:spPr>
          <a:xfrm>
            <a:off x="731520" y="658368"/>
            <a:ext cx="2743200" cy="274320"/>
          </a:xfrm>
          <a:prstGeom prst="rect">
            <a:avLst/>
          </a:prstGeom>
          <a:noFill/>
          <a:ln/>
        </p:spPr>
        <p:txBody>
          <a:bodyPr wrap="square" lIns="0" tIns="0" rIns="0" bIns="0" rtlCol="0" anchor="ctr">
            <a:normAutofit/>
          </a:bodyPr>
          <a:lstStyle/>
          <a:p>
            <a:pPr indent="0" marL="0">
              <a:buNone/>
            </a:pPr>
            <a:r>
              <a:rPr lang="en-US" sz="1100" b="1" spc="200" kern="0" dirty="0">
                <a:solidFill>
                  <a:srgbClr val="F9C74F"/>
                </a:solidFill>
                <a:latin typeface="Arial" pitchFamily="34" charset="0"/>
                <a:ea typeface="Arial" pitchFamily="34" charset="-122"/>
                <a:cs typeface="Arial" pitchFamily="34" charset="-120"/>
              </a:rPr>
              <a:t>OPEN</a:t>
            </a:r>
            <a:endParaRPr lang="en-US" sz="1100" dirty="0"/>
          </a:p>
        </p:txBody>
      </p:sp>
      <p:sp>
        <p:nvSpPr>
          <p:cNvPr id="6" name="Text 3"/>
          <p:cNvSpPr/>
          <p:nvPr/>
        </p:nvSpPr>
        <p:spPr>
          <a:xfrm>
            <a:off x="731520" y="1600200"/>
            <a:ext cx="8961120" cy="1417320"/>
          </a:xfrm>
          <a:prstGeom prst="rect">
            <a:avLst/>
          </a:prstGeom>
          <a:noFill/>
          <a:ln/>
        </p:spPr>
        <p:txBody>
          <a:bodyPr wrap="square" lIns="0" tIns="0" rIns="0" bIns="0" rtlCol="0" anchor="t">
            <a:normAutofit/>
          </a:bodyPr>
          <a:lstStyle/>
          <a:p>
            <a:pPr indent="0" marL="0">
              <a:buNone/>
            </a:pPr>
            <a:r>
              <a:rPr lang="en-US" sz="4400" b="1" dirty="0">
                <a:solidFill>
                  <a:srgbClr val="FFFFFF"/>
                </a:solidFill>
                <a:latin typeface="Arial" pitchFamily="34" charset="0"/>
                <a:ea typeface="Arial" pitchFamily="34" charset="-122"/>
                <a:cs typeface="Arial" pitchFamily="34" charset="-120"/>
              </a:rPr>
              <a:t>From an idea to a working prototype</a:t>
            </a:r>
            <a:endParaRPr lang="en-US" sz="4400" dirty="0"/>
          </a:p>
        </p:txBody>
      </p:sp>
      <p:sp>
        <p:nvSpPr>
          <p:cNvPr id="7" name="Text 4"/>
          <p:cNvSpPr/>
          <p:nvPr/>
        </p:nvSpPr>
        <p:spPr>
          <a:xfrm>
            <a:off x="749808" y="3310128"/>
            <a:ext cx="8412480" cy="685800"/>
          </a:xfrm>
          <a:prstGeom prst="rect">
            <a:avLst/>
          </a:prstGeom>
          <a:noFill/>
          <a:ln/>
        </p:spPr>
        <p:txBody>
          <a:bodyPr wrap="square" lIns="0" tIns="0" rIns="0" bIns="0" rtlCol="0" anchor="t">
            <a:normAutofit/>
          </a:bodyPr>
          <a:lstStyle/>
          <a:p>
            <a:pPr indent="0" marL="0">
              <a:buNone/>
            </a:pPr>
            <a:r>
              <a:rPr lang="en-US" sz="2200" dirty="0">
                <a:solidFill>
                  <a:srgbClr val="FFFFFF"/>
                </a:solidFill>
                <a:latin typeface="Arial" pitchFamily="34" charset="0"/>
                <a:ea typeface="Arial" pitchFamily="34" charset="-122"/>
                <a:cs typeface="Arial" pitchFamily="34" charset="-120"/>
              </a:rPr>
              <a:t>We’ll start with a simple page, improve it step by step, and finish with something others can open and try.</a:t>
            </a:r>
            <a:endParaRPr lang="en-US" sz="2200" dirty="0"/>
          </a:p>
        </p:txBody>
      </p:sp>
      <p:sp>
        <p:nvSpPr>
          <p:cNvPr id="8" name="Text 5"/>
          <p:cNvSpPr/>
          <p:nvPr/>
        </p:nvSpPr>
        <p:spPr>
          <a:xfrm>
            <a:off x="749808" y="5440680"/>
            <a:ext cx="5486400" cy="384048"/>
          </a:xfrm>
          <a:prstGeom prst="rect">
            <a:avLst/>
          </a:prstGeom>
          <a:noFill/>
          <a:ln/>
        </p:spPr>
        <p:txBody>
          <a:bodyPr wrap="square" lIns="0" tIns="0" rIns="0" bIns="0" rtlCol="0" anchor="ctr">
            <a:normAutofit/>
          </a:bodyPr>
          <a:lstStyle/>
          <a:p>
            <a:pPr indent="0" marL="0">
              <a:buNone/>
            </a:pPr>
            <a:r>
              <a:rPr lang="en-US" sz="1300" b="1" dirty="0">
                <a:solidFill>
                  <a:srgbClr val="F9C74F"/>
                </a:solidFill>
                <a:latin typeface="Arial" pitchFamily="34" charset="0"/>
                <a:ea typeface="Arial" pitchFamily="34" charset="-122"/>
                <a:cs typeface="Arial" pitchFamily="34" charset="-120"/>
              </a:rPr>
              <a:t>Two-day workshop · Cursor Agent + Modus</a:t>
            </a:r>
            <a:endParaRPr lang="en-US" sz="13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OPEN</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Let’s start with a simple question.</a:t>
            </a:r>
            <a:endParaRPr lang="en-US" sz="3100" dirty="0"/>
          </a:p>
        </p:txBody>
      </p:sp>
      <p:sp>
        <p:nvSpPr>
          <p:cNvPr id="5" name="Text 2"/>
          <p:cNvSpPr/>
          <p:nvPr/>
        </p:nvSpPr>
        <p:spPr>
          <a:xfrm>
            <a:off x="685800" y="1965960"/>
            <a:ext cx="10789920" cy="1691640"/>
          </a:xfrm>
          <a:prstGeom prst="rect">
            <a:avLst/>
          </a:prstGeom>
          <a:noFill/>
          <a:ln/>
        </p:spPr>
        <p:txBody>
          <a:bodyPr wrap="square" lIns="0" tIns="0" rIns="0" bIns="0" rtlCol="0" anchor="ctr">
            <a:normAutofit/>
          </a:bodyPr>
          <a:lstStyle/>
          <a:p>
            <a:pPr algn="ctr" indent="0" marL="0">
              <a:buNone/>
            </a:pPr>
            <a:r>
              <a:rPr lang="en-US" sz="3800" b="1" dirty="0">
                <a:solidFill>
                  <a:srgbClr val="003E63"/>
                </a:solidFill>
                <a:latin typeface="Arial" pitchFamily="34" charset="0"/>
                <a:ea typeface="Arial" pitchFamily="34" charset="-122"/>
                <a:cs typeface="Arial" pitchFamily="34" charset="-120"/>
              </a:rPr>
              <a:t>Can Agent turn a clear description into a page we can use?</a:t>
            </a:r>
            <a:endParaRPr lang="en-US" sz="3800" dirty="0"/>
          </a:p>
        </p:txBody>
      </p:sp>
      <p:sp>
        <p:nvSpPr>
          <p:cNvPr id="6" name="Text 3"/>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We’ll make one, look at what it understood, and tell it what to change.</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OPEN</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What we’ll do here—and what happens before production</a:t>
            </a:r>
            <a:endParaRPr lang="en-US" sz="3100" dirty="0"/>
          </a:p>
        </p:txBody>
      </p:sp>
      <p:sp>
        <p:nvSpPr>
          <p:cNvPr id="5" name="Shape 2"/>
          <p:cNvSpPr/>
          <p:nvPr/>
        </p:nvSpPr>
        <p:spPr>
          <a:xfrm>
            <a:off x="658368" y="1645920"/>
            <a:ext cx="5257800" cy="4251960"/>
          </a:xfrm>
          <a:prstGeom prst="roundRect">
            <a:avLst>
              <a:gd name="adj" fmla="val 1720"/>
            </a:avLst>
          </a:prstGeom>
          <a:solidFill>
            <a:srgbClr val="D9EBF7"/>
          </a:solidFill>
          <a:ln w="12700">
            <a:solidFill>
              <a:srgbClr val="D9EBF7">
                <a:alpha val="0"/>
              </a:srgbClr>
            </a:solidFill>
            <a:prstDash val="solid"/>
          </a:ln>
        </p:spPr>
      </p:sp>
      <p:sp>
        <p:nvSpPr>
          <p:cNvPr id="6" name="Shape 3"/>
          <p:cNvSpPr/>
          <p:nvPr/>
        </p:nvSpPr>
        <p:spPr>
          <a:xfrm>
            <a:off x="6126480" y="1645920"/>
            <a:ext cx="5257800" cy="4251960"/>
          </a:xfrm>
          <a:prstGeom prst="roundRect">
            <a:avLst>
              <a:gd name="adj" fmla="val 1720"/>
            </a:avLst>
          </a:prstGeom>
          <a:solidFill>
            <a:srgbClr val="E8ECEF"/>
          </a:solidFill>
          <a:ln w="12700">
            <a:solidFill>
              <a:srgbClr val="E8ECEF">
                <a:alpha val="0"/>
              </a:srgbClr>
            </a:solidFill>
            <a:prstDash val="solid"/>
          </a:ln>
        </p:spPr>
      </p:sp>
      <p:sp>
        <p:nvSpPr>
          <p:cNvPr id="7" name="Text 4"/>
          <p:cNvSpPr/>
          <p:nvPr/>
        </p:nvSpPr>
        <p:spPr>
          <a:xfrm>
            <a:off x="914400" y="1901952"/>
            <a:ext cx="4709160" cy="384048"/>
          </a:xfrm>
          <a:prstGeom prst="rect">
            <a:avLst/>
          </a:prstGeom>
          <a:noFill/>
          <a:ln/>
        </p:spPr>
        <p:txBody>
          <a:bodyPr wrap="square" lIns="0" tIns="0" rIns="0" bIns="0" rtlCol="0" anchor="ctr">
            <a:normAutofit/>
          </a:bodyPr>
          <a:lstStyle/>
          <a:p>
            <a:pPr indent="0" marL="0">
              <a:buNone/>
            </a:pPr>
            <a:r>
              <a:rPr lang="en-US" sz="2000" b="1" dirty="0">
                <a:solidFill>
                  <a:srgbClr val="2D7A58"/>
                </a:solidFill>
                <a:latin typeface="Arial" pitchFamily="34" charset="0"/>
                <a:ea typeface="Arial" pitchFamily="34" charset="-122"/>
                <a:cs typeface="Arial" pitchFamily="34" charset="-120"/>
              </a:rPr>
              <a:t>In this workshop</a:t>
            </a:r>
            <a:endParaRPr lang="en-US" sz="2000" dirty="0"/>
          </a:p>
        </p:txBody>
      </p:sp>
      <p:sp>
        <p:nvSpPr>
          <p:cNvPr id="8" name="Text 5"/>
          <p:cNvSpPr/>
          <p:nvPr/>
        </p:nvSpPr>
        <p:spPr>
          <a:xfrm>
            <a:off x="6382512" y="1901952"/>
            <a:ext cx="4709160" cy="384048"/>
          </a:xfrm>
          <a:prstGeom prst="rect">
            <a:avLst/>
          </a:prstGeom>
          <a:noFill/>
          <a:ln/>
        </p:spPr>
        <p:txBody>
          <a:bodyPr wrap="square" lIns="0" tIns="0" rIns="0" bIns="0" rtlCol="0" anchor="ctr">
            <a:normAutofit/>
          </a:bodyPr>
          <a:lstStyle/>
          <a:p>
            <a:pPr indent="0" marL="0">
              <a:buNone/>
            </a:pPr>
            <a:r>
              <a:rPr lang="en-US" sz="2000" b="1" dirty="0">
                <a:solidFill>
                  <a:srgbClr val="53636F"/>
                </a:solidFill>
                <a:latin typeface="Arial" pitchFamily="34" charset="0"/>
                <a:ea typeface="Arial" pitchFamily="34" charset="-122"/>
                <a:cs typeface="Arial" pitchFamily="34" charset="-120"/>
              </a:rPr>
              <a:t>Before real production</a:t>
            </a:r>
            <a:endParaRPr lang="en-US" sz="2000" dirty="0"/>
          </a:p>
        </p:txBody>
      </p:sp>
      <p:sp>
        <p:nvSpPr>
          <p:cNvPr id="9" name="Text 6"/>
          <p:cNvSpPr/>
          <p:nvPr/>
        </p:nvSpPr>
        <p:spPr>
          <a:xfrm>
            <a:off x="932688" y="248716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0" name="Text 7"/>
          <p:cNvSpPr/>
          <p:nvPr/>
        </p:nvSpPr>
        <p:spPr>
          <a:xfrm>
            <a:off x="1316736" y="246888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User goal and flow</a:t>
            </a:r>
            <a:endParaRPr lang="en-US" sz="1550" dirty="0"/>
          </a:p>
        </p:txBody>
      </p:sp>
      <p:sp>
        <p:nvSpPr>
          <p:cNvPr id="11" name="Text 8"/>
          <p:cNvSpPr/>
          <p:nvPr/>
        </p:nvSpPr>
        <p:spPr>
          <a:xfrm>
            <a:off x="932688" y="3008376"/>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2" name="Text 9"/>
          <p:cNvSpPr/>
          <p:nvPr/>
        </p:nvSpPr>
        <p:spPr>
          <a:xfrm>
            <a:off x="1316736" y="2990088"/>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States and behavior</a:t>
            </a:r>
            <a:endParaRPr lang="en-US" sz="1550" dirty="0"/>
          </a:p>
        </p:txBody>
      </p:sp>
      <p:sp>
        <p:nvSpPr>
          <p:cNvPr id="13" name="Text 10"/>
          <p:cNvSpPr/>
          <p:nvPr/>
        </p:nvSpPr>
        <p:spPr>
          <a:xfrm>
            <a:off x="932688" y="3529584"/>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4" name="Text 11"/>
          <p:cNvSpPr/>
          <p:nvPr/>
        </p:nvSpPr>
        <p:spPr>
          <a:xfrm>
            <a:off x="1316736" y="3511296"/>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Modus fidelity</a:t>
            </a:r>
            <a:endParaRPr lang="en-US" sz="1550" dirty="0"/>
          </a:p>
        </p:txBody>
      </p:sp>
      <p:sp>
        <p:nvSpPr>
          <p:cNvPr id="15" name="Text 12"/>
          <p:cNvSpPr/>
          <p:nvPr/>
        </p:nvSpPr>
        <p:spPr>
          <a:xfrm>
            <a:off x="932688" y="4050792"/>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6" name="Text 13"/>
          <p:cNvSpPr/>
          <p:nvPr/>
        </p:nvSpPr>
        <p:spPr>
          <a:xfrm>
            <a:off x="1316736" y="4032504"/>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Prompts and context</a:t>
            </a:r>
            <a:endParaRPr lang="en-US" sz="1550" dirty="0"/>
          </a:p>
        </p:txBody>
      </p:sp>
      <p:sp>
        <p:nvSpPr>
          <p:cNvPr id="17" name="Text 14"/>
          <p:cNvSpPr/>
          <p:nvPr/>
        </p:nvSpPr>
        <p:spPr>
          <a:xfrm>
            <a:off x="932688" y="4572000"/>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8" name="Text 15"/>
          <p:cNvSpPr/>
          <p:nvPr/>
        </p:nvSpPr>
        <p:spPr>
          <a:xfrm>
            <a:off x="1316736" y="4553712"/>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Visual verification</a:t>
            </a:r>
            <a:endParaRPr lang="en-US" sz="1550" dirty="0"/>
          </a:p>
        </p:txBody>
      </p:sp>
      <p:sp>
        <p:nvSpPr>
          <p:cNvPr id="19" name="Text 16"/>
          <p:cNvSpPr/>
          <p:nvPr/>
        </p:nvSpPr>
        <p:spPr>
          <a:xfrm>
            <a:off x="932688" y="509320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20" name="Text 17"/>
          <p:cNvSpPr/>
          <p:nvPr/>
        </p:nvSpPr>
        <p:spPr>
          <a:xfrm>
            <a:off x="1316736" y="507492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Prototype and handoff</a:t>
            </a:r>
            <a:endParaRPr lang="en-US" sz="1550" dirty="0"/>
          </a:p>
        </p:txBody>
      </p:sp>
      <p:sp>
        <p:nvSpPr>
          <p:cNvPr id="21" name="Text 18"/>
          <p:cNvSpPr/>
          <p:nvPr/>
        </p:nvSpPr>
        <p:spPr>
          <a:xfrm>
            <a:off x="6400800" y="248716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2" name="Text 19"/>
          <p:cNvSpPr/>
          <p:nvPr/>
        </p:nvSpPr>
        <p:spPr>
          <a:xfrm>
            <a:off x="6784848" y="246888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Production data</a:t>
            </a:r>
            <a:endParaRPr lang="en-US" sz="1550" dirty="0"/>
          </a:p>
        </p:txBody>
      </p:sp>
      <p:sp>
        <p:nvSpPr>
          <p:cNvPr id="23" name="Text 20"/>
          <p:cNvSpPr/>
          <p:nvPr/>
        </p:nvSpPr>
        <p:spPr>
          <a:xfrm>
            <a:off x="6400800" y="3008376"/>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4" name="Text 21"/>
          <p:cNvSpPr/>
          <p:nvPr/>
        </p:nvSpPr>
        <p:spPr>
          <a:xfrm>
            <a:off x="6784848" y="2990088"/>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Authentication</a:t>
            </a:r>
            <a:endParaRPr lang="en-US" sz="1550" dirty="0"/>
          </a:p>
        </p:txBody>
      </p:sp>
      <p:sp>
        <p:nvSpPr>
          <p:cNvPr id="25" name="Text 22"/>
          <p:cNvSpPr/>
          <p:nvPr/>
        </p:nvSpPr>
        <p:spPr>
          <a:xfrm>
            <a:off x="6400800" y="3529584"/>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6" name="Text 23"/>
          <p:cNvSpPr/>
          <p:nvPr/>
        </p:nvSpPr>
        <p:spPr>
          <a:xfrm>
            <a:off x="6784848" y="3511296"/>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Security and privacy</a:t>
            </a:r>
            <a:endParaRPr lang="en-US" sz="1550" dirty="0"/>
          </a:p>
        </p:txBody>
      </p:sp>
      <p:sp>
        <p:nvSpPr>
          <p:cNvPr id="27" name="Text 24"/>
          <p:cNvSpPr/>
          <p:nvPr/>
        </p:nvSpPr>
        <p:spPr>
          <a:xfrm>
            <a:off x="6400800" y="4050792"/>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8" name="Text 25"/>
          <p:cNvSpPr/>
          <p:nvPr/>
        </p:nvSpPr>
        <p:spPr>
          <a:xfrm>
            <a:off x="6784848" y="4032504"/>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Performance</a:t>
            </a:r>
            <a:endParaRPr lang="en-US" sz="1550" dirty="0"/>
          </a:p>
        </p:txBody>
      </p:sp>
      <p:sp>
        <p:nvSpPr>
          <p:cNvPr id="29" name="Text 26"/>
          <p:cNvSpPr/>
          <p:nvPr/>
        </p:nvSpPr>
        <p:spPr>
          <a:xfrm>
            <a:off x="6400800" y="4572000"/>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30" name="Text 27"/>
          <p:cNvSpPr/>
          <p:nvPr/>
        </p:nvSpPr>
        <p:spPr>
          <a:xfrm>
            <a:off x="6784848" y="4553712"/>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Architecture</a:t>
            </a:r>
            <a:endParaRPr lang="en-US" sz="1550" dirty="0"/>
          </a:p>
        </p:txBody>
      </p:sp>
      <p:sp>
        <p:nvSpPr>
          <p:cNvPr id="31" name="Text 28"/>
          <p:cNvSpPr/>
          <p:nvPr/>
        </p:nvSpPr>
        <p:spPr>
          <a:xfrm>
            <a:off x="6400800" y="509320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32" name="Text 29"/>
          <p:cNvSpPr/>
          <p:nvPr/>
        </p:nvSpPr>
        <p:spPr>
          <a:xfrm>
            <a:off x="6784848" y="507492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Final production review</a:t>
            </a:r>
            <a:endParaRPr lang="en-US" sz="15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OPEN</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This is the loop we’ll use all the way through.</a:t>
            </a:r>
            <a:endParaRPr lang="en-US" sz="3100" dirty="0"/>
          </a:p>
        </p:txBody>
      </p:sp>
      <p:sp>
        <p:nvSpPr>
          <p:cNvPr id="5" name="Shape 2"/>
          <p:cNvSpPr/>
          <p:nvPr/>
        </p:nvSpPr>
        <p:spPr>
          <a:xfrm>
            <a:off x="658368" y="2148840"/>
            <a:ext cx="1106424" cy="960120"/>
          </a:xfrm>
          <a:prstGeom prst="roundRect">
            <a:avLst>
              <a:gd name="adj" fmla="val 7619"/>
            </a:avLst>
          </a:prstGeom>
          <a:solidFill>
            <a:srgbClr val="DDEFE6"/>
          </a:solidFill>
          <a:ln w="12700">
            <a:solidFill>
              <a:srgbClr val="DDEFE6">
                <a:alpha val="0"/>
              </a:srgbClr>
            </a:solidFill>
            <a:prstDash val="solid"/>
          </a:ln>
        </p:spPr>
      </p:sp>
      <p:sp>
        <p:nvSpPr>
          <p:cNvPr id="6" name="Text 3"/>
          <p:cNvSpPr/>
          <p:nvPr/>
        </p:nvSpPr>
        <p:spPr>
          <a:xfrm>
            <a:off x="76809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1</a:t>
            </a:r>
            <a:endParaRPr lang="en-US" sz="1000" dirty="0"/>
          </a:p>
        </p:txBody>
      </p:sp>
      <p:sp>
        <p:nvSpPr>
          <p:cNvPr id="7" name="Text 4"/>
          <p:cNvSpPr/>
          <p:nvPr/>
        </p:nvSpPr>
        <p:spPr>
          <a:xfrm>
            <a:off x="768096"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Describe</a:t>
            </a:r>
            <a:endParaRPr lang="en-US" sz="1285" dirty="0"/>
          </a:p>
        </p:txBody>
      </p:sp>
      <p:sp>
        <p:nvSpPr>
          <p:cNvPr id="8" name="Shape 5"/>
          <p:cNvSpPr/>
          <p:nvPr/>
        </p:nvSpPr>
        <p:spPr>
          <a:xfrm>
            <a:off x="1874520" y="2148840"/>
            <a:ext cx="1106424" cy="960120"/>
          </a:xfrm>
          <a:prstGeom prst="roundRect">
            <a:avLst>
              <a:gd name="adj" fmla="val 7619"/>
            </a:avLst>
          </a:prstGeom>
          <a:solidFill>
            <a:srgbClr val="D9EBF7"/>
          </a:solidFill>
          <a:ln w="12700">
            <a:solidFill>
              <a:srgbClr val="D9EBF7">
                <a:alpha val="0"/>
              </a:srgbClr>
            </a:solidFill>
            <a:prstDash val="solid"/>
          </a:ln>
        </p:spPr>
      </p:sp>
      <p:sp>
        <p:nvSpPr>
          <p:cNvPr id="9" name="Text 6"/>
          <p:cNvSpPr/>
          <p:nvPr/>
        </p:nvSpPr>
        <p:spPr>
          <a:xfrm>
            <a:off x="1984248"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1984248"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Set limits</a:t>
            </a:r>
            <a:endParaRPr lang="en-US" sz="1285" dirty="0"/>
          </a:p>
        </p:txBody>
      </p:sp>
      <p:sp>
        <p:nvSpPr>
          <p:cNvPr id="11" name="Shape 8"/>
          <p:cNvSpPr/>
          <p:nvPr/>
        </p:nvSpPr>
        <p:spPr>
          <a:xfrm>
            <a:off x="3090672" y="2148840"/>
            <a:ext cx="1106424" cy="960120"/>
          </a:xfrm>
          <a:prstGeom prst="roundRect">
            <a:avLst>
              <a:gd name="adj" fmla="val 7619"/>
            </a:avLst>
          </a:prstGeom>
          <a:solidFill>
            <a:srgbClr val="DDEFE6"/>
          </a:solidFill>
          <a:ln w="12700">
            <a:solidFill>
              <a:srgbClr val="DDEFE6">
                <a:alpha val="0"/>
              </a:srgbClr>
            </a:solidFill>
            <a:prstDash val="solid"/>
          </a:ln>
        </p:spPr>
      </p:sp>
      <p:sp>
        <p:nvSpPr>
          <p:cNvPr id="12" name="Text 9"/>
          <p:cNvSpPr/>
          <p:nvPr/>
        </p:nvSpPr>
        <p:spPr>
          <a:xfrm>
            <a:off x="320040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3</a:t>
            </a:r>
            <a:endParaRPr lang="en-US" sz="1000" dirty="0"/>
          </a:p>
        </p:txBody>
      </p:sp>
      <p:sp>
        <p:nvSpPr>
          <p:cNvPr id="13" name="Text 10"/>
          <p:cNvSpPr/>
          <p:nvPr/>
        </p:nvSpPr>
        <p:spPr>
          <a:xfrm>
            <a:off x="3200400"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Build</a:t>
            </a:r>
            <a:endParaRPr lang="en-US" sz="1285" dirty="0"/>
          </a:p>
        </p:txBody>
      </p:sp>
      <p:sp>
        <p:nvSpPr>
          <p:cNvPr id="14" name="Shape 11"/>
          <p:cNvSpPr/>
          <p:nvPr/>
        </p:nvSpPr>
        <p:spPr>
          <a:xfrm>
            <a:off x="4306824" y="2148840"/>
            <a:ext cx="1106424" cy="960120"/>
          </a:xfrm>
          <a:prstGeom prst="roundRect">
            <a:avLst>
              <a:gd name="adj" fmla="val 7619"/>
            </a:avLst>
          </a:prstGeom>
          <a:solidFill>
            <a:srgbClr val="D9EBF7"/>
          </a:solidFill>
          <a:ln w="12700">
            <a:solidFill>
              <a:srgbClr val="D9EBF7">
                <a:alpha val="0"/>
              </a:srgbClr>
            </a:solidFill>
            <a:prstDash val="solid"/>
          </a:ln>
        </p:spPr>
      </p:sp>
      <p:sp>
        <p:nvSpPr>
          <p:cNvPr id="15" name="Text 12"/>
          <p:cNvSpPr/>
          <p:nvPr/>
        </p:nvSpPr>
        <p:spPr>
          <a:xfrm>
            <a:off x="4416552"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4</a:t>
            </a:r>
            <a:endParaRPr lang="en-US" sz="1000" dirty="0"/>
          </a:p>
        </p:txBody>
      </p:sp>
      <p:sp>
        <p:nvSpPr>
          <p:cNvPr id="16" name="Text 13"/>
          <p:cNvSpPr/>
          <p:nvPr/>
        </p:nvSpPr>
        <p:spPr>
          <a:xfrm>
            <a:off x="4416552"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Look</a:t>
            </a:r>
            <a:endParaRPr lang="en-US" sz="1285" dirty="0"/>
          </a:p>
        </p:txBody>
      </p:sp>
      <p:sp>
        <p:nvSpPr>
          <p:cNvPr id="17" name="Shape 14"/>
          <p:cNvSpPr/>
          <p:nvPr/>
        </p:nvSpPr>
        <p:spPr>
          <a:xfrm>
            <a:off x="5522976" y="2148840"/>
            <a:ext cx="1106424" cy="960120"/>
          </a:xfrm>
          <a:prstGeom prst="roundRect">
            <a:avLst>
              <a:gd name="adj" fmla="val 7619"/>
            </a:avLst>
          </a:prstGeom>
          <a:solidFill>
            <a:srgbClr val="DDEFE6"/>
          </a:solidFill>
          <a:ln w="12700">
            <a:solidFill>
              <a:srgbClr val="DDEFE6">
                <a:alpha val="0"/>
              </a:srgbClr>
            </a:solidFill>
            <a:prstDash val="solid"/>
          </a:ln>
        </p:spPr>
      </p:sp>
      <p:sp>
        <p:nvSpPr>
          <p:cNvPr id="18" name="Text 15"/>
          <p:cNvSpPr/>
          <p:nvPr/>
        </p:nvSpPr>
        <p:spPr>
          <a:xfrm>
            <a:off x="5632704"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5</a:t>
            </a:r>
            <a:endParaRPr lang="en-US" sz="1000" dirty="0"/>
          </a:p>
        </p:txBody>
      </p:sp>
      <p:sp>
        <p:nvSpPr>
          <p:cNvPr id="19" name="Text 16"/>
          <p:cNvSpPr/>
          <p:nvPr/>
        </p:nvSpPr>
        <p:spPr>
          <a:xfrm>
            <a:off x="5632704"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Try it</a:t>
            </a:r>
            <a:endParaRPr lang="en-US" sz="1285" dirty="0"/>
          </a:p>
        </p:txBody>
      </p:sp>
      <p:sp>
        <p:nvSpPr>
          <p:cNvPr id="20" name="Shape 17"/>
          <p:cNvSpPr/>
          <p:nvPr/>
        </p:nvSpPr>
        <p:spPr>
          <a:xfrm>
            <a:off x="6739128" y="2148840"/>
            <a:ext cx="1106424" cy="960120"/>
          </a:xfrm>
          <a:prstGeom prst="roundRect">
            <a:avLst>
              <a:gd name="adj" fmla="val 7619"/>
            </a:avLst>
          </a:prstGeom>
          <a:solidFill>
            <a:srgbClr val="D9EBF7"/>
          </a:solidFill>
          <a:ln w="12700">
            <a:solidFill>
              <a:srgbClr val="D9EBF7">
                <a:alpha val="0"/>
              </a:srgbClr>
            </a:solidFill>
            <a:prstDash val="solid"/>
          </a:ln>
        </p:spPr>
      </p:sp>
      <p:sp>
        <p:nvSpPr>
          <p:cNvPr id="21" name="Text 18"/>
          <p:cNvSpPr/>
          <p:nvPr/>
        </p:nvSpPr>
        <p:spPr>
          <a:xfrm>
            <a:off x="684885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6</a:t>
            </a:r>
            <a:endParaRPr lang="en-US" sz="1000" dirty="0"/>
          </a:p>
        </p:txBody>
      </p:sp>
      <p:sp>
        <p:nvSpPr>
          <p:cNvPr id="22" name="Text 19"/>
          <p:cNvSpPr/>
          <p:nvPr/>
        </p:nvSpPr>
        <p:spPr>
          <a:xfrm>
            <a:off x="6848856"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Spot the issue</a:t>
            </a:r>
            <a:endParaRPr lang="en-US" sz="1285" dirty="0"/>
          </a:p>
        </p:txBody>
      </p:sp>
      <p:sp>
        <p:nvSpPr>
          <p:cNvPr id="23" name="Shape 20"/>
          <p:cNvSpPr/>
          <p:nvPr/>
        </p:nvSpPr>
        <p:spPr>
          <a:xfrm>
            <a:off x="7955280" y="2148840"/>
            <a:ext cx="1106424" cy="960120"/>
          </a:xfrm>
          <a:prstGeom prst="roundRect">
            <a:avLst>
              <a:gd name="adj" fmla="val 7619"/>
            </a:avLst>
          </a:prstGeom>
          <a:solidFill>
            <a:srgbClr val="DDEFE6"/>
          </a:solidFill>
          <a:ln w="12700">
            <a:solidFill>
              <a:srgbClr val="DDEFE6">
                <a:alpha val="0"/>
              </a:srgbClr>
            </a:solidFill>
            <a:prstDash val="solid"/>
          </a:ln>
        </p:spPr>
      </p:sp>
      <p:sp>
        <p:nvSpPr>
          <p:cNvPr id="24" name="Text 21"/>
          <p:cNvSpPr/>
          <p:nvPr/>
        </p:nvSpPr>
        <p:spPr>
          <a:xfrm>
            <a:off x="8065008"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7</a:t>
            </a:r>
            <a:endParaRPr lang="en-US" sz="1000" dirty="0"/>
          </a:p>
        </p:txBody>
      </p:sp>
      <p:sp>
        <p:nvSpPr>
          <p:cNvPr id="25" name="Text 22"/>
          <p:cNvSpPr/>
          <p:nvPr/>
        </p:nvSpPr>
        <p:spPr>
          <a:xfrm>
            <a:off x="8065008"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Adjust</a:t>
            </a:r>
            <a:endParaRPr lang="en-US" sz="1285" dirty="0"/>
          </a:p>
        </p:txBody>
      </p:sp>
      <p:sp>
        <p:nvSpPr>
          <p:cNvPr id="26" name="Shape 23"/>
          <p:cNvSpPr/>
          <p:nvPr/>
        </p:nvSpPr>
        <p:spPr>
          <a:xfrm>
            <a:off x="9171432" y="2148840"/>
            <a:ext cx="1106424" cy="960120"/>
          </a:xfrm>
          <a:prstGeom prst="roundRect">
            <a:avLst>
              <a:gd name="adj" fmla="val 7619"/>
            </a:avLst>
          </a:prstGeom>
          <a:solidFill>
            <a:srgbClr val="D9EBF7"/>
          </a:solidFill>
          <a:ln w="12700">
            <a:solidFill>
              <a:srgbClr val="D9EBF7">
                <a:alpha val="0"/>
              </a:srgbClr>
            </a:solidFill>
            <a:prstDash val="solid"/>
          </a:ln>
        </p:spPr>
      </p:sp>
      <p:sp>
        <p:nvSpPr>
          <p:cNvPr id="27" name="Text 24"/>
          <p:cNvSpPr/>
          <p:nvPr/>
        </p:nvSpPr>
        <p:spPr>
          <a:xfrm>
            <a:off x="928116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8</a:t>
            </a:r>
            <a:endParaRPr lang="en-US" sz="1000" dirty="0"/>
          </a:p>
        </p:txBody>
      </p:sp>
      <p:sp>
        <p:nvSpPr>
          <p:cNvPr id="28" name="Text 25"/>
          <p:cNvSpPr/>
          <p:nvPr/>
        </p:nvSpPr>
        <p:spPr>
          <a:xfrm>
            <a:off x="9281160"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Check again</a:t>
            </a:r>
            <a:endParaRPr lang="en-US" sz="1285" dirty="0"/>
          </a:p>
        </p:txBody>
      </p:sp>
      <p:sp>
        <p:nvSpPr>
          <p:cNvPr id="29" name="Shape 26"/>
          <p:cNvSpPr/>
          <p:nvPr/>
        </p:nvSpPr>
        <p:spPr>
          <a:xfrm>
            <a:off x="10387584" y="2148840"/>
            <a:ext cx="1106424" cy="960120"/>
          </a:xfrm>
          <a:prstGeom prst="roundRect">
            <a:avLst>
              <a:gd name="adj" fmla="val 7619"/>
            </a:avLst>
          </a:prstGeom>
          <a:solidFill>
            <a:srgbClr val="DDEFE6"/>
          </a:solidFill>
          <a:ln w="12700">
            <a:solidFill>
              <a:srgbClr val="DDEFE6">
                <a:alpha val="0"/>
              </a:srgbClr>
            </a:solidFill>
            <a:prstDash val="solid"/>
          </a:ln>
        </p:spPr>
      </p:sp>
      <p:sp>
        <p:nvSpPr>
          <p:cNvPr id="30" name="Text 27"/>
          <p:cNvSpPr/>
          <p:nvPr/>
        </p:nvSpPr>
        <p:spPr>
          <a:xfrm>
            <a:off x="10497312"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9</a:t>
            </a:r>
            <a:endParaRPr lang="en-US" sz="1000" dirty="0"/>
          </a:p>
        </p:txBody>
      </p:sp>
      <p:sp>
        <p:nvSpPr>
          <p:cNvPr id="31" name="Text 28"/>
          <p:cNvSpPr/>
          <p:nvPr/>
        </p:nvSpPr>
        <p:spPr>
          <a:xfrm>
            <a:off x="10497312" y="2542032"/>
            <a:ext cx="886968" cy="347472"/>
          </a:xfrm>
          <a:prstGeom prst="rect">
            <a:avLst/>
          </a:prstGeom>
          <a:noFill/>
          <a:ln/>
        </p:spPr>
        <p:txBody>
          <a:bodyPr wrap="square" lIns="0" tIns="0" rIns="0" bIns="0" rtlCol="0" anchor="ctr">
            <a:normAutofit/>
          </a:bodyPr>
          <a:lstStyle/>
          <a:p>
            <a:pPr algn="ctr" indent="0" marL="0">
              <a:buNone/>
            </a:pPr>
            <a:r>
              <a:rPr lang="en-US" sz="1285" b="1" dirty="0">
                <a:solidFill>
                  <a:srgbClr val="1B242B"/>
                </a:solidFill>
                <a:latin typeface="Arial" pitchFamily="34" charset="0"/>
                <a:ea typeface="Arial" pitchFamily="34" charset="-122"/>
                <a:cs typeface="Arial" pitchFamily="34" charset="-120"/>
              </a:rPr>
              <a:t>Share</a:t>
            </a:r>
            <a:endParaRPr lang="en-US" sz="1285" dirty="0"/>
          </a:p>
        </p:txBody>
      </p:sp>
      <p:sp>
        <p:nvSpPr>
          <p:cNvPr id="32" name="Text 29"/>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The first prompt is only a starting point. Most of the work happens when we look at the result and respond clearly.</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OPEN</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Here’s where we’re going.</a:t>
            </a:r>
            <a:endParaRPr lang="en-US" sz="3100" dirty="0"/>
          </a:p>
        </p:txBody>
      </p:sp>
      <p:sp>
        <p:nvSpPr>
          <p:cNvPr id="5" name="Shape 2"/>
          <p:cNvSpPr/>
          <p:nvPr/>
        </p:nvSpPr>
        <p:spPr>
          <a:xfrm>
            <a:off x="658368" y="1600200"/>
            <a:ext cx="10835640" cy="671170"/>
          </a:xfrm>
          <a:prstGeom prst="roundRect">
            <a:avLst>
              <a:gd name="adj" fmla="val 10899"/>
            </a:avLst>
          </a:prstGeom>
          <a:solidFill>
            <a:srgbClr val="FFFFFF"/>
          </a:solidFill>
          <a:ln w="12700">
            <a:solidFill>
              <a:srgbClr val="FFFFFF">
                <a:alpha val="0"/>
              </a:srgbClr>
            </a:solidFill>
            <a:prstDash val="solid"/>
          </a:ln>
        </p:spPr>
      </p:sp>
      <p:sp>
        <p:nvSpPr>
          <p:cNvPr id="6" name="Text 3"/>
          <p:cNvSpPr/>
          <p:nvPr/>
        </p:nvSpPr>
        <p:spPr>
          <a:xfrm>
            <a:off x="859536" y="17647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Day 1 · Phase 1</a:t>
            </a:r>
            <a:endParaRPr lang="en-US" sz="1700" dirty="0"/>
          </a:p>
        </p:txBody>
      </p:sp>
      <p:sp>
        <p:nvSpPr>
          <p:cNvPr id="7" name="Text 4"/>
          <p:cNvSpPr/>
          <p:nvPr/>
        </p:nvSpPr>
        <p:spPr>
          <a:xfrm>
            <a:off x="859536" y="2112264"/>
            <a:ext cx="10433304" cy="12802"/>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AI + HTML/CSS basics</a:t>
            </a:r>
            <a:endParaRPr lang="en-US" sz="1250" dirty="0"/>
          </a:p>
        </p:txBody>
      </p:sp>
      <p:sp>
        <p:nvSpPr>
          <p:cNvPr id="8" name="Shape 5"/>
          <p:cNvSpPr/>
          <p:nvPr/>
        </p:nvSpPr>
        <p:spPr>
          <a:xfrm>
            <a:off x="658368" y="2472538"/>
            <a:ext cx="10835640" cy="671170"/>
          </a:xfrm>
          <a:prstGeom prst="roundRect">
            <a:avLst>
              <a:gd name="adj" fmla="val 10899"/>
            </a:avLst>
          </a:prstGeom>
          <a:solidFill>
            <a:srgbClr val="FFFFFF"/>
          </a:solidFill>
          <a:ln w="12700">
            <a:solidFill>
              <a:srgbClr val="FFFFFF">
                <a:alpha val="0"/>
              </a:srgbClr>
            </a:solidFill>
            <a:prstDash val="solid"/>
          </a:ln>
        </p:spPr>
      </p:sp>
      <p:sp>
        <p:nvSpPr>
          <p:cNvPr id="9" name="Text 6"/>
          <p:cNvSpPr/>
          <p:nvPr/>
        </p:nvSpPr>
        <p:spPr>
          <a:xfrm>
            <a:off x="859536" y="2637130"/>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Day 1 · Phase 2</a:t>
            </a:r>
            <a:endParaRPr lang="en-US" sz="1700" dirty="0"/>
          </a:p>
        </p:txBody>
      </p:sp>
      <p:sp>
        <p:nvSpPr>
          <p:cNvPr id="10" name="Text 7"/>
          <p:cNvSpPr/>
          <p:nvPr/>
        </p:nvSpPr>
        <p:spPr>
          <a:xfrm>
            <a:off x="859536" y="2984602"/>
            <a:ext cx="10433304" cy="12802"/>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Frameworks + light state</a:t>
            </a:r>
            <a:endParaRPr lang="en-US" sz="1250" dirty="0"/>
          </a:p>
        </p:txBody>
      </p:sp>
      <p:sp>
        <p:nvSpPr>
          <p:cNvPr id="11" name="Shape 8"/>
          <p:cNvSpPr/>
          <p:nvPr/>
        </p:nvSpPr>
        <p:spPr>
          <a:xfrm>
            <a:off x="658368" y="3344875"/>
            <a:ext cx="10835640" cy="671170"/>
          </a:xfrm>
          <a:prstGeom prst="roundRect">
            <a:avLst>
              <a:gd name="adj" fmla="val 10899"/>
            </a:avLst>
          </a:prstGeom>
          <a:solidFill>
            <a:srgbClr val="FFFFFF"/>
          </a:solidFill>
          <a:ln w="12700">
            <a:solidFill>
              <a:srgbClr val="FFFFFF">
                <a:alpha val="0"/>
              </a:srgbClr>
            </a:solidFill>
            <a:prstDash val="solid"/>
          </a:ln>
        </p:spPr>
      </p:sp>
      <p:sp>
        <p:nvSpPr>
          <p:cNvPr id="12" name="Text 9"/>
          <p:cNvSpPr/>
          <p:nvPr/>
        </p:nvSpPr>
        <p:spPr>
          <a:xfrm>
            <a:off x="859536" y="3509467"/>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Day 1 · Phase 3</a:t>
            </a:r>
            <a:endParaRPr lang="en-US" sz="1700" dirty="0"/>
          </a:p>
        </p:txBody>
      </p:sp>
      <p:sp>
        <p:nvSpPr>
          <p:cNvPr id="13" name="Text 10"/>
          <p:cNvSpPr/>
          <p:nvPr/>
        </p:nvSpPr>
        <p:spPr>
          <a:xfrm>
            <a:off x="859536" y="3856939"/>
            <a:ext cx="10433304" cy="12802"/>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Give Agent the right context and tools</a:t>
            </a:r>
            <a:endParaRPr lang="en-US" sz="1250" dirty="0"/>
          </a:p>
        </p:txBody>
      </p:sp>
      <p:sp>
        <p:nvSpPr>
          <p:cNvPr id="14" name="Shape 11"/>
          <p:cNvSpPr/>
          <p:nvPr/>
        </p:nvSpPr>
        <p:spPr>
          <a:xfrm>
            <a:off x="658368" y="4217213"/>
            <a:ext cx="10835640" cy="671170"/>
          </a:xfrm>
          <a:prstGeom prst="roundRect">
            <a:avLst>
              <a:gd name="adj" fmla="val 10899"/>
            </a:avLst>
          </a:prstGeom>
          <a:solidFill>
            <a:srgbClr val="FFFFFF"/>
          </a:solidFill>
          <a:ln w="12700">
            <a:solidFill>
              <a:srgbClr val="FFFFFF">
                <a:alpha val="0"/>
              </a:srgbClr>
            </a:solidFill>
            <a:prstDash val="solid"/>
          </a:ln>
        </p:spPr>
      </p:sp>
      <p:sp>
        <p:nvSpPr>
          <p:cNvPr id="15" name="Text 12"/>
          <p:cNvSpPr/>
          <p:nvPr/>
        </p:nvSpPr>
        <p:spPr>
          <a:xfrm>
            <a:off x="859536" y="4381805"/>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Day 2 · Phase 4</a:t>
            </a:r>
            <a:endParaRPr lang="en-US" sz="1700" dirty="0"/>
          </a:p>
        </p:txBody>
      </p:sp>
      <p:sp>
        <p:nvSpPr>
          <p:cNvPr id="16" name="Text 13"/>
          <p:cNvSpPr/>
          <p:nvPr/>
        </p:nvSpPr>
        <p:spPr>
          <a:xfrm>
            <a:off x="859536" y="4729277"/>
            <a:ext cx="10433304" cy="12802"/>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Build the Modus version</a:t>
            </a:r>
            <a:endParaRPr lang="en-US" sz="1250" dirty="0"/>
          </a:p>
        </p:txBody>
      </p:sp>
      <p:sp>
        <p:nvSpPr>
          <p:cNvPr id="17" name="Shape 14"/>
          <p:cNvSpPr/>
          <p:nvPr/>
        </p:nvSpPr>
        <p:spPr>
          <a:xfrm>
            <a:off x="658368" y="5089550"/>
            <a:ext cx="10835640" cy="671170"/>
          </a:xfrm>
          <a:prstGeom prst="roundRect">
            <a:avLst>
              <a:gd name="adj" fmla="val 10899"/>
            </a:avLst>
          </a:prstGeom>
          <a:solidFill>
            <a:srgbClr val="FFFFFF"/>
          </a:solidFill>
          <a:ln w="12700">
            <a:solidFill>
              <a:srgbClr val="FFFFFF">
                <a:alpha val="0"/>
              </a:srgbClr>
            </a:solidFill>
            <a:prstDash val="solid"/>
          </a:ln>
        </p:spPr>
      </p:sp>
      <p:sp>
        <p:nvSpPr>
          <p:cNvPr id="18" name="Text 15"/>
          <p:cNvSpPr/>
          <p:nvPr/>
        </p:nvSpPr>
        <p:spPr>
          <a:xfrm>
            <a:off x="859536" y="525414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Day 2 · Phase 5</a:t>
            </a:r>
            <a:endParaRPr lang="en-US" sz="1700" dirty="0"/>
          </a:p>
        </p:txBody>
      </p:sp>
      <p:sp>
        <p:nvSpPr>
          <p:cNvPr id="19" name="Text 16"/>
          <p:cNvSpPr/>
          <p:nvPr/>
        </p:nvSpPr>
        <p:spPr>
          <a:xfrm>
            <a:off x="859536" y="5601614"/>
            <a:ext cx="10433304" cy="12802"/>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GitHub, access, and delivery</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63A3"/>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0063A3"/>
          </a:solidFill>
          <a:ln w="12700">
            <a:solidFill>
              <a:srgbClr val="333333">
                <a:alpha val="0"/>
              </a:srgbClr>
            </a:solidFill>
            <a:prstDash val="solid"/>
          </a:ln>
        </p:spPr>
      </p:sp>
      <p:sp>
        <p:nvSpPr>
          <p:cNvPr id="4" name="Shape 1"/>
          <p:cNvSpPr/>
          <p:nvPr/>
        </p:nvSpPr>
        <p:spPr>
          <a:xfrm rot="1800000">
            <a:off x="7772400" y="-914400"/>
            <a:ext cx="5212080" cy="5212080"/>
          </a:xfrm>
          <a:prstGeom prst="arc">
            <a:avLst/>
          </a:prstGeom>
          <a:solidFill>
            <a:srgbClr val="F9C74F">
              <a:alpha val="98000"/>
            </a:srgbClr>
          </a:solidFill>
          <a:ln w="12700">
            <a:solidFill>
              <a:srgbClr val="333333">
                <a:alpha val="0"/>
              </a:srgbClr>
            </a:solidFill>
            <a:prstDash val="solid"/>
          </a:ln>
        </p:spPr>
      </p:sp>
      <p:sp>
        <p:nvSpPr>
          <p:cNvPr id="5" name="Text 2"/>
          <p:cNvSpPr/>
          <p:nvPr/>
        </p:nvSpPr>
        <p:spPr>
          <a:xfrm>
            <a:off x="731520" y="658368"/>
            <a:ext cx="2743200" cy="274320"/>
          </a:xfrm>
          <a:prstGeom prst="rect">
            <a:avLst/>
          </a:prstGeom>
          <a:noFill/>
          <a:ln/>
        </p:spPr>
        <p:txBody>
          <a:bodyPr wrap="square" lIns="0" tIns="0" rIns="0" bIns="0" rtlCol="0" anchor="ctr">
            <a:normAutofit/>
          </a:bodyPr>
          <a:lstStyle/>
          <a:p>
            <a:pPr indent="0" marL="0">
              <a:buNone/>
            </a:pPr>
            <a:r>
              <a:rPr lang="en-US" sz="1100" b="1" spc="200" kern="0" dirty="0">
                <a:solidFill>
                  <a:srgbClr val="F9C74F"/>
                </a:solidFill>
                <a:latin typeface="Arial" pitchFamily="34" charset="0"/>
                <a:ea typeface="Arial" pitchFamily="34" charset="-122"/>
                <a:cs typeface="Arial" pitchFamily="34" charset="-120"/>
              </a:rPr>
              <a:t>PHASE 1</a:t>
            </a:r>
            <a:endParaRPr lang="en-US" sz="1100" dirty="0"/>
          </a:p>
        </p:txBody>
      </p:sp>
      <p:sp>
        <p:nvSpPr>
          <p:cNvPr id="6" name="Text 3"/>
          <p:cNvSpPr/>
          <p:nvPr/>
        </p:nvSpPr>
        <p:spPr>
          <a:xfrm>
            <a:off x="731520" y="1828800"/>
            <a:ext cx="8961120" cy="1005840"/>
          </a:xfrm>
          <a:prstGeom prst="rect">
            <a:avLst/>
          </a:prstGeom>
          <a:noFill/>
          <a:ln/>
        </p:spPr>
        <p:txBody>
          <a:bodyPr wrap="square" lIns="0" tIns="0" rIns="0" bIns="0" rtlCol="0" anchor="t">
            <a:normAutofit/>
          </a:bodyPr>
          <a:lstStyle/>
          <a:p>
            <a:pPr indent="0" marL="0">
              <a:buNone/>
            </a:pPr>
            <a:r>
              <a:rPr lang="en-US" sz="4200" b="1" dirty="0">
                <a:solidFill>
                  <a:srgbClr val="FFFFFF"/>
                </a:solidFill>
                <a:latin typeface="Arial" pitchFamily="34" charset="0"/>
                <a:ea typeface="Arial" pitchFamily="34" charset="-122"/>
                <a:cs typeface="Arial" pitchFamily="34" charset="-120"/>
              </a:rPr>
              <a:t>Phase 1</a:t>
            </a:r>
            <a:endParaRPr lang="en-US" sz="4200" dirty="0"/>
          </a:p>
        </p:txBody>
      </p:sp>
      <p:sp>
        <p:nvSpPr>
          <p:cNvPr id="7" name="Text 4"/>
          <p:cNvSpPr/>
          <p:nvPr/>
        </p:nvSpPr>
        <p:spPr>
          <a:xfrm>
            <a:off x="749808" y="3090672"/>
            <a:ext cx="8412480" cy="685800"/>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Start with a simple page</a:t>
            </a:r>
            <a:endParaRPr lang="en-US" sz="2400" dirty="0"/>
          </a:p>
        </p:txBody>
      </p:sp>
      <p:sp>
        <p:nvSpPr>
          <p:cNvPr id="8" name="Text 5"/>
          <p:cNvSpPr/>
          <p:nvPr/>
        </p:nvSpPr>
        <p:spPr>
          <a:xfrm>
            <a:off x="749808" y="5440680"/>
            <a:ext cx="5486400" cy="384048"/>
          </a:xfrm>
          <a:prstGeom prst="rect">
            <a:avLst/>
          </a:prstGeom>
          <a:noFill/>
          <a:ln/>
        </p:spPr>
        <p:txBody>
          <a:bodyPr wrap="square" lIns="0" tIns="0" rIns="0" bIns="0" rtlCol="0" anchor="ctr">
            <a:normAutofit/>
          </a:bodyPr>
          <a:lstStyle/>
          <a:p>
            <a:pPr indent="0" marL="0">
              <a:buNone/>
            </a:pPr>
            <a:r>
              <a:rPr lang="en-US" sz="1300" b="1" dirty="0">
                <a:solidFill>
                  <a:srgbClr val="F9C74F"/>
                </a:solidFill>
                <a:latin typeface="Arial" pitchFamily="34" charset="0"/>
                <a:ea typeface="Arial" pitchFamily="34" charset="-122"/>
                <a:cs typeface="Arial" pitchFamily="34" charset="-120"/>
              </a:rPr>
              <a:t>Day 1 · Morning</a:t>
            </a:r>
            <a:endParaRPr lang="en-US" sz="13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Describe what you want. Then look at what came back.</a:t>
            </a:r>
            <a:endParaRPr lang="en-US" sz="3100" dirty="0"/>
          </a:p>
        </p:txBody>
      </p:sp>
      <p:sp>
        <p:nvSpPr>
          <p:cNvPr id="5" name="Text 2"/>
          <p:cNvSpPr/>
          <p:nvPr/>
        </p:nvSpPr>
        <p:spPr>
          <a:xfrm>
            <a:off x="685800" y="1965960"/>
            <a:ext cx="10789920" cy="1691640"/>
          </a:xfrm>
          <a:prstGeom prst="rect">
            <a:avLst/>
          </a:prstGeom>
          <a:noFill/>
          <a:ln/>
        </p:spPr>
        <p:txBody>
          <a:bodyPr wrap="square" lIns="0" tIns="0" rIns="0" bIns="0" rtlCol="0" anchor="ctr">
            <a:normAutofit/>
          </a:bodyPr>
          <a:lstStyle/>
          <a:p>
            <a:pPr algn="ctr" indent="0" marL="0">
              <a:buNone/>
            </a:pPr>
            <a:r>
              <a:rPr lang="en-US" sz="3800" b="1" dirty="0">
                <a:solidFill>
                  <a:srgbClr val="0063A3"/>
                </a:solidFill>
                <a:latin typeface="Arial" pitchFamily="34" charset="0"/>
                <a:ea typeface="Arial" pitchFamily="34" charset="-122"/>
                <a:cs typeface="Arial" pitchFamily="34" charset="-120"/>
              </a:rPr>
              <a:t>Agent can build the first version. It still needs your direction.</a:t>
            </a:r>
            <a:endParaRPr lang="en-US" sz="3800" dirty="0"/>
          </a:p>
        </p:txBody>
      </p:sp>
      <p:sp>
        <p:nvSpPr>
          <p:cNvPr id="6" name="Text 3"/>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Look at the page, choose one thing to improve, and explain the change clearly.</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Keep two things open: Agent and Preview.</a:t>
            </a:r>
            <a:endParaRPr lang="en-US" sz="3100" dirty="0"/>
          </a:p>
        </p:txBody>
      </p:sp>
      <p:sp>
        <p:nvSpPr>
          <p:cNvPr id="5" name="Shape 2"/>
          <p:cNvSpPr/>
          <p:nvPr/>
        </p:nvSpPr>
        <p:spPr>
          <a:xfrm>
            <a:off x="658368" y="1645920"/>
            <a:ext cx="5257800" cy="4251960"/>
          </a:xfrm>
          <a:prstGeom prst="roundRect">
            <a:avLst>
              <a:gd name="adj" fmla="val 1720"/>
            </a:avLst>
          </a:prstGeom>
          <a:solidFill>
            <a:srgbClr val="D9EBF7"/>
          </a:solidFill>
          <a:ln w="12700">
            <a:solidFill>
              <a:srgbClr val="D9EBF7">
                <a:alpha val="0"/>
              </a:srgbClr>
            </a:solidFill>
            <a:prstDash val="solid"/>
          </a:ln>
        </p:spPr>
      </p:sp>
      <p:sp>
        <p:nvSpPr>
          <p:cNvPr id="6" name="Shape 3"/>
          <p:cNvSpPr/>
          <p:nvPr/>
        </p:nvSpPr>
        <p:spPr>
          <a:xfrm>
            <a:off x="6126480" y="1645920"/>
            <a:ext cx="5257800" cy="4251960"/>
          </a:xfrm>
          <a:prstGeom prst="roundRect">
            <a:avLst>
              <a:gd name="adj" fmla="val 1720"/>
            </a:avLst>
          </a:prstGeom>
          <a:solidFill>
            <a:srgbClr val="E8ECEF"/>
          </a:solidFill>
          <a:ln w="12700">
            <a:solidFill>
              <a:srgbClr val="E8ECEF">
                <a:alpha val="0"/>
              </a:srgbClr>
            </a:solidFill>
            <a:prstDash val="solid"/>
          </a:ln>
        </p:spPr>
      </p:sp>
      <p:sp>
        <p:nvSpPr>
          <p:cNvPr id="7" name="Text 4"/>
          <p:cNvSpPr/>
          <p:nvPr/>
        </p:nvSpPr>
        <p:spPr>
          <a:xfrm>
            <a:off x="914400" y="1901952"/>
            <a:ext cx="4709160" cy="384048"/>
          </a:xfrm>
          <a:prstGeom prst="rect">
            <a:avLst/>
          </a:prstGeom>
          <a:noFill/>
          <a:ln/>
        </p:spPr>
        <p:txBody>
          <a:bodyPr wrap="square" lIns="0" tIns="0" rIns="0" bIns="0" rtlCol="0" anchor="ctr">
            <a:normAutofit/>
          </a:bodyPr>
          <a:lstStyle/>
          <a:p>
            <a:pPr indent="0" marL="0">
              <a:buNone/>
            </a:pPr>
            <a:r>
              <a:rPr lang="en-US" sz="2000" b="1" dirty="0">
                <a:solidFill>
                  <a:srgbClr val="2D7A58"/>
                </a:solidFill>
                <a:latin typeface="Arial" pitchFamily="34" charset="0"/>
                <a:ea typeface="Arial" pitchFamily="34" charset="-122"/>
                <a:cs typeface="Arial" pitchFamily="34" charset="-120"/>
              </a:rPr>
              <a:t>Work here</a:t>
            </a:r>
            <a:endParaRPr lang="en-US" sz="2000" dirty="0"/>
          </a:p>
        </p:txBody>
      </p:sp>
      <p:sp>
        <p:nvSpPr>
          <p:cNvPr id="8" name="Text 5"/>
          <p:cNvSpPr/>
          <p:nvPr/>
        </p:nvSpPr>
        <p:spPr>
          <a:xfrm>
            <a:off x="6382512" y="1901952"/>
            <a:ext cx="4709160" cy="384048"/>
          </a:xfrm>
          <a:prstGeom prst="rect">
            <a:avLst/>
          </a:prstGeom>
          <a:noFill/>
          <a:ln/>
        </p:spPr>
        <p:txBody>
          <a:bodyPr wrap="square" lIns="0" tIns="0" rIns="0" bIns="0" rtlCol="0" anchor="ctr">
            <a:normAutofit/>
          </a:bodyPr>
          <a:lstStyle/>
          <a:p>
            <a:pPr indent="0" marL="0">
              <a:buNone/>
            </a:pPr>
            <a:r>
              <a:rPr lang="en-US" sz="2000" b="1" dirty="0">
                <a:solidFill>
                  <a:srgbClr val="53636F"/>
                </a:solidFill>
                <a:latin typeface="Arial" pitchFamily="34" charset="0"/>
                <a:ea typeface="Arial" pitchFamily="34" charset="-122"/>
                <a:cs typeface="Arial" pitchFamily="34" charset="-120"/>
              </a:rPr>
              <a:t>We won’t use</a:t>
            </a:r>
            <a:endParaRPr lang="en-US" sz="2000" dirty="0"/>
          </a:p>
        </p:txBody>
      </p:sp>
      <p:sp>
        <p:nvSpPr>
          <p:cNvPr id="9" name="Text 6"/>
          <p:cNvSpPr/>
          <p:nvPr/>
        </p:nvSpPr>
        <p:spPr>
          <a:xfrm>
            <a:off x="932688" y="248716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0" name="Text 7"/>
          <p:cNvSpPr/>
          <p:nvPr/>
        </p:nvSpPr>
        <p:spPr>
          <a:xfrm>
            <a:off x="1316736" y="246888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Agent window</a:t>
            </a:r>
            <a:endParaRPr lang="en-US" sz="1550" dirty="0"/>
          </a:p>
        </p:txBody>
      </p:sp>
      <p:sp>
        <p:nvSpPr>
          <p:cNvPr id="11" name="Text 8"/>
          <p:cNvSpPr/>
          <p:nvPr/>
        </p:nvSpPr>
        <p:spPr>
          <a:xfrm>
            <a:off x="932688" y="3008376"/>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2" name="Text 9"/>
          <p:cNvSpPr/>
          <p:nvPr/>
        </p:nvSpPr>
        <p:spPr>
          <a:xfrm>
            <a:off x="1316736" y="2990088"/>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Natural-language requests</a:t>
            </a:r>
            <a:endParaRPr lang="en-US" sz="1550" dirty="0"/>
          </a:p>
        </p:txBody>
      </p:sp>
      <p:sp>
        <p:nvSpPr>
          <p:cNvPr id="13" name="Text 10"/>
          <p:cNvSpPr/>
          <p:nvPr/>
        </p:nvSpPr>
        <p:spPr>
          <a:xfrm>
            <a:off x="932688" y="3529584"/>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4" name="Text 11"/>
          <p:cNvSpPr/>
          <p:nvPr/>
        </p:nvSpPr>
        <p:spPr>
          <a:xfrm>
            <a:off x="1316736" y="3511296"/>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Browser preview</a:t>
            </a:r>
            <a:endParaRPr lang="en-US" sz="1550" dirty="0"/>
          </a:p>
        </p:txBody>
      </p:sp>
      <p:sp>
        <p:nvSpPr>
          <p:cNvPr id="15" name="Text 12"/>
          <p:cNvSpPr/>
          <p:nvPr/>
        </p:nvSpPr>
        <p:spPr>
          <a:xfrm>
            <a:off x="932688" y="4050792"/>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6" name="Text 13"/>
          <p:cNvSpPr/>
          <p:nvPr/>
        </p:nvSpPr>
        <p:spPr>
          <a:xfrm>
            <a:off x="1316736" y="4032504"/>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Screenshots and Figma links</a:t>
            </a:r>
            <a:endParaRPr lang="en-US" sz="1550" dirty="0"/>
          </a:p>
        </p:txBody>
      </p:sp>
      <p:sp>
        <p:nvSpPr>
          <p:cNvPr id="17" name="Text 14"/>
          <p:cNvSpPr/>
          <p:nvPr/>
        </p:nvSpPr>
        <p:spPr>
          <a:xfrm>
            <a:off x="932688" y="4572000"/>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8" name="Text 15"/>
          <p:cNvSpPr/>
          <p:nvPr/>
        </p:nvSpPr>
        <p:spPr>
          <a:xfrm>
            <a:off x="1316736" y="4553712"/>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Checkpoints when you want to undo</a:t>
            </a:r>
            <a:endParaRPr lang="en-US" sz="1550" dirty="0"/>
          </a:p>
        </p:txBody>
      </p:sp>
      <p:sp>
        <p:nvSpPr>
          <p:cNvPr id="19" name="Text 16"/>
          <p:cNvSpPr/>
          <p:nvPr/>
        </p:nvSpPr>
        <p:spPr>
          <a:xfrm>
            <a:off x="6400800" y="248716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0" name="Text 17"/>
          <p:cNvSpPr/>
          <p:nvPr/>
        </p:nvSpPr>
        <p:spPr>
          <a:xfrm>
            <a:off x="6784848" y="246888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Cmd+K</a:t>
            </a:r>
            <a:endParaRPr lang="en-US" sz="1550" dirty="0"/>
          </a:p>
        </p:txBody>
      </p:sp>
      <p:sp>
        <p:nvSpPr>
          <p:cNvPr id="21" name="Text 18"/>
          <p:cNvSpPr/>
          <p:nvPr/>
        </p:nvSpPr>
        <p:spPr>
          <a:xfrm>
            <a:off x="6400800" y="3008376"/>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2" name="Text 19"/>
          <p:cNvSpPr/>
          <p:nvPr/>
        </p:nvSpPr>
        <p:spPr>
          <a:xfrm>
            <a:off x="6784848" y="2990088"/>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Reading .tsx files</a:t>
            </a:r>
            <a:endParaRPr lang="en-US" sz="1550" dirty="0"/>
          </a:p>
        </p:txBody>
      </p:sp>
      <p:sp>
        <p:nvSpPr>
          <p:cNvPr id="23" name="Text 20"/>
          <p:cNvSpPr/>
          <p:nvPr/>
        </p:nvSpPr>
        <p:spPr>
          <a:xfrm>
            <a:off x="6400800" y="3529584"/>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4" name="Text 21"/>
          <p:cNvSpPr/>
          <p:nvPr/>
        </p:nvSpPr>
        <p:spPr>
          <a:xfrm>
            <a:off x="6784848" y="3511296"/>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Writing CSS</a:t>
            </a:r>
            <a:endParaRPr lang="en-US" sz="1550" dirty="0"/>
          </a:p>
        </p:txBody>
      </p:sp>
      <p:sp>
        <p:nvSpPr>
          <p:cNvPr id="25" name="Text 22"/>
          <p:cNvSpPr/>
          <p:nvPr/>
        </p:nvSpPr>
        <p:spPr>
          <a:xfrm>
            <a:off x="6400800" y="4050792"/>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6" name="Text 23"/>
          <p:cNvSpPr/>
          <p:nvPr/>
        </p:nvSpPr>
        <p:spPr>
          <a:xfrm>
            <a:off x="6784848" y="4032504"/>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Terminal commands</a:t>
            </a:r>
            <a:endParaRPr lang="en-US" sz="1550" dirty="0"/>
          </a:p>
        </p:txBody>
      </p:sp>
      <p:sp>
        <p:nvSpPr>
          <p:cNvPr id="27" name="Text 24"/>
          <p:cNvSpPr/>
          <p:nvPr/>
        </p:nvSpPr>
        <p:spPr>
          <a:xfrm>
            <a:off x="6400800" y="4572000"/>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53636F"/>
                </a:solidFill>
                <a:latin typeface="Arial" pitchFamily="34" charset="0"/>
                <a:ea typeface="Arial" pitchFamily="34" charset="-122"/>
                <a:cs typeface="Arial" pitchFamily="34" charset="-120"/>
              </a:rPr>
              <a:t>—</a:t>
            </a:r>
            <a:endParaRPr lang="en-US" sz="1300" dirty="0"/>
          </a:p>
        </p:txBody>
      </p:sp>
      <p:sp>
        <p:nvSpPr>
          <p:cNvPr id="28" name="Text 25"/>
          <p:cNvSpPr/>
          <p:nvPr/>
        </p:nvSpPr>
        <p:spPr>
          <a:xfrm>
            <a:off x="6784848" y="4553712"/>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Code review</a:t>
            </a:r>
            <a:endParaRPr lang="en-US" sz="15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First, Agent needs to organize the page.</a:t>
            </a:r>
            <a:endParaRPr lang="en-US" sz="3100" dirty="0"/>
          </a:p>
        </p:txBody>
      </p:sp>
      <p:sp>
        <p:nvSpPr>
          <p:cNvPr id="5" name="Shape 2"/>
          <p:cNvSpPr/>
          <p:nvPr/>
        </p:nvSpPr>
        <p:spPr>
          <a:xfrm>
            <a:off x="1371600" y="1645920"/>
            <a:ext cx="9464040" cy="4114800"/>
          </a:xfrm>
          <a:prstGeom prst="roundRect">
            <a:avLst/>
          </a:prstGeom>
          <a:solidFill>
            <a:srgbClr val="F0F2F4"/>
          </a:solidFill>
          <a:ln w="12700">
            <a:solidFill>
              <a:srgbClr val="AAB5BC"/>
            </a:solidFill>
            <a:prstDash val="solid"/>
          </a:ln>
        </p:spPr>
      </p:sp>
      <p:sp>
        <p:nvSpPr>
          <p:cNvPr id="6" name="Shape 3"/>
          <p:cNvSpPr/>
          <p:nvPr/>
        </p:nvSpPr>
        <p:spPr>
          <a:xfrm>
            <a:off x="1783080" y="2011680"/>
            <a:ext cx="8641080" cy="566928"/>
          </a:xfrm>
          <a:prstGeom prst="roundRect">
            <a:avLst>
              <a:gd name="adj" fmla="val 12903"/>
            </a:avLst>
          </a:prstGeom>
          <a:solidFill>
            <a:srgbClr val="E1E5E8"/>
          </a:solidFill>
          <a:ln w="12700">
            <a:solidFill>
              <a:srgbClr val="E1E5E8">
                <a:alpha val="0"/>
              </a:srgbClr>
            </a:solidFill>
            <a:prstDash val="solid"/>
          </a:ln>
        </p:spPr>
      </p:sp>
      <p:sp>
        <p:nvSpPr>
          <p:cNvPr id="7" name="Shape 4"/>
          <p:cNvSpPr/>
          <p:nvPr/>
        </p:nvSpPr>
        <p:spPr>
          <a:xfrm>
            <a:off x="1783080" y="2880360"/>
            <a:ext cx="1965960" cy="2240280"/>
          </a:xfrm>
          <a:prstGeom prst="roundRect">
            <a:avLst>
              <a:gd name="adj" fmla="val 3721"/>
            </a:avLst>
          </a:prstGeom>
          <a:solidFill>
            <a:srgbClr val="E1E5E8"/>
          </a:solidFill>
          <a:ln w="12700">
            <a:solidFill>
              <a:srgbClr val="E1E5E8">
                <a:alpha val="0"/>
              </a:srgbClr>
            </a:solidFill>
            <a:prstDash val="solid"/>
          </a:ln>
        </p:spPr>
      </p:sp>
      <p:sp>
        <p:nvSpPr>
          <p:cNvPr id="8" name="Shape 5"/>
          <p:cNvSpPr/>
          <p:nvPr/>
        </p:nvSpPr>
        <p:spPr>
          <a:xfrm>
            <a:off x="4023360" y="2880360"/>
            <a:ext cx="6400800" cy="2240280"/>
          </a:xfrm>
          <a:prstGeom prst="roundRect">
            <a:avLst>
              <a:gd name="adj" fmla="val 3265"/>
            </a:avLst>
          </a:prstGeom>
          <a:solidFill>
            <a:srgbClr val="E1E5E8"/>
          </a:solidFill>
          <a:ln w="12700">
            <a:solidFill>
              <a:srgbClr val="E1E5E8">
                <a:alpha val="0"/>
              </a:srgbClr>
            </a:solidFill>
            <a:prstDash val="solid"/>
          </a:ln>
        </p:spPr>
      </p:sp>
      <p:sp>
        <p:nvSpPr>
          <p:cNvPr id="9" name="Text 6"/>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At first, we only need the main areas: a heading, some controls, content, and actions.</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HTML gives each part a purpose.</a:t>
            </a:r>
            <a:endParaRPr lang="en-US" sz="3100" dirty="0"/>
          </a:p>
        </p:txBody>
      </p:sp>
      <p:sp>
        <p:nvSpPr>
          <p:cNvPr id="5" name="Shape 2"/>
          <p:cNvSpPr/>
          <p:nvPr/>
        </p:nvSpPr>
        <p:spPr>
          <a:xfrm>
            <a:off x="1371600" y="1645920"/>
            <a:ext cx="9464040" cy="4114800"/>
          </a:xfrm>
          <a:prstGeom prst="roundRect">
            <a:avLst/>
          </a:prstGeom>
          <a:solidFill>
            <a:srgbClr val="F0F2F4"/>
          </a:solidFill>
          <a:ln w="12700">
            <a:solidFill>
              <a:srgbClr val="AAB5BC"/>
            </a:solidFill>
            <a:prstDash val="solid"/>
          </a:ln>
        </p:spPr>
      </p:sp>
      <p:sp>
        <p:nvSpPr>
          <p:cNvPr id="6" name="Shape 3"/>
          <p:cNvSpPr/>
          <p:nvPr/>
        </p:nvSpPr>
        <p:spPr>
          <a:xfrm>
            <a:off x="1783080" y="2011680"/>
            <a:ext cx="8641080" cy="566928"/>
          </a:xfrm>
          <a:prstGeom prst="roundRect">
            <a:avLst>
              <a:gd name="adj" fmla="val 12903"/>
            </a:avLst>
          </a:prstGeom>
          <a:solidFill>
            <a:srgbClr val="FFFFFF"/>
          </a:solidFill>
          <a:ln w="12700">
            <a:solidFill>
              <a:srgbClr val="FFFFFF">
                <a:alpha val="0"/>
              </a:srgbClr>
            </a:solidFill>
            <a:prstDash val="solid"/>
          </a:ln>
        </p:spPr>
      </p:sp>
      <p:sp>
        <p:nvSpPr>
          <p:cNvPr id="7" name="Text 4"/>
          <p:cNvSpPr/>
          <p:nvPr/>
        </p:nvSpPr>
        <p:spPr>
          <a:xfrm>
            <a:off x="1947672" y="2139696"/>
            <a:ext cx="8311896" cy="310896"/>
          </a:xfrm>
          <a:prstGeom prst="rect">
            <a:avLst/>
          </a:prstGeom>
          <a:noFill/>
          <a:ln/>
        </p:spPr>
        <p:txBody>
          <a:bodyPr wrap="square" lIns="0" tIns="0" rIns="0" bIns="0" rtlCol="0" anchor="ctr">
            <a:normAutofit/>
          </a:bodyPr>
          <a:lstStyle/>
          <a:p>
            <a:pPr algn="l" indent="0" marL="0">
              <a:buNone/>
            </a:pPr>
            <a:r>
              <a:rPr lang="en-US" sz="1400" b="1" dirty="0">
                <a:solidFill>
                  <a:srgbClr val="1B242B"/>
                </a:solidFill>
                <a:latin typeface="Arial" pitchFamily="34" charset="0"/>
                <a:ea typeface="Arial" pitchFamily="34" charset="-122"/>
                <a:cs typeface="Arial" pitchFamily="34" charset="-120"/>
              </a:rPr>
              <a:t>Title region</a:t>
            </a:r>
            <a:endParaRPr lang="en-US" sz="1400" dirty="0"/>
          </a:p>
        </p:txBody>
      </p:sp>
      <p:sp>
        <p:nvSpPr>
          <p:cNvPr id="8" name="Shape 5"/>
          <p:cNvSpPr/>
          <p:nvPr/>
        </p:nvSpPr>
        <p:spPr>
          <a:xfrm>
            <a:off x="1783080" y="2880360"/>
            <a:ext cx="1965960" cy="2240280"/>
          </a:xfrm>
          <a:prstGeom prst="roundRect">
            <a:avLst>
              <a:gd name="adj" fmla="val 3721"/>
            </a:avLst>
          </a:prstGeom>
          <a:solidFill>
            <a:srgbClr val="FFFFFF"/>
          </a:solidFill>
          <a:ln w="12700">
            <a:solidFill>
              <a:srgbClr val="FFFFFF">
                <a:alpha val="0"/>
              </a:srgbClr>
            </a:solidFill>
            <a:prstDash val="solid"/>
          </a:ln>
        </p:spPr>
      </p:sp>
      <p:sp>
        <p:nvSpPr>
          <p:cNvPr id="9" name="Text 6"/>
          <p:cNvSpPr/>
          <p:nvPr/>
        </p:nvSpPr>
        <p:spPr>
          <a:xfrm>
            <a:off x="1947672" y="3008376"/>
            <a:ext cx="1636776"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Controls</a:t>
            </a:r>
            <a:endParaRPr lang="en-US" sz="1400" dirty="0"/>
          </a:p>
        </p:txBody>
      </p:sp>
      <p:sp>
        <p:nvSpPr>
          <p:cNvPr id="10" name="Shape 7"/>
          <p:cNvSpPr/>
          <p:nvPr/>
        </p:nvSpPr>
        <p:spPr>
          <a:xfrm>
            <a:off x="4023360" y="2880360"/>
            <a:ext cx="6400800" cy="2240280"/>
          </a:xfrm>
          <a:prstGeom prst="roundRect">
            <a:avLst>
              <a:gd name="adj" fmla="val 3265"/>
            </a:avLst>
          </a:prstGeom>
          <a:solidFill>
            <a:srgbClr val="FFFFFF"/>
          </a:solidFill>
          <a:ln w="12700">
            <a:solidFill>
              <a:srgbClr val="FFFFFF">
                <a:alpha val="0"/>
              </a:srgbClr>
            </a:solidFill>
            <a:prstDash val="solid"/>
          </a:ln>
        </p:spPr>
      </p:sp>
      <p:sp>
        <p:nvSpPr>
          <p:cNvPr id="11" name="Text 8"/>
          <p:cNvSpPr/>
          <p:nvPr/>
        </p:nvSpPr>
        <p:spPr>
          <a:xfrm>
            <a:off x="4187952" y="3008376"/>
            <a:ext cx="6071616"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Content</a:t>
            </a:r>
            <a:endParaRPr lang="en-US" sz="1400" dirty="0"/>
          </a:p>
        </p:txBody>
      </p:sp>
      <p:sp>
        <p:nvSpPr>
          <p:cNvPr id="12" name="Text 9"/>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It tells the browser which part is a heading, a control, a section of content, or an action.</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Then CSS controls how it looks.</a:t>
            </a:r>
            <a:endParaRPr lang="en-US" sz="3100" dirty="0"/>
          </a:p>
        </p:txBody>
      </p:sp>
      <p:sp>
        <p:nvSpPr>
          <p:cNvPr id="5" name="Shape 2"/>
          <p:cNvSpPr/>
          <p:nvPr/>
        </p:nvSpPr>
        <p:spPr>
          <a:xfrm>
            <a:off x="1371600" y="1645920"/>
            <a:ext cx="9464040" cy="4114800"/>
          </a:xfrm>
          <a:prstGeom prst="roundRect">
            <a:avLst/>
          </a:prstGeom>
          <a:solidFill>
            <a:srgbClr val="FFFFFF"/>
          </a:solidFill>
          <a:ln w="19050">
            <a:solidFill>
              <a:srgbClr val="0063A3"/>
            </a:solidFill>
            <a:prstDash val="solid"/>
          </a:ln>
        </p:spPr>
      </p:sp>
      <p:sp>
        <p:nvSpPr>
          <p:cNvPr id="6" name="Shape 3"/>
          <p:cNvSpPr/>
          <p:nvPr/>
        </p:nvSpPr>
        <p:spPr>
          <a:xfrm>
            <a:off x="1783080" y="2011680"/>
            <a:ext cx="8641080" cy="566928"/>
          </a:xfrm>
          <a:prstGeom prst="roundRect">
            <a:avLst>
              <a:gd name="adj" fmla="val 12903"/>
            </a:avLst>
          </a:prstGeom>
          <a:solidFill>
            <a:srgbClr val="003E63"/>
          </a:solidFill>
          <a:ln w="12700">
            <a:solidFill>
              <a:srgbClr val="003E63">
                <a:alpha val="0"/>
              </a:srgbClr>
            </a:solidFill>
            <a:prstDash val="solid"/>
          </a:ln>
        </p:spPr>
      </p:sp>
      <p:sp>
        <p:nvSpPr>
          <p:cNvPr id="7" name="Text 4"/>
          <p:cNvSpPr/>
          <p:nvPr/>
        </p:nvSpPr>
        <p:spPr>
          <a:xfrm>
            <a:off x="1947672" y="2139696"/>
            <a:ext cx="8311896" cy="310896"/>
          </a:xfrm>
          <a:prstGeom prst="rect">
            <a:avLst/>
          </a:prstGeom>
          <a:noFill/>
          <a:ln/>
        </p:spPr>
        <p:txBody>
          <a:bodyPr wrap="square" lIns="0" tIns="0" rIns="0" bIns="0" rtlCol="0" anchor="ctr">
            <a:normAutofit/>
          </a:bodyPr>
          <a:lstStyle/>
          <a:p>
            <a:pPr algn="l" indent="0" marL="0">
              <a:buNone/>
            </a:pPr>
            <a:r>
              <a:rPr lang="en-US" sz="2200" b="1" dirty="0">
                <a:solidFill>
                  <a:srgbClr val="FFFFFF"/>
                </a:solidFill>
                <a:latin typeface="Arial" pitchFamily="34" charset="0"/>
                <a:ea typeface="Arial" pitchFamily="34" charset="-122"/>
                <a:cs typeface="Arial" pitchFamily="34" charset="-120"/>
              </a:rPr>
              <a:t>Title region</a:t>
            </a:r>
            <a:endParaRPr lang="en-US" sz="2200" dirty="0"/>
          </a:p>
        </p:txBody>
      </p:sp>
      <p:sp>
        <p:nvSpPr>
          <p:cNvPr id="8" name="Shape 5"/>
          <p:cNvSpPr/>
          <p:nvPr/>
        </p:nvSpPr>
        <p:spPr>
          <a:xfrm>
            <a:off x="1783080" y="2880360"/>
            <a:ext cx="1965960" cy="2240280"/>
          </a:xfrm>
          <a:prstGeom prst="roundRect">
            <a:avLst>
              <a:gd name="adj" fmla="val 3721"/>
            </a:avLst>
          </a:prstGeom>
          <a:solidFill>
            <a:srgbClr val="D9EBF7"/>
          </a:solidFill>
          <a:ln w="12700">
            <a:solidFill>
              <a:srgbClr val="D9EBF7">
                <a:alpha val="0"/>
              </a:srgbClr>
            </a:solidFill>
            <a:prstDash val="solid"/>
          </a:ln>
        </p:spPr>
      </p:sp>
      <p:sp>
        <p:nvSpPr>
          <p:cNvPr id="9" name="Text 6"/>
          <p:cNvSpPr/>
          <p:nvPr/>
        </p:nvSpPr>
        <p:spPr>
          <a:xfrm>
            <a:off x="1947672" y="3008376"/>
            <a:ext cx="1636776"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Controls</a:t>
            </a:r>
            <a:endParaRPr lang="en-US" sz="1400" dirty="0"/>
          </a:p>
        </p:txBody>
      </p:sp>
      <p:sp>
        <p:nvSpPr>
          <p:cNvPr id="10" name="Shape 7"/>
          <p:cNvSpPr/>
          <p:nvPr/>
        </p:nvSpPr>
        <p:spPr>
          <a:xfrm>
            <a:off x="4023360" y="2880360"/>
            <a:ext cx="6400800" cy="2240280"/>
          </a:xfrm>
          <a:prstGeom prst="roundRect">
            <a:avLst>
              <a:gd name="adj" fmla="val 3265"/>
            </a:avLst>
          </a:prstGeom>
          <a:solidFill>
            <a:srgbClr val="DDEFE6"/>
          </a:solidFill>
          <a:ln w="12700">
            <a:solidFill>
              <a:srgbClr val="DDEFE6">
                <a:alpha val="0"/>
              </a:srgbClr>
            </a:solidFill>
            <a:prstDash val="solid"/>
          </a:ln>
        </p:spPr>
      </p:sp>
      <p:sp>
        <p:nvSpPr>
          <p:cNvPr id="11" name="Text 8"/>
          <p:cNvSpPr/>
          <p:nvPr/>
        </p:nvSpPr>
        <p:spPr>
          <a:xfrm>
            <a:off x="4187952" y="3008376"/>
            <a:ext cx="6071616"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Content</a:t>
            </a:r>
            <a:endParaRPr lang="en-US" sz="1400" dirty="0"/>
          </a:p>
        </p:txBody>
      </p:sp>
      <p:sp>
        <p:nvSpPr>
          <p:cNvPr id="12" name="Shape 9"/>
          <p:cNvSpPr/>
          <p:nvPr/>
        </p:nvSpPr>
        <p:spPr>
          <a:xfrm>
            <a:off x="4343400" y="3566160"/>
            <a:ext cx="5760720" cy="329184"/>
          </a:xfrm>
          <a:prstGeom prst="roundRect">
            <a:avLst>
              <a:gd name="adj" fmla="val 22222"/>
            </a:avLst>
          </a:prstGeom>
          <a:solidFill>
            <a:srgbClr val="FFFFFF"/>
          </a:solidFill>
          <a:ln w="12700">
            <a:solidFill>
              <a:srgbClr val="FFFFFF">
                <a:alpha val="0"/>
              </a:srgbClr>
            </a:solidFill>
            <a:prstDash val="solid"/>
          </a:ln>
        </p:spPr>
      </p:sp>
      <p:sp>
        <p:nvSpPr>
          <p:cNvPr id="13" name="Shape 10"/>
          <p:cNvSpPr/>
          <p:nvPr/>
        </p:nvSpPr>
        <p:spPr>
          <a:xfrm>
            <a:off x="4343400" y="4114800"/>
            <a:ext cx="3456432" cy="329184"/>
          </a:xfrm>
          <a:prstGeom prst="roundRect">
            <a:avLst>
              <a:gd name="adj" fmla="val 22222"/>
            </a:avLst>
          </a:prstGeom>
          <a:solidFill>
            <a:srgbClr val="FFFFFF"/>
          </a:solidFill>
          <a:ln w="12700">
            <a:solidFill>
              <a:srgbClr val="FFFFFF">
                <a:alpha val="0"/>
              </a:srgbClr>
            </a:solidFill>
            <a:prstDash val="solid"/>
          </a:ln>
        </p:spPr>
      </p:sp>
      <p:sp>
        <p:nvSpPr>
          <p:cNvPr id="14" name="Shape 11"/>
          <p:cNvSpPr/>
          <p:nvPr/>
        </p:nvSpPr>
        <p:spPr>
          <a:xfrm>
            <a:off x="4343400" y="4617720"/>
            <a:ext cx="1325880" cy="384048"/>
          </a:xfrm>
          <a:prstGeom prst="roundRect">
            <a:avLst>
              <a:gd name="adj" fmla="val 19048"/>
            </a:avLst>
          </a:prstGeom>
          <a:solidFill>
            <a:srgbClr val="F9C74F"/>
          </a:solidFill>
          <a:ln w="12700">
            <a:solidFill>
              <a:srgbClr val="F9C74F">
                <a:alpha val="0"/>
              </a:srgbClr>
            </a:solidFill>
            <a:prstDash val="solid"/>
          </a:ln>
        </p:spPr>
      </p:sp>
      <p:sp>
        <p:nvSpPr>
          <p:cNvPr id="15" name="Text 12"/>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Type, spacing, color, scale, and alignment make the same structure easier to understand and use.</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HTML is structure. CSS is presentation.</a:t>
            </a:r>
            <a:endParaRPr lang="en-US" sz="3100" dirty="0"/>
          </a:p>
        </p:txBody>
      </p:sp>
      <p:sp>
        <p:nvSpPr>
          <p:cNvPr id="5" name="Shape 2"/>
          <p:cNvSpPr/>
          <p:nvPr/>
        </p:nvSpPr>
        <p:spPr>
          <a:xfrm>
            <a:off x="658368" y="1600200"/>
            <a:ext cx="5317236"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7647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HTML</a:t>
            </a:r>
            <a:endParaRPr lang="en-US" sz="1700" dirty="0"/>
          </a:p>
        </p:txBody>
      </p:sp>
      <p:sp>
        <p:nvSpPr>
          <p:cNvPr id="7" name="Text 4"/>
          <p:cNvSpPr/>
          <p:nvPr/>
        </p:nvSpPr>
        <p:spPr>
          <a:xfrm>
            <a:off x="859536" y="21122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What is on the page?</a:t>
            </a:r>
            <a:endParaRPr lang="en-US" sz="1250" dirty="0"/>
          </a:p>
        </p:txBody>
      </p:sp>
      <p:sp>
        <p:nvSpPr>
          <p:cNvPr id="8" name="Shape 5"/>
          <p:cNvSpPr/>
          <p:nvPr/>
        </p:nvSpPr>
        <p:spPr>
          <a:xfrm>
            <a:off x="6176772" y="1600200"/>
            <a:ext cx="5317236" cy="1170432"/>
          </a:xfrm>
          <a:prstGeom prst="roundRect">
            <a:avLst>
              <a:gd name="adj" fmla="val 6250"/>
            </a:avLst>
          </a:prstGeom>
          <a:solidFill>
            <a:srgbClr val="FFFFFF"/>
          </a:solidFill>
          <a:ln w="12700">
            <a:solidFill>
              <a:srgbClr val="FFFFFF">
                <a:alpha val="0"/>
              </a:srgbClr>
            </a:solidFill>
            <a:prstDash val="solid"/>
          </a:ln>
        </p:spPr>
      </p:sp>
      <p:sp>
        <p:nvSpPr>
          <p:cNvPr id="9" name="Text 6"/>
          <p:cNvSpPr/>
          <p:nvPr/>
        </p:nvSpPr>
        <p:spPr>
          <a:xfrm>
            <a:off x="6377940" y="17647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CSS</a:t>
            </a:r>
            <a:endParaRPr lang="en-US" sz="1700" dirty="0"/>
          </a:p>
        </p:txBody>
      </p:sp>
      <p:sp>
        <p:nvSpPr>
          <p:cNvPr id="10" name="Text 7"/>
          <p:cNvSpPr/>
          <p:nvPr/>
        </p:nvSpPr>
        <p:spPr>
          <a:xfrm>
            <a:off x="6377940" y="21122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How does it communicate?</a:t>
            </a:r>
            <a:endParaRPr lang="en-US" sz="1250" dirty="0"/>
          </a:p>
        </p:txBody>
      </p:sp>
      <p:sp>
        <p:nvSpPr>
          <p:cNvPr id="11" name="Shape 8"/>
          <p:cNvSpPr/>
          <p:nvPr/>
        </p:nvSpPr>
        <p:spPr>
          <a:xfrm>
            <a:off x="658368" y="2971800"/>
            <a:ext cx="5317236"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1363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You</a:t>
            </a:r>
            <a:endParaRPr lang="en-US" sz="1700" dirty="0"/>
          </a:p>
        </p:txBody>
      </p:sp>
      <p:sp>
        <p:nvSpPr>
          <p:cNvPr id="13" name="Text 10"/>
          <p:cNvSpPr/>
          <p:nvPr/>
        </p:nvSpPr>
        <p:spPr>
          <a:xfrm>
            <a:off x="859536" y="34838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What should the user achieve?</a:t>
            </a:r>
            <a:endParaRPr lang="en-US" sz="1250" dirty="0"/>
          </a:p>
        </p:txBody>
      </p:sp>
      <p:sp>
        <p:nvSpPr>
          <p:cNvPr id="14" name="Shape 11"/>
          <p:cNvSpPr/>
          <p:nvPr/>
        </p:nvSpPr>
        <p:spPr>
          <a:xfrm>
            <a:off x="6176772" y="2971800"/>
            <a:ext cx="5317236" cy="1170432"/>
          </a:xfrm>
          <a:prstGeom prst="roundRect">
            <a:avLst>
              <a:gd name="adj" fmla="val 6250"/>
            </a:avLst>
          </a:prstGeom>
          <a:solidFill>
            <a:srgbClr val="FFFFFF"/>
          </a:solidFill>
          <a:ln w="12700">
            <a:solidFill>
              <a:srgbClr val="FFFFFF">
                <a:alpha val="0"/>
              </a:srgbClr>
            </a:solidFill>
            <a:prstDash val="solid"/>
          </a:ln>
        </p:spPr>
      </p:sp>
      <p:sp>
        <p:nvSpPr>
          <p:cNvPr id="15" name="Text 12"/>
          <p:cNvSpPr/>
          <p:nvPr/>
        </p:nvSpPr>
        <p:spPr>
          <a:xfrm>
            <a:off x="6377940" y="31363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Agent</a:t>
            </a:r>
            <a:endParaRPr lang="en-US" sz="1700" dirty="0"/>
          </a:p>
        </p:txBody>
      </p:sp>
      <p:sp>
        <p:nvSpPr>
          <p:cNvPr id="16" name="Text 13"/>
          <p:cNvSpPr/>
          <p:nvPr/>
        </p:nvSpPr>
        <p:spPr>
          <a:xfrm>
            <a:off x="6377940" y="34838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How is it implemented?</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Your turn: make one small page.</a:t>
            </a:r>
            <a:endParaRPr lang="en-US" sz="3100" dirty="0"/>
          </a:p>
        </p:txBody>
      </p:sp>
      <p:sp>
        <p:nvSpPr>
          <p:cNvPr id="5" name="Shape 2"/>
          <p:cNvSpPr/>
          <p:nvPr/>
        </p:nvSpPr>
        <p:spPr>
          <a:xfrm>
            <a:off x="822960" y="1783080"/>
            <a:ext cx="10561320" cy="3154680"/>
          </a:xfrm>
          <a:prstGeom prst="roundRect">
            <a:avLst>
              <a:gd name="adj" fmla="val 2899"/>
            </a:avLst>
          </a:prstGeom>
          <a:solidFill>
            <a:srgbClr val="FFFFFF"/>
          </a:solidFill>
          <a:ln w="12700">
            <a:solidFill>
              <a:srgbClr val="0063A3"/>
            </a:solidFill>
            <a:prstDash val="solid"/>
          </a:ln>
        </p:spPr>
      </p:sp>
      <p:sp>
        <p:nvSpPr>
          <p:cNvPr id="6" name="Text 3"/>
          <p:cNvSpPr/>
          <p:nvPr/>
        </p:nvSpPr>
        <p:spPr>
          <a:xfrm>
            <a:off x="1143000" y="2084832"/>
            <a:ext cx="2743200" cy="274320"/>
          </a:xfrm>
          <a:prstGeom prst="rect">
            <a:avLst/>
          </a:prstGeom>
          <a:noFill/>
          <a:ln/>
        </p:spPr>
        <p:txBody>
          <a:bodyPr wrap="square" lIns="0" tIns="0" rIns="0" bIns="0" rtlCol="0" anchor="ctr">
            <a:normAutofit/>
          </a:bodyPr>
          <a:lstStyle/>
          <a:p>
            <a:pPr indent="0" marL="0">
              <a:buNone/>
            </a:pPr>
            <a:r>
              <a:rPr lang="en-US" sz="1100" b="1" spc="150" kern="0" dirty="0">
                <a:solidFill>
                  <a:srgbClr val="0063A3"/>
                </a:solidFill>
                <a:latin typeface="Arial" pitchFamily="34" charset="0"/>
                <a:ea typeface="Arial" pitchFamily="34" charset="-122"/>
                <a:cs typeface="Arial" pitchFamily="34" charset="-120"/>
              </a:rPr>
              <a:t>TRY THIS IN AGENT</a:t>
            </a:r>
            <a:endParaRPr lang="en-US" sz="1100" dirty="0"/>
          </a:p>
        </p:txBody>
      </p:sp>
      <p:sp>
        <p:nvSpPr>
          <p:cNvPr id="7" name="Text 4"/>
          <p:cNvSpPr/>
          <p:nvPr/>
        </p:nvSpPr>
        <p:spPr>
          <a:xfrm>
            <a:off x="1143000" y="2651760"/>
            <a:ext cx="9921240" cy="1645920"/>
          </a:xfrm>
          <a:prstGeom prst="rect">
            <a:avLst/>
          </a:prstGeom>
          <a:noFill/>
          <a:ln/>
        </p:spPr>
        <p:txBody>
          <a:bodyPr wrap="square" lIns="0" tIns="0" rIns="0" bIns="0" rtlCol="0" anchor="ctr">
            <a:normAutofit/>
          </a:bodyPr>
          <a:lstStyle/>
          <a:p>
            <a:pPr indent="0" marL="0">
              <a:buNone/>
            </a:pPr>
            <a:r>
              <a:rPr lang="en-US" sz="2100" b="1" dirty="0">
                <a:solidFill>
                  <a:srgbClr val="1B242B"/>
                </a:solidFill>
                <a:latin typeface="Arial" pitchFamily="34" charset="0"/>
                <a:ea typeface="Arial" pitchFamily="34" charset="-122"/>
                <a:cs typeface="Arial" pitchFamily="34" charset="-120"/>
              </a:rPr>
              <a:t>Create a simple front-end page for [who it is for]. They need to [what they are trying to do]. Include only [the few things they need first]. Use HTML and CSS, run it, and show me the page in Preview.</a:t>
            </a:r>
            <a:endParaRPr lang="en-US" sz="2100" dirty="0"/>
          </a:p>
        </p:txBody>
      </p:sp>
      <p:sp>
        <p:nvSpPr>
          <p:cNvPr id="8" name="Text 5"/>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Use a real idea. Keep the first version small enough to finish and discuss.</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Quick check before we move on</a:t>
            </a:r>
            <a:endParaRPr lang="en-US" sz="3100" dirty="0"/>
          </a:p>
        </p:txBody>
      </p:sp>
      <p:sp>
        <p:nvSpPr>
          <p:cNvPr id="5" name="Shape 2"/>
          <p:cNvSpPr/>
          <p:nvPr/>
        </p:nvSpPr>
        <p:spPr>
          <a:xfrm>
            <a:off x="868680" y="1691640"/>
            <a:ext cx="10332720" cy="749808"/>
          </a:xfrm>
          <a:prstGeom prst="roundRect">
            <a:avLst>
              <a:gd name="adj" fmla="val 9756"/>
            </a:avLst>
          </a:prstGeom>
          <a:solidFill>
            <a:srgbClr val="DDEFE6"/>
          </a:solidFill>
          <a:ln w="12700">
            <a:solidFill>
              <a:srgbClr val="DDEFE6">
                <a:alpha val="0"/>
              </a:srgbClr>
            </a:solidFill>
            <a:prstDash val="solid"/>
          </a:ln>
        </p:spPr>
      </p:sp>
      <p:sp>
        <p:nvSpPr>
          <p:cNvPr id="6" name="Text 3"/>
          <p:cNvSpPr/>
          <p:nvPr/>
        </p:nvSpPr>
        <p:spPr>
          <a:xfrm>
            <a:off x="10332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7" name="Text 4"/>
          <p:cNvSpPr/>
          <p:nvPr/>
        </p:nvSpPr>
        <p:spPr>
          <a:xfrm>
            <a:off x="1490472" y="182880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page is open in Preview</a:t>
            </a:r>
            <a:endParaRPr lang="en-US" sz="1450" dirty="0"/>
          </a:p>
        </p:txBody>
      </p:sp>
      <p:sp>
        <p:nvSpPr>
          <p:cNvPr id="8" name="Shape 5"/>
          <p:cNvSpPr/>
          <p:nvPr/>
        </p:nvSpPr>
        <p:spPr>
          <a:xfrm>
            <a:off x="868680" y="2560320"/>
            <a:ext cx="10332720" cy="749808"/>
          </a:xfrm>
          <a:prstGeom prst="roundRect">
            <a:avLst>
              <a:gd name="adj" fmla="val 9756"/>
            </a:avLst>
          </a:prstGeom>
          <a:solidFill>
            <a:srgbClr val="DDEFE6"/>
          </a:solidFill>
          <a:ln w="12700">
            <a:solidFill>
              <a:srgbClr val="DDEFE6">
                <a:alpha val="0"/>
              </a:srgbClr>
            </a:solidFill>
            <a:prstDash val="solid"/>
          </a:ln>
        </p:spPr>
      </p:sp>
      <p:sp>
        <p:nvSpPr>
          <p:cNvPr id="9" name="Text 6"/>
          <p:cNvSpPr/>
          <p:nvPr/>
        </p:nvSpPr>
        <p:spPr>
          <a:xfrm>
            <a:off x="1033272" y="27432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0" name="Text 7"/>
          <p:cNvSpPr/>
          <p:nvPr/>
        </p:nvSpPr>
        <p:spPr>
          <a:xfrm>
            <a:off x="1490472" y="269748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can explain who it is for and what they need to do</a:t>
            </a:r>
            <a:endParaRPr lang="en-US" sz="1450" dirty="0"/>
          </a:p>
        </p:txBody>
      </p:sp>
      <p:sp>
        <p:nvSpPr>
          <p:cNvPr id="11" name="Shape 8"/>
          <p:cNvSpPr/>
          <p:nvPr/>
        </p:nvSpPr>
        <p:spPr>
          <a:xfrm>
            <a:off x="868680" y="3429000"/>
            <a:ext cx="10332720" cy="749808"/>
          </a:xfrm>
          <a:prstGeom prst="roundRect">
            <a:avLst>
              <a:gd name="adj" fmla="val 9756"/>
            </a:avLst>
          </a:prstGeom>
          <a:solidFill>
            <a:srgbClr val="DDEFE6"/>
          </a:solidFill>
          <a:ln w="12700">
            <a:solidFill>
              <a:srgbClr val="DDEFE6">
                <a:alpha val="0"/>
              </a:srgbClr>
            </a:solidFill>
            <a:prstDash val="solid"/>
          </a:ln>
        </p:spPr>
      </p:sp>
      <p:sp>
        <p:nvSpPr>
          <p:cNvPr id="12" name="Text 9"/>
          <p:cNvSpPr/>
          <p:nvPr/>
        </p:nvSpPr>
        <p:spPr>
          <a:xfrm>
            <a:off x="1033272" y="361188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3" name="Text 10"/>
          <p:cNvSpPr/>
          <p:nvPr/>
        </p:nvSpPr>
        <p:spPr>
          <a:xfrm>
            <a:off x="1490472" y="356616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asked Agent for one clear improvement</a:t>
            </a:r>
            <a:endParaRPr lang="en-US" sz="1450" dirty="0"/>
          </a:p>
        </p:txBody>
      </p:sp>
      <p:sp>
        <p:nvSpPr>
          <p:cNvPr id="14" name="Shape 11"/>
          <p:cNvSpPr/>
          <p:nvPr/>
        </p:nvSpPr>
        <p:spPr>
          <a:xfrm>
            <a:off x="868680" y="4297680"/>
            <a:ext cx="10332720" cy="749808"/>
          </a:xfrm>
          <a:prstGeom prst="roundRect">
            <a:avLst>
              <a:gd name="adj" fmla="val 9756"/>
            </a:avLst>
          </a:prstGeom>
          <a:solidFill>
            <a:srgbClr val="DDEFE6"/>
          </a:solidFill>
          <a:ln w="12700">
            <a:solidFill>
              <a:srgbClr val="DDEFE6">
                <a:alpha val="0"/>
              </a:srgbClr>
            </a:solidFill>
            <a:prstDash val="solid"/>
          </a:ln>
        </p:spPr>
      </p:sp>
      <p:sp>
        <p:nvSpPr>
          <p:cNvPr id="15" name="Text 12"/>
          <p:cNvSpPr/>
          <p:nvPr/>
        </p:nvSpPr>
        <p:spPr>
          <a:xfrm>
            <a:off x="1033272" y="44805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6" name="Text 13"/>
          <p:cNvSpPr/>
          <p:nvPr/>
        </p:nvSpPr>
        <p:spPr>
          <a:xfrm>
            <a:off x="1490472" y="443484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know how to return to a Checkpoint</a:t>
            </a:r>
            <a:endParaRPr lang="en-US" sz="1450" dirty="0"/>
          </a:p>
        </p:txBody>
      </p:sp>
      <p:sp>
        <p:nvSpPr>
          <p:cNvPr id="17" name="Text 14"/>
          <p:cNvSpPr/>
          <p:nvPr/>
        </p:nvSpPr>
        <p:spPr>
          <a:xfrm>
            <a:off x="868680" y="5806440"/>
            <a:ext cx="10332720" cy="384048"/>
          </a:xfrm>
          <a:prstGeom prst="rect">
            <a:avLst/>
          </a:prstGeom>
          <a:noFill/>
          <a:ln/>
        </p:spPr>
        <p:txBody>
          <a:bodyPr wrap="square" lIns="0" tIns="0" rIns="0" bIns="0" rtlCol="0" anchor="ctr">
            <a:normAutofit/>
          </a:bodyPr>
          <a:lstStyle/>
          <a:p>
            <a:pPr algn="ctr" indent="0" marL="0">
              <a:buNone/>
            </a:pPr>
            <a:r>
              <a:rPr lang="en-US" sz="1400" b="1" dirty="0">
                <a:solidFill>
                  <a:srgbClr val="2D7A58"/>
                </a:solidFill>
                <a:latin typeface="Arial" pitchFamily="34" charset="0"/>
                <a:ea typeface="Arial" pitchFamily="34" charset="-122"/>
                <a:cs typeface="Arial" pitchFamily="34" charset="-120"/>
              </a:rPr>
              <a:t>Ready · Ready with a little help · Let’s fix this together</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63A3"/>
                </a:solidFill>
                <a:latin typeface="Arial" pitchFamily="34" charset="0"/>
                <a:ea typeface="Arial" pitchFamily="34" charset="-122"/>
                <a:cs typeface="Arial" pitchFamily="34" charset="-120"/>
              </a:rPr>
              <a:t>PHASE 1</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Questions before we add interaction?</a:t>
            </a:r>
            <a:endParaRPr lang="en-US" sz="3100" dirty="0"/>
          </a:p>
        </p:txBody>
      </p:sp>
      <p:sp>
        <p:nvSpPr>
          <p:cNvPr id="5" name="Shape 2"/>
          <p:cNvSpPr/>
          <p:nvPr/>
        </p:nvSpPr>
        <p:spPr>
          <a:xfrm>
            <a:off x="658368"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Blocked</a:t>
            </a:r>
            <a:endParaRPr lang="en-US" sz="1800" dirty="0"/>
          </a:p>
        </p:txBody>
      </p:sp>
      <p:sp>
        <p:nvSpPr>
          <p:cNvPr id="7" name="Shape 4"/>
          <p:cNvSpPr/>
          <p:nvPr/>
        </p:nvSpPr>
        <p:spPr>
          <a:xfrm>
            <a:off x="4337304"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4538472"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Concept</a:t>
            </a:r>
            <a:endParaRPr lang="en-US" sz="1800" dirty="0"/>
          </a:p>
        </p:txBody>
      </p:sp>
      <p:sp>
        <p:nvSpPr>
          <p:cNvPr id="9" name="Shape 6"/>
          <p:cNvSpPr/>
          <p:nvPr/>
        </p:nvSpPr>
        <p:spPr>
          <a:xfrm>
            <a:off x="8016240"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217408"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Quality</a:t>
            </a:r>
            <a:endParaRPr lang="en-US" sz="1800" dirty="0"/>
          </a:p>
        </p:txBody>
      </p:sp>
      <p:sp>
        <p:nvSpPr>
          <p:cNvPr id="11" name="Shape 8"/>
          <p:cNvSpPr/>
          <p:nvPr/>
        </p:nvSpPr>
        <p:spPr>
          <a:xfrm>
            <a:off x="658368" y="310896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2735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Safety</a:t>
            </a:r>
            <a:endParaRPr lang="en-US" sz="1800" dirty="0"/>
          </a:p>
        </p:txBody>
      </p:sp>
      <p:sp>
        <p:nvSpPr>
          <p:cNvPr id="13" name="Shape 10"/>
          <p:cNvSpPr/>
          <p:nvPr/>
        </p:nvSpPr>
        <p:spPr>
          <a:xfrm>
            <a:off x="4337304" y="3108960"/>
            <a:ext cx="3477768"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4538472" y="32735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Parking lot</a:t>
            </a:r>
            <a:endParaRPr lang="en-US" sz="1800" dirty="0"/>
          </a:p>
        </p:txBody>
      </p:sp>
      <p:sp>
        <p:nvSpPr>
          <p:cNvPr id="15" name="Text 12"/>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If several people hit the same issue, show one short fix to the whole room.</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7252A3"/>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7252A3"/>
          </a:solidFill>
          <a:ln w="12700">
            <a:solidFill>
              <a:srgbClr val="333333">
                <a:alpha val="0"/>
              </a:srgbClr>
            </a:solidFill>
            <a:prstDash val="solid"/>
          </a:ln>
        </p:spPr>
      </p:sp>
      <p:sp>
        <p:nvSpPr>
          <p:cNvPr id="4" name="Shape 1"/>
          <p:cNvSpPr/>
          <p:nvPr/>
        </p:nvSpPr>
        <p:spPr>
          <a:xfrm rot="1800000">
            <a:off x="7772400" y="-914400"/>
            <a:ext cx="5212080" cy="5212080"/>
          </a:xfrm>
          <a:prstGeom prst="arc">
            <a:avLst/>
          </a:prstGeom>
          <a:solidFill>
            <a:srgbClr val="F9C74F">
              <a:alpha val="98000"/>
            </a:srgbClr>
          </a:solidFill>
          <a:ln w="12700">
            <a:solidFill>
              <a:srgbClr val="333333">
                <a:alpha val="0"/>
              </a:srgbClr>
            </a:solidFill>
            <a:prstDash val="solid"/>
          </a:ln>
        </p:spPr>
      </p:sp>
      <p:sp>
        <p:nvSpPr>
          <p:cNvPr id="5" name="Text 2"/>
          <p:cNvSpPr/>
          <p:nvPr/>
        </p:nvSpPr>
        <p:spPr>
          <a:xfrm>
            <a:off x="731520" y="658368"/>
            <a:ext cx="2743200" cy="274320"/>
          </a:xfrm>
          <a:prstGeom prst="rect">
            <a:avLst/>
          </a:prstGeom>
          <a:noFill/>
          <a:ln/>
        </p:spPr>
        <p:txBody>
          <a:bodyPr wrap="square" lIns="0" tIns="0" rIns="0" bIns="0" rtlCol="0" anchor="ctr">
            <a:normAutofit/>
          </a:bodyPr>
          <a:lstStyle/>
          <a:p>
            <a:pPr indent="0" marL="0">
              <a:buNone/>
            </a:pPr>
            <a:r>
              <a:rPr lang="en-US" sz="1100" b="1" spc="200" kern="0" dirty="0">
                <a:solidFill>
                  <a:srgbClr val="F9C74F"/>
                </a:solidFill>
                <a:latin typeface="Arial" pitchFamily="34" charset="0"/>
                <a:ea typeface="Arial" pitchFamily="34" charset="-122"/>
                <a:cs typeface="Arial" pitchFamily="34" charset="-120"/>
              </a:rPr>
              <a:t>PHASE 2</a:t>
            </a:r>
            <a:endParaRPr lang="en-US" sz="1100" dirty="0"/>
          </a:p>
        </p:txBody>
      </p:sp>
      <p:sp>
        <p:nvSpPr>
          <p:cNvPr id="6" name="Text 3"/>
          <p:cNvSpPr/>
          <p:nvPr/>
        </p:nvSpPr>
        <p:spPr>
          <a:xfrm>
            <a:off x="731520" y="1828800"/>
            <a:ext cx="8961120" cy="1005840"/>
          </a:xfrm>
          <a:prstGeom prst="rect">
            <a:avLst/>
          </a:prstGeom>
          <a:noFill/>
          <a:ln/>
        </p:spPr>
        <p:txBody>
          <a:bodyPr wrap="square" lIns="0" tIns="0" rIns="0" bIns="0" rtlCol="0" anchor="t">
            <a:normAutofit/>
          </a:bodyPr>
          <a:lstStyle/>
          <a:p>
            <a:pPr indent="0" marL="0">
              <a:buNone/>
            </a:pPr>
            <a:r>
              <a:rPr lang="en-US" sz="4200" b="1" dirty="0">
                <a:solidFill>
                  <a:srgbClr val="FFFFFF"/>
                </a:solidFill>
                <a:latin typeface="Arial" pitchFamily="34" charset="0"/>
                <a:ea typeface="Arial" pitchFamily="34" charset="-122"/>
                <a:cs typeface="Arial" pitchFamily="34" charset="-120"/>
              </a:rPr>
              <a:t>Phase 2</a:t>
            </a:r>
            <a:endParaRPr lang="en-US" sz="4200" dirty="0"/>
          </a:p>
        </p:txBody>
      </p:sp>
      <p:sp>
        <p:nvSpPr>
          <p:cNvPr id="7" name="Text 4"/>
          <p:cNvSpPr/>
          <p:nvPr/>
        </p:nvSpPr>
        <p:spPr>
          <a:xfrm>
            <a:off x="749808" y="3090672"/>
            <a:ext cx="8412480" cy="685800"/>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From a page to something people can use</a:t>
            </a:r>
            <a:endParaRPr lang="en-US" sz="2400" dirty="0"/>
          </a:p>
        </p:txBody>
      </p:sp>
      <p:sp>
        <p:nvSpPr>
          <p:cNvPr id="8" name="Text 5"/>
          <p:cNvSpPr/>
          <p:nvPr/>
        </p:nvSpPr>
        <p:spPr>
          <a:xfrm>
            <a:off x="749808" y="5440680"/>
            <a:ext cx="5486400" cy="384048"/>
          </a:xfrm>
          <a:prstGeom prst="rect">
            <a:avLst/>
          </a:prstGeom>
          <a:noFill/>
          <a:ln/>
        </p:spPr>
        <p:txBody>
          <a:bodyPr wrap="square" lIns="0" tIns="0" rIns="0" bIns="0" rtlCol="0" anchor="ctr">
            <a:normAutofit/>
          </a:bodyPr>
          <a:lstStyle/>
          <a:p>
            <a:pPr indent="0" marL="0">
              <a:buNone/>
            </a:pPr>
            <a:r>
              <a:rPr lang="en-US" sz="1300" b="1" dirty="0">
                <a:solidFill>
                  <a:srgbClr val="F9C74F"/>
                </a:solidFill>
                <a:latin typeface="Arial" pitchFamily="34" charset="0"/>
                <a:ea typeface="Arial" pitchFamily="34" charset="-122"/>
                <a:cs typeface="Arial" pitchFamily="34" charset="-120"/>
              </a:rPr>
              <a:t>Day 1 · Midday</a:t>
            </a:r>
            <a:endParaRPr lang="en-US" sz="13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A screenshot shows one moment. A product changes.</a:t>
            </a:r>
            <a:endParaRPr lang="en-US" sz="3100" dirty="0"/>
          </a:p>
        </p:txBody>
      </p:sp>
      <p:sp>
        <p:nvSpPr>
          <p:cNvPr id="5" name="Shape 2"/>
          <p:cNvSpPr/>
          <p:nvPr/>
        </p:nvSpPr>
        <p:spPr>
          <a:xfrm>
            <a:off x="658368" y="1600200"/>
            <a:ext cx="10835640"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7647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Static page</a:t>
            </a:r>
            <a:endParaRPr lang="en-US" sz="1700" dirty="0"/>
          </a:p>
        </p:txBody>
      </p:sp>
      <p:sp>
        <p:nvSpPr>
          <p:cNvPr id="7" name="Text 4"/>
          <p:cNvSpPr/>
          <p:nvPr/>
        </p:nvSpPr>
        <p:spPr>
          <a:xfrm>
            <a:off x="859536" y="2112264"/>
            <a:ext cx="10433304"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One visual moment</a:t>
            </a:r>
            <a:endParaRPr lang="en-US" sz="1250" dirty="0"/>
          </a:p>
        </p:txBody>
      </p:sp>
      <p:sp>
        <p:nvSpPr>
          <p:cNvPr id="8" name="Shape 5"/>
          <p:cNvSpPr/>
          <p:nvPr/>
        </p:nvSpPr>
        <p:spPr>
          <a:xfrm>
            <a:off x="658368" y="2971800"/>
            <a:ext cx="10835640" cy="1170432"/>
          </a:xfrm>
          <a:prstGeom prst="roundRect">
            <a:avLst>
              <a:gd name="adj" fmla="val 6250"/>
            </a:avLst>
          </a:prstGeom>
          <a:solidFill>
            <a:srgbClr val="FFFFFF"/>
          </a:solidFill>
          <a:ln w="12700">
            <a:solidFill>
              <a:srgbClr val="FFFFFF">
                <a:alpha val="0"/>
              </a:srgbClr>
            </a:solidFill>
            <a:prstDash val="solid"/>
          </a:ln>
        </p:spPr>
      </p:sp>
      <p:sp>
        <p:nvSpPr>
          <p:cNvPr id="9" name="Text 6"/>
          <p:cNvSpPr/>
          <p:nvPr/>
        </p:nvSpPr>
        <p:spPr>
          <a:xfrm>
            <a:off x="859536" y="31363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Second static page</a:t>
            </a:r>
            <a:endParaRPr lang="en-US" sz="1700" dirty="0"/>
          </a:p>
        </p:txBody>
      </p:sp>
      <p:sp>
        <p:nvSpPr>
          <p:cNvPr id="10" name="Text 7"/>
          <p:cNvSpPr/>
          <p:nvPr/>
        </p:nvSpPr>
        <p:spPr>
          <a:xfrm>
            <a:off x="859536" y="3483864"/>
            <a:ext cx="10433304"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Another visual moment</a:t>
            </a:r>
            <a:endParaRPr lang="en-US" sz="1250" dirty="0"/>
          </a:p>
        </p:txBody>
      </p:sp>
      <p:sp>
        <p:nvSpPr>
          <p:cNvPr id="11" name="Shape 8"/>
          <p:cNvSpPr/>
          <p:nvPr/>
        </p:nvSpPr>
        <p:spPr>
          <a:xfrm>
            <a:off x="658368" y="4343400"/>
            <a:ext cx="10835640"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45079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Interactive product</a:t>
            </a:r>
            <a:endParaRPr lang="en-US" sz="1700" dirty="0"/>
          </a:p>
        </p:txBody>
      </p:sp>
      <p:sp>
        <p:nvSpPr>
          <p:cNvPr id="13" name="Text 10"/>
          <p:cNvSpPr/>
          <p:nvPr/>
        </p:nvSpPr>
        <p:spPr>
          <a:xfrm>
            <a:off x="859536" y="4855464"/>
            <a:ext cx="10433304"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One interface that changes</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Why do we need a framework?</a:t>
            </a:r>
            <a:endParaRPr lang="en-US" sz="3100" dirty="0"/>
          </a:p>
        </p:txBody>
      </p:sp>
      <p:sp>
        <p:nvSpPr>
          <p:cNvPr id="5" name="Text 2"/>
          <p:cNvSpPr/>
          <p:nvPr/>
        </p:nvSpPr>
        <p:spPr>
          <a:xfrm>
            <a:off x="685800" y="1965960"/>
            <a:ext cx="10789920" cy="1691640"/>
          </a:xfrm>
          <a:prstGeom prst="rect">
            <a:avLst/>
          </a:prstGeom>
          <a:noFill/>
          <a:ln/>
        </p:spPr>
        <p:txBody>
          <a:bodyPr wrap="square" lIns="0" tIns="0" rIns="0" bIns="0" rtlCol="0" anchor="ctr">
            <a:normAutofit/>
          </a:bodyPr>
          <a:lstStyle/>
          <a:p>
            <a:pPr algn="ctr" indent="0" marL="0">
              <a:buNone/>
            </a:pPr>
            <a:r>
              <a:rPr lang="en-US" sz="3800" b="1" dirty="0">
                <a:solidFill>
                  <a:srgbClr val="7252A3"/>
                </a:solidFill>
                <a:latin typeface="Arial" pitchFamily="34" charset="0"/>
                <a:ea typeface="Arial" pitchFamily="34" charset="-122"/>
                <a:cs typeface="Arial" pitchFamily="34" charset="-120"/>
              </a:rPr>
              <a:t>It helps Agent build parts we can reuse and an interface that can change.</a:t>
            </a:r>
            <a:endParaRPr lang="en-US" sz="3800" dirty="0"/>
          </a:p>
        </p:txBody>
      </p:sp>
      <p:sp>
        <p:nvSpPr>
          <p:cNvPr id="6" name="Text 3"/>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That is what lets a page respond to clicks, selections, loading, errors, and new information.</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Why we’ll use React in this workshop</a:t>
            </a:r>
            <a:endParaRPr lang="en-US" sz="3100" dirty="0"/>
          </a:p>
        </p:txBody>
      </p:sp>
      <p:sp>
        <p:nvSpPr>
          <p:cNvPr id="5" name="Shape 2"/>
          <p:cNvSpPr/>
          <p:nvPr/>
        </p:nvSpPr>
        <p:spPr>
          <a:xfrm>
            <a:off x="658368" y="1600200"/>
            <a:ext cx="10835640"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7647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React</a:t>
            </a:r>
            <a:endParaRPr lang="en-US" sz="1700" dirty="0"/>
          </a:p>
        </p:txBody>
      </p:sp>
      <p:sp>
        <p:nvSpPr>
          <p:cNvPr id="7" name="Text 4"/>
          <p:cNvSpPr/>
          <p:nvPr/>
        </p:nvSpPr>
        <p:spPr>
          <a:xfrm>
            <a:off x="859536" y="2112264"/>
            <a:ext cx="10433304"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Common Agent output with strong Modus support</a:t>
            </a:r>
            <a:endParaRPr lang="en-US" sz="1250" dirty="0"/>
          </a:p>
        </p:txBody>
      </p:sp>
      <p:sp>
        <p:nvSpPr>
          <p:cNvPr id="8" name="Shape 5"/>
          <p:cNvSpPr/>
          <p:nvPr/>
        </p:nvSpPr>
        <p:spPr>
          <a:xfrm>
            <a:off x="658368" y="2971800"/>
            <a:ext cx="10835640" cy="1170432"/>
          </a:xfrm>
          <a:prstGeom prst="roundRect">
            <a:avLst>
              <a:gd name="adj" fmla="val 6250"/>
            </a:avLst>
          </a:prstGeom>
          <a:solidFill>
            <a:srgbClr val="FFFFFF"/>
          </a:solidFill>
          <a:ln w="12700">
            <a:solidFill>
              <a:srgbClr val="FFFFFF">
                <a:alpha val="0"/>
              </a:srgbClr>
            </a:solidFill>
            <a:prstDash val="solid"/>
          </a:ln>
        </p:spPr>
      </p:sp>
      <p:sp>
        <p:nvSpPr>
          <p:cNvPr id="9" name="Text 6"/>
          <p:cNvSpPr/>
          <p:nvPr/>
        </p:nvSpPr>
        <p:spPr>
          <a:xfrm>
            <a:off x="859536" y="31363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Angular</a:t>
            </a:r>
            <a:endParaRPr lang="en-US" sz="1700" dirty="0"/>
          </a:p>
        </p:txBody>
      </p:sp>
      <p:sp>
        <p:nvSpPr>
          <p:cNvPr id="10" name="Text 7"/>
          <p:cNvSpPr/>
          <p:nvPr/>
        </p:nvSpPr>
        <p:spPr>
          <a:xfrm>
            <a:off x="859536" y="3483864"/>
            <a:ext cx="10433304"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Used by many structured enterprise applications</a:t>
            </a:r>
            <a:endParaRPr lang="en-US" sz="1250" dirty="0"/>
          </a:p>
        </p:txBody>
      </p:sp>
      <p:sp>
        <p:nvSpPr>
          <p:cNvPr id="11" name="Shape 8"/>
          <p:cNvSpPr/>
          <p:nvPr/>
        </p:nvSpPr>
        <p:spPr>
          <a:xfrm>
            <a:off x="658368" y="4343400"/>
            <a:ext cx="10835640"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45079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Vue</a:t>
            </a:r>
            <a:endParaRPr lang="en-US" sz="1700" dirty="0"/>
          </a:p>
        </p:txBody>
      </p:sp>
      <p:sp>
        <p:nvSpPr>
          <p:cNvPr id="13" name="Text 10"/>
          <p:cNvSpPr/>
          <p:nvPr/>
        </p:nvSpPr>
        <p:spPr>
          <a:xfrm>
            <a:off x="859536" y="4855464"/>
            <a:ext cx="10433304"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Another popular way to build interactive interfaces</a:t>
            </a:r>
            <a:endParaRPr lang="en-US" sz="1250" dirty="0"/>
          </a:p>
        </p:txBody>
      </p:sp>
      <p:sp>
        <p:nvSpPr>
          <p:cNvPr id="14" name="Text 11"/>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React is not the only option. We are choosing one setup so everyone can follow the same steps.</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What does the interface need to remember?</a:t>
            </a:r>
            <a:endParaRPr lang="en-US" sz="3100" dirty="0"/>
          </a:p>
        </p:txBody>
      </p:sp>
      <p:sp>
        <p:nvSpPr>
          <p:cNvPr id="5" name="Shape 2"/>
          <p:cNvSpPr/>
          <p:nvPr/>
        </p:nvSpPr>
        <p:spPr>
          <a:xfrm>
            <a:off x="914400" y="1783080"/>
            <a:ext cx="10332720" cy="4023360"/>
          </a:xfrm>
          <a:prstGeom prst="roundRect">
            <a:avLst>
              <a:gd name="adj" fmla="val 2273"/>
            </a:avLst>
          </a:prstGeom>
          <a:solidFill>
            <a:srgbClr val="FFFFFF"/>
          </a:solidFill>
          <a:ln w="12700">
            <a:solidFill>
              <a:srgbClr val="E8ECEF"/>
            </a:solidFill>
            <a:prstDash val="solid"/>
          </a:ln>
        </p:spPr>
      </p:sp>
      <p:sp>
        <p:nvSpPr>
          <p:cNvPr id="6" name="Shape 3"/>
          <p:cNvSpPr/>
          <p:nvPr/>
        </p:nvSpPr>
        <p:spPr>
          <a:xfrm>
            <a:off x="1234440" y="2148840"/>
            <a:ext cx="2834640" cy="3246120"/>
          </a:xfrm>
          <a:prstGeom prst="roundRect">
            <a:avLst>
              <a:gd name="adj" fmla="val 2581"/>
            </a:avLst>
          </a:prstGeom>
          <a:solidFill>
            <a:srgbClr val="D9EBF7"/>
          </a:solidFill>
          <a:ln w="12700">
            <a:solidFill>
              <a:srgbClr val="D9EBF7">
                <a:alpha val="0"/>
              </a:srgbClr>
            </a:solidFill>
            <a:prstDash val="solid"/>
          </a:ln>
        </p:spPr>
      </p:sp>
      <p:sp>
        <p:nvSpPr>
          <p:cNvPr id="7" name="Text 4"/>
          <p:cNvSpPr/>
          <p:nvPr/>
        </p:nvSpPr>
        <p:spPr>
          <a:xfrm>
            <a:off x="1417320" y="2514600"/>
            <a:ext cx="2468880" cy="365760"/>
          </a:xfrm>
          <a:prstGeom prst="rect">
            <a:avLst/>
          </a:prstGeom>
          <a:noFill/>
          <a:ln/>
        </p:spPr>
        <p:txBody>
          <a:bodyPr wrap="square" lIns="0" tIns="0" rIns="0" bIns="0" rtlCol="0" anchor="ctr">
            <a:normAutofit/>
          </a:bodyPr>
          <a:lstStyle/>
          <a:p>
            <a:pPr algn="ctr" indent="0" marL="0">
              <a:buNone/>
            </a:pPr>
            <a:r>
              <a:rPr lang="en-US" sz="1700" b="1" dirty="0">
                <a:solidFill>
                  <a:srgbClr val="1B242B"/>
                </a:solidFill>
                <a:latin typeface="Arial" pitchFamily="34" charset="0"/>
                <a:ea typeface="Arial" pitchFamily="34" charset="-122"/>
                <a:cs typeface="Arial" pitchFamily="34" charset="-120"/>
              </a:rPr>
              <a:t>What the page remembers</a:t>
            </a:r>
            <a:endParaRPr lang="en-US" sz="1700" dirty="0"/>
          </a:p>
        </p:txBody>
      </p:sp>
      <p:sp>
        <p:nvSpPr>
          <p:cNvPr id="8" name="Text 5"/>
          <p:cNvSpPr/>
          <p:nvPr/>
        </p:nvSpPr>
        <p:spPr>
          <a:xfrm>
            <a:off x="1508760" y="3127248"/>
            <a:ext cx="2286000" cy="457200"/>
          </a:xfrm>
          <a:prstGeom prst="rect">
            <a:avLst/>
          </a:prstGeom>
          <a:noFill/>
          <a:ln/>
        </p:spPr>
        <p:txBody>
          <a:bodyPr wrap="square" lIns="0" tIns="0" rIns="0" bIns="0" rtlCol="0" anchor="ctr">
            <a:normAutofit/>
          </a:bodyPr>
          <a:lstStyle/>
          <a:p>
            <a:pPr algn="ctr" indent="0" marL="0">
              <a:buNone/>
            </a:pPr>
            <a:r>
              <a:rPr lang="en-US" sz="2100" b="1" dirty="0">
                <a:solidFill>
                  <a:srgbClr val="53636F"/>
                </a:solidFill>
                <a:latin typeface="Arial" pitchFamily="34" charset="0"/>
                <a:ea typeface="Arial" pitchFamily="34" charset="-122"/>
                <a:cs typeface="Arial" pitchFamily="34" charset="-120"/>
              </a:rPr>
              <a:t>open: false</a:t>
            </a:r>
            <a:endParaRPr lang="en-US" sz="2100" dirty="0"/>
          </a:p>
        </p:txBody>
      </p:sp>
      <p:sp>
        <p:nvSpPr>
          <p:cNvPr id="9" name="Shape 6"/>
          <p:cNvSpPr/>
          <p:nvPr/>
        </p:nvSpPr>
        <p:spPr>
          <a:xfrm>
            <a:off x="1664208" y="4041648"/>
            <a:ext cx="1965960" cy="594360"/>
          </a:xfrm>
          <a:prstGeom prst="roundRect">
            <a:avLst>
              <a:gd name="adj" fmla="val 12308"/>
            </a:avLst>
          </a:prstGeom>
          <a:solidFill>
            <a:srgbClr val="F9C74F"/>
          </a:solidFill>
          <a:ln w="12700">
            <a:solidFill>
              <a:srgbClr val="F9C74F">
                <a:alpha val="0"/>
              </a:srgbClr>
            </a:solidFill>
            <a:prstDash val="solid"/>
          </a:ln>
        </p:spPr>
      </p:sp>
      <p:sp>
        <p:nvSpPr>
          <p:cNvPr id="10" name="Text 7"/>
          <p:cNvSpPr/>
          <p:nvPr/>
        </p:nvSpPr>
        <p:spPr>
          <a:xfrm>
            <a:off x="1764792" y="4151376"/>
            <a:ext cx="1764792" cy="320040"/>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User clicks</a:t>
            </a:r>
            <a:endParaRPr lang="en-US" sz="1400" dirty="0"/>
          </a:p>
        </p:txBody>
      </p:sp>
      <p:sp>
        <p:nvSpPr>
          <p:cNvPr id="11" name="Text 8"/>
          <p:cNvSpPr/>
          <p:nvPr/>
        </p:nvSpPr>
        <p:spPr>
          <a:xfrm>
            <a:off x="4315968" y="3246120"/>
            <a:ext cx="548640" cy="548640"/>
          </a:xfrm>
          <a:prstGeom prst="rect">
            <a:avLst/>
          </a:prstGeom>
          <a:noFill/>
          <a:ln/>
        </p:spPr>
        <p:txBody>
          <a:bodyPr wrap="square" lIns="0" tIns="0" rIns="0" bIns="0" rtlCol="0" anchor="ctr">
            <a:normAutofit/>
          </a:bodyPr>
          <a:lstStyle/>
          <a:p>
            <a:pPr algn="ctr" indent="0" marL="0">
              <a:buNone/>
            </a:pPr>
            <a:r>
              <a:rPr lang="en-US" sz="3000" b="1" dirty="0">
                <a:solidFill>
                  <a:srgbClr val="F47F20"/>
                </a:solidFill>
                <a:latin typeface="Arial" pitchFamily="34" charset="0"/>
                <a:ea typeface="Arial" pitchFamily="34" charset="-122"/>
                <a:cs typeface="Arial" pitchFamily="34" charset="-120"/>
              </a:rPr>
              <a:t>→</a:t>
            </a:r>
            <a:endParaRPr lang="en-US" sz="3000" dirty="0"/>
          </a:p>
        </p:txBody>
      </p:sp>
      <p:sp>
        <p:nvSpPr>
          <p:cNvPr id="12" name="Shape 9"/>
          <p:cNvSpPr/>
          <p:nvPr/>
        </p:nvSpPr>
        <p:spPr>
          <a:xfrm>
            <a:off x="4983480" y="2148840"/>
            <a:ext cx="5669280" cy="3246120"/>
          </a:xfrm>
          <a:prstGeom prst="roundRect">
            <a:avLst>
              <a:gd name="adj" fmla="val 2817"/>
            </a:avLst>
          </a:prstGeom>
          <a:solidFill>
            <a:srgbClr val="F8F9FA"/>
          </a:solidFill>
          <a:ln w="12700">
            <a:solidFill>
              <a:srgbClr val="E8ECEF"/>
            </a:solidFill>
            <a:prstDash val="solid"/>
          </a:ln>
        </p:spPr>
      </p:sp>
      <p:sp>
        <p:nvSpPr>
          <p:cNvPr id="13" name="Text 10"/>
          <p:cNvSpPr/>
          <p:nvPr/>
        </p:nvSpPr>
        <p:spPr>
          <a:xfrm>
            <a:off x="5349240" y="2450592"/>
            <a:ext cx="2011680" cy="329184"/>
          </a:xfrm>
          <a:prstGeom prst="rect">
            <a:avLst/>
          </a:prstGeom>
          <a:noFill/>
          <a:ln/>
        </p:spPr>
        <p:txBody>
          <a:bodyPr wrap="square" lIns="0" tIns="0" rIns="0" bIns="0" rtlCol="0" anchor="ctr">
            <a:normAutofit/>
          </a:bodyPr>
          <a:lstStyle/>
          <a:p>
            <a:pPr indent="0" marL="0">
              <a:buNone/>
            </a:pPr>
            <a:r>
              <a:rPr lang="en-US" sz="1700" b="1" dirty="0">
                <a:solidFill>
                  <a:srgbClr val="1B242B"/>
                </a:solidFill>
                <a:latin typeface="Arial" pitchFamily="34" charset="0"/>
                <a:ea typeface="Arial" pitchFamily="34" charset="-122"/>
                <a:cs typeface="Arial" pitchFamily="34" charset="-120"/>
              </a:rPr>
              <a:t>Interface</a:t>
            </a:r>
            <a:endParaRPr lang="en-US" sz="1700" dirty="0"/>
          </a:p>
        </p:txBody>
      </p:sp>
      <p:sp>
        <p:nvSpPr>
          <p:cNvPr id="14" name="Shape 11"/>
          <p:cNvSpPr/>
          <p:nvPr/>
        </p:nvSpPr>
        <p:spPr>
          <a:xfrm>
            <a:off x="5349240" y="3017520"/>
            <a:ext cx="4526280" cy="411480"/>
          </a:xfrm>
          <a:prstGeom prst="roundRect">
            <a:avLst>
              <a:gd name="adj" fmla="val 17778"/>
            </a:avLst>
          </a:prstGeom>
          <a:solidFill>
            <a:srgbClr val="E8ECEF"/>
          </a:solidFill>
          <a:ln w="12700">
            <a:solidFill>
              <a:srgbClr val="E8ECEF">
                <a:alpha val="0"/>
              </a:srgbClr>
            </a:solidFill>
            <a:prstDash val="solid"/>
          </a:ln>
        </p:spPr>
      </p:sp>
      <p:sp>
        <p:nvSpPr>
          <p:cNvPr id="15" name="Shape 12"/>
          <p:cNvSpPr/>
          <p:nvPr/>
        </p:nvSpPr>
        <p:spPr>
          <a:xfrm>
            <a:off x="5349240" y="3703320"/>
            <a:ext cx="1920240" cy="1188720"/>
          </a:xfrm>
          <a:prstGeom prst="roundRect">
            <a:avLst>
              <a:gd name="adj" fmla="val 6154"/>
            </a:avLst>
          </a:prstGeom>
          <a:solidFill>
            <a:srgbClr val="D9EBF7"/>
          </a:solidFill>
          <a:ln w="12700">
            <a:solidFill>
              <a:srgbClr val="D9EBF7">
                <a:alpha val="0"/>
              </a:srgbClr>
            </a:solidFill>
            <a:prstDash val="solid"/>
          </a:ln>
        </p:spPr>
      </p:sp>
      <p:sp>
        <p:nvSpPr>
          <p:cNvPr id="16" name="Text 13"/>
          <p:cNvSpPr/>
          <p:nvPr/>
        </p:nvSpPr>
        <p:spPr>
          <a:xfrm>
            <a:off x="5559552" y="4069080"/>
            <a:ext cx="1499616" cy="384048"/>
          </a:xfrm>
          <a:prstGeom prst="rect">
            <a:avLst/>
          </a:prstGeom>
          <a:noFill/>
          <a:ln/>
        </p:spPr>
        <p:txBody>
          <a:bodyPr wrap="square" lIns="0" tIns="0" rIns="0" bIns="0" rtlCol="0" anchor="ctr">
            <a:normAutofit/>
          </a:bodyPr>
          <a:lstStyle/>
          <a:p>
            <a:pPr algn="ctr" indent="0" marL="0">
              <a:buNone/>
            </a:pPr>
            <a:r>
              <a:rPr lang="en-US" sz="1500" b="1" dirty="0">
                <a:solidFill>
                  <a:srgbClr val="0063A3"/>
                </a:solidFill>
                <a:latin typeface="Arial" pitchFamily="34" charset="0"/>
                <a:ea typeface="Arial" pitchFamily="34" charset="-122"/>
                <a:cs typeface="Arial" pitchFamily="34" charset="-120"/>
              </a:rPr>
              <a:t>Closed / default state</a:t>
            </a:r>
            <a:endParaRPr lang="en-US" sz="1500" dirty="0"/>
          </a:p>
        </p:txBody>
      </p:sp>
      <p:sp>
        <p:nvSpPr>
          <p:cNvPr id="17" name="Text 14"/>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Right now, the panel is closed. The interface needs to know that before the next action.</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The user does something. The interface changes.</a:t>
            </a:r>
            <a:endParaRPr lang="en-US" sz="3100" dirty="0"/>
          </a:p>
        </p:txBody>
      </p:sp>
      <p:sp>
        <p:nvSpPr>
          <p:cNvPr id="5" name="Shape 2"/>
          <p:cNvSpPr/>
          <p:nvPr/>
        </p:nvSpPr>
        <p:spPr>
          <a:xfrm>
            <a:off x="914400" y="1783080"/>
            <a:ext cx="10332720" cy="4023360"/>
          </a:xfrm>
          <a:prstGeom prst="roundRect">
            <a:avLst>
              <a:gd name="adj" fmla="val 2273"/>
            </a:avLst>
          </a:prstGeom>
          <a:solidFill>
            <a:srgbClr val="FFFFFF"/>
          </a:solidFill>
          <a:ln w="12700">
            <a:solidFill>
              <a:srgbClr val="E8ECEF"/>
            </a:solidFill>
            <a:prstDash val="solid"/>
          </a:ln>
        </p:spPr>
      </p:sp>
      <p:sp>
        <p:nvSpPr>
          <p:cNvPr id="6" name="Shape 3"/>
          <p:cNvSpPr/>
          <p:nvPr/>
        </p:nvSpPr>
        <p:spPr>
          <a:xfrm>
            <a:off x="1234440" y="2148840"/>
            <a:ext cx="2834640" cy="3246120"/>
          </a:xfrm>
          <a:prstGeom prst="roundRect">
            <a:avLst>
              <a:gd name="adj" fmla="val 2581"/>
            </a:avLst>
          </a:prstGeom>
          <a:solidFill>
            <a:srgbClr val="D9EBF7"/>
          </a:solidFill>
          <a:ln w="12700">
            <a:solidFill>
              <a:srgbClr val="D9EBF7">
                <a:alpha val="0"/>
              </a:srgbClr>
            </a:solidFill>
            <a:prstDash val="solid"/>
          </a:ln>
        </p:spPr>
      </p:sp>
      <p:sp>
        <p:nvSpPr>
          <p:cNvPr id="7" name="Text 4"/>
          <p:cNvSpPr/>
          <p:nvPr/>
        </p:nvSpPr>
        <p:spPr>
          <a:xfrm>
            <a:off x="1417320" y="2514600"/>
            <a:ext cx="2468880" cy="365760"/>
          </a:xfrm>
          <a:prstGeom prst="rect">
            <a:avLst/>
          </a:prstGeom>
          <a:noFill/>
          <a:ln/>
        </p:spPr>
        <p:txBody>
          <a:bodyPr wrap="square" lIns="0" tIns="0" rIns="0" bIns="0" rtlCol="0" anchor="ctr">
            <a:normAutofit/>
          </a:bodyPr>
          <a:lstStyle/>
          <a:p>
            <a:pPr algn="ctr" indent="0" marL="0">
              <a:buNone/>
            </a:pPr>
            <a:r>
              <a:rPr lang="en-US" sz="1700" b="1" dirty="0">
                <a:solidFill>
                  <a:srgbClr val="1B242B"/>
                </a:solidFill>
                <a:latin typeface="Arial" pitchFamily="34" charset="0"/>
                <a:ea typeface="Arial" pitchFamily="34" charset="-122"/>
                <a:cs typeface="Arial" pitchFamily="34" charset="-120"/>
              </a:rPr>
              <a:t>What the page remembers</a:t>
            </a:r>
            <a:endParaRPr lang="en-US" sz="1700" dirty="0"/>
          </a:p>
        </p:txBody>
      </p:sp>
      <p:sp>
        <p:nvSpPr>
          <p:cNvPr id="8" name="Text 5"/>
          <p:cNvSpPr/>
          <p:nvPr/>
        </p:nvSpPr>
        <p:spPr>
          <a:xfrm>
            <a:off x="1508760" y="3127248"/>
            <a:ext cx="2286000" cy="457200"/>
          </a:xfrm>
          <a:prstGeom prst="rect">
            <a:avLst/>
          </a:prstGeom>
          <a:noFill/>
          <a:ln/>
        </p:spPr>
        <p:txBody>
          <a:bodyPr wrap="square" lIns="0" tIns="0" rIns="0" bIns="0" rtlCol="0" anchor="ctr">
            <a:normAutofit/>
          </a:bodyPr>
          <a:lstStyle/>
          <a:p>
            <a:pPr algn="ctr" indent="0" marL="0">
              <a:buNone/>
            </a:pPr>
            <a:r>
              <a:rPr lang="en-US" sz="2100" b="1" dirty="0">
                <a:solidFill>
                  <a:srgbClr val="2D7A58"/>
                </a:solidFill>
                <a:latin typeface="Arial" pitchFamily="34" charset="0"/>
                <a:ea typeface="Arial" pitchFamily="34" charset="-122"/>
                <a:cs typeface="Arial" pitchFamily="34" charset="-120"/>
              </a:rPr>
              <a:t>open: true</a:t>
            </a:r>
            <a:endParaRPr lang="en-US" sz="2100" dirty="0"/>
          </a:p>
        </p:txBody>
      </p:sp>
      <p:sp>
        <p:nvSpPr>
          <p:cNvPr id="9" name="Shape 6"/>
          <p:cNvSpPr/>
          <p:nvPr/>
        </p:nvSpPr>
        <p:spPr>
          <a:xfrm>
            <a:off x="1664208" y="4041648"/>
            <a:ext cx="1965960" cy="594360"/>
          </a:xfrm>
          <a:prstGeom prst="roundRect">
            <a:avLst>
              <a:gd name="adj" fmla="val 12308"/>
            </a:avLst>
          </a:prstGeom>
          <a:solidFill>
            <a:srgbClr val="E8ECEF"/>
          </a:solidFill>
          <a:ln w="12700">
            <a:solidFill>
              <a:srgbClr val="E8ECEF">
                <a:alpha val="0"/>
              </a:srgbClr>
            </a:solidFill>
            <a:prstDash val="solid"/>
          </a:ln>
        </p:spPr>
      </p:sp>
      <p:sp>
        <p:nvSpPr>
          <p:cNvPr id="10" name="Text 7"/>
          <p:cNvSpPr/>
          <p:nvPr/>
        </p:nvSpPr>
        <p:spPr>
          <a:xfrm>
            <a:off x="1764792" y="4151376"/>
            <a:ext cx="1764792" cy="320040"/>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Panel opened</a:t>
            </a:r>
            <a:endParaRPr lang="en-US" sz="1400" dirty="0"/>
          </a:p>
        </p:txBody>
      </p:sp>
      <p:sp>
        <p:nvSpPr>
          <p:cNvPr id="11" name="Text 8"/>
          <p:cNvSpPr/>
          <p:nvPr/>
        </p:nvSpPr>
        <p:spPr>
          <a:xfrm>
            <a:off x="4315968" y="3246120"/>
            <a:ext cx="548640" cy="548640"/>
          </a:xfrm>
          <a:prstGeom prst="rect">
            <a:avLst/>
          </a:prstGeom>
          <a:noFill/>
          <a:ln/>
        </p:spPr>
        <p:txBody>
          <a:bodyPr wrap="square" lIns="0" tIns="0" rIns="0" bIns="0" rtlCol="0" anchor="ctr">
            <a:normAutofit/>
          </a:bodyPr>
          <a:lstStyle/>
          <a:p>
            <a:pPr algn="ctr" indent="0" marL="0">
              <a:buNone/>
            </a:pPr>
            <a:r>
              <a:rPr lang="en-US" sz="3000" b="1" dirty="0">
                <a:solidFill>
                  <a:srgbClr val="F47F20"/>
                </a:solidFill>
                <a:latin typeface="Arial" pitchFamily="34" charset="0"/>
                <a:ea typeface="Arial" pitchFamily="34" charset="-122"/>
                <a:cs typeface="Arial" pitchFamily="34" charset="-120"/>
              </a:rPr>
              <a:t>→</a:t>
            </a:r>
            <a:endParaRPr lang="en-US" sz="3000" dirty="0"/>
          </a:p>
        </p:txBody>
      </p:sp>
      <p:sp>
        <p:nvSpPr>
          <p:cNvPr id="12" name="Shape 9"/>
          <p:cNvSpPr/>
          <p:nvPr/>
        </p:nvSpPr>
        <p:spPr>
          <a:xfrm>
            <a:off x="4983480" y="2148840"/>
            <a:ext cx="5669280" cy="3246120"/>
          </a:xfrm>
          <a:prstGeom prst="roundRect">
            <a:avLst>
              <a:gd name="adj" fmla="val 2817"/>
            </a:avLst>
          </a:prstGeom>
          <a:solidFill>
            <a:srgbClr val="F8F9FA"/>
          </a:solidFill>
          <a:ln w="12700">
            <a:solidFill>
              <a:srgbClr val="E8ECEF"/>
            </a:solidFill>
            <a:prstDash val="solid"/>
          </a:ln>
        </p:spPr>
      </p:sp>
      <p:sp>
        <p:nvSpPr>
          <p:cNvPr id="13" name="Text 10"/>
          <p:cNvSpPr/>
          <p:nvPr/>
        </p:nvSpPr>
        <p:spPr>
          <a:xfrm>
            <a:off x="5349240" y="2450592"/>
            <a:ext cx="2011680" cy="329184"/>
          </a:xfrm>
          <a:prstGeom prst="rect">
            <a:avLst/>
          </a:prstGeom>
          <a:noFill/>
          <a:ln/>
        </p:spPr>
        <p:txBody>
          <a:bodyPr wrap="square" lIns="0" tIns="0" rIns="0" bIns="0" rtlCol="0" anchor="ctr">
            <a:normAutofit/>
          </a:bodyPr>
          <a:lstStyle/>
          <a:p>
            <a:pPr indent="0" marL="0">
              <a:buNone/>
            </a:pPr>
            <a:r>
              <a:rPr lang="en-US" sz="1700" b="1" dirty="0">
                <a:solidFill>
                  <a:srgbClr val="1B242B"/>
                </a:solidFill>
                <a:latin typeface="Arial" pitchFamily="34" charset="0"/>
                <a:ea typeface="Arial" pitchFamily="34" charset="-122"/>
                <a:cs typeface="Arial" pitchFamily="34" charset="-120"/>
              </a:rPr>
              <a:t>Interface</a:t>
            </a:r>
            <a:endParaRPr lang="en-US" sz="1700" dirty="0"/>
          </a:p>
        </p:txBody>
      </p:sp>
      <p:sp>
        <p:nvSpPr>
          <p:cNvPr id="14" name="Shape 11"/>
          <p:cNvSpPr/>
          <p:nvPr/>
        </p:nvSpPr>
        <p:spPr>
          <a:xfrm>
            <a:off x="5349240" y="3017520"/>
            <a:ext cx="4526280" cy="411480"/>
          </a:xfrm>
          <a:prstGeom prst="roundRect">
            <a:avLst>
              <a:gd name="adj" fmla="val 17778"/>
            </a:avLst>
          </a:prstGeom>
          <a:solidFill>
            <a:srgbClr val="E8ECEF"/>
          </a:solidFill>
          <a:ln w="12700">
            <a:solidFill>
              <a:srgbClr val="E8ECEF">
                <a:alpha val="0"/>
              </a:srgbClr>
            </a:solidFill>
            <a:prstDash val="solid"/>
          </a:ln>
        </p:spPr>
      </p:sp>
      <p:sp>
        <p:nvSpPr>
          <p:cNvPr id="15" name="Shape 12"/>
          <p:cNvSpPr/>
          <p:nvPr/>
        </p:nvSpPr>
        <p:spPr>
          <a:xfrm>
            <a:off x="5349240" y="3703320"/>
            <a:ext cx="4526280" cy="1188720"/>
          </a:xfrm>
          <a:prstGeom prst="roundRect">
            <a:avLst>
              <a:gd name="adj" fmla="val 6154"/>
            </a:avLst>
          </a:prstGeom>
          <a:solidFill>
            <a:srgbClr val="DDEFE6"/>
          </a:solidFill>
          <a:ln w="12700">
            <a:solidFill>
              <a:srgbClr val="DDEFE6">
                <a:alpha val="0"/>
              </a:srgbClr>
            </a:solidFill>
            <a:prstDash val="solid"/>
          </a:ln>
        </p:spPr>
      </p:sp>
      <p:sp>
        <p:nvSpPr>
          <p:cNvPr id="16" name="Text 13"/>
          <p:cNvSpPr/>
          <p:nvPr/>
        </p:nvSpPr>
        <p:spPr>
          <a:xfrm>
            <a:off x="5559552" y="4069080"/>
            <a:ext cx="4105656" cy="384048"/>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Open panel / modal / selection</a:t>
            </a:r>
            <a:endParaRPr lang="en-US" sz="1500" dirty="0"/>
          </a:p>
        </p:txBody>
      </p:sp>
      <p:sp>
        <p:nvSpPr>
          <p:cNvPr id="17" name="Text 14"/>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The person clicks, the panel opens, and the interface keeps track of the new state.</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A real flow includes the moments around success.</a:t>
            </a:r>
            <a:endParaRPr lang="en-US" sz="3100" dirty="0"/>
          </a:p>
        </p:txBody>
      </p:sp>
      <p:sp>
        <p:nvSpPr>
          <p:cNvPr id="5" name="Shape 2"/>
          <p:cNvSpPr/>
          <p:nvPr/>
        </p:nvSpPr>
        <p:spPr>
          <a:xfrm>
            <a:off x="658368"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Before action</a:t>
            </a:r>
            <a:endParaRPr lang="en-US" sz="1800" dirty="0"/>
          </a:p>
        </p:txBody>
      </p:sp>
      <p:sp>
        <p:nvSpPr>
          <p:cNvPr id="7" name="Shape 4"/>
          <p:cNvSpPr/>
          <p:nvPr/>
        </p:nvSpPr>
        <p:spPr>
          <a:xfrm>
            <a:off x="4337304"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4538472"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During / loading</a:t>
            </a:r>
            <a:endParaRPr lang="en-US" sz="1800" dirty="0"/>
          </a:p>
        </p:txBody>
      </p:sp>
      <p:sp>
        <p:nvSpPr>
          <p:cNvPr id="9" name="Shape 6"/>
          <p:cNvSpPr/>
          <p:nvPr/>
        </p:nvSpPr>
        <p:spPr>
          <a:xfrm>
            <a:off x="8016240"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217408"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Empty</a:t>
            </a:r>
            <a:endParaRPr lang="en-US" sz="1800" dirty="0"/>
          </a:p>
        </p:txBody>
      </p:sp>
      <p:sp>
        <p:nvSpPr>
          <p:cNvPr id="11" name="Shape 8"/>
          <p:cNvSpPr/>
          <p:nvPr/>
        </p:nvSpPr>
        <p:spPr>
          <a:xfrm>
            <a:off x="658368"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Error</a:t>
            </a:r>
            <a:endParaRPr lang="en-US" sz="1800" dirty="0"/>
          </a:p>
        </p:txBody>
      </p:sp>
      <p:sp>
        <p:nvSpPr>
          <p:cNvPr id="13" name="Shape 10"/>
          <p:cNvSpPr/>
          <p:nvPr/>
        </p:nvSpPr>
        <p:spPr>
          <a:xfrm>
            <a:off x="4337304"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4538472"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Success</a:t>
            </a:r>
            <a:endParaRPr lang="en-US" sz="1800" dirty="0"/>
          </a:p>
        </p:txBody>
      </p:sp>
      <p:sp>
        <p:nvSpPr>
          <p:cNvPr id="15" name="Shape 12"/>
          <p:cNvSpPr/>
          <p:nvPr/>
        </p:nvSpPr>
        <p:spPr>
          <a:xfrm>
            <a:off x="8016240"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6" name="Text 13"/>
          <p:cNvSpPr/>
          <p:nvPr/>
        </p:nvSpPr>
        <p:spPr>
          <a:xfrm>
            <a:off x="8217408"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Recovery</a:t>
            </a:r>
            <a:endParaRPr lang="en-US" sz="1800" dirty="0"/>
          </a:p>
        </p:txBody>
      </p:sp>
      <p:sp>
        <p:nvSpPr>
          <p:cNvPr id="17" name="Text 14"/>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Ask: What can the person see and do in each moment?</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Your turn: add one interaction.</a:t>
            </a:r>
            <a:endParaRPr lang="en-US" sz="3100" dirty="0"/>
          </a:p>
        </p:txBody>
      </p:sp>
      <p:sp>
        <p:nvSpPr>
          <p:cNvPr id="5" name="Shape 2"/>
          <p:cNvSpPr/>
          <p:nvPr/>
        </p:nvSpPr>
        <p:spPr>
          <a:xfrm>
            <a:off x="822960" y="1783080"/>
            <a:ext cx="10561320" cy="3154680"/>
          </a:xfrm>
          <a:prstGeom prst="roundRect">
            <a:avLst>
              <a:gd name="adj" fmla="val 2899"/>
            </a:avLst>
          </a:prstGeom>
          <a:solidFill>
            <a:srgbClr val="FFFFFF"/>
          </a:solidFill>
          <a:ln w="12700">
            <a:solidFill>
              <a:srgbClr val="0063A3"/>
            </a:solidFill>
            <a:prstDash val="solid"/>
          </a:ln>
        </p:spPr>
      </p:sp>
      <p:sp>
        <p:nvSpPr>
          <p:cNvPr id="6" name="Text 3"/>
          <p:cNvSpPr/>
          <p:nvPr/>
        </p:nvSpPr>
        <p:spPr>
          <a:xfrm>
            <a:off x="1143000" y="2084832"/>
            <a:ext cx="2743200" cy="274320"/>
          </a:xfrm>
          <a:prstGeom prst="rect">
            <a:avLst/>
          </a:prstGeom>
          <a:noFill/>
          <a:ln/>
        </p:spPr>
        <p:txBody>
          <a:bodyPr wrap="square" lIns="0" tIns="0" rIns="0" bIns="0" rtlCol="0" anchor="ctr">
            <a:normAutofit/>
          </a:bodyPr>
          <a:lstStyle/>
          <a:p>
            <a:pPr indent="0" marL="0">
              <a:buNone/>
            </a:pPr>
            <a:r>
              <a:rPr lang="en-US" sz="1100" b="1" spc="150" kern="0" dirty="0">
                <a:solidFill>
                  <a:srgbClr val="7252A3"/>
                </a:solidFill>
                <a:latin typeface="Arial" pitchFamily="34" charset="0"/>
                <a:ea typeface="Arial" pitchFamily="34" charset="-122"/>
                <a:cs typeface="Arial" pitchFamily="34" charset="-120"/>
              </a:rPr>
              <a:t>TRY THIS IN AGENT</a:t>
            </a:r>
            <a:endParaRPr lang="en-US" sz="1100" dirty="0"/>
          </a:p>
        </p:txBody>
      </p:sp>
      <p:sp>
        <p:nvSpPr>
          <p:cNvPr id="7" name="Text 4"/>
          <p:cNvSpPr/>
          <p:nvPr/>
        </p:nvSpPr>
        <p:spPr>
          <a:xfrm>
            <a:off x="1143000" y="2651760"/>
            <a:ext cx="9921240" cy="1645920"/>
          </a:xfrm>
          <a:prstGeom prst="rect">
            <a:avLst/>
          </a:prstGeom>
          <a:noFill/>
          <a:ln/>
        </p:spPr>
        <p:txBody>
          <a:bodyPr wrap="square" lIns="0" tIns="0" rIns="0" bIns="0" rtlCol="0" anchor="ctr">
            <a:normAutofit/>
          </a:bodyPr>
          <a:lstStyle/>
          <a:p>
            <a:pPr indent="0" marL="0">
              <a:buNone/>
            </a:pPr>
            <a:r>
              <a:rPr lang="en-US" sz="2100" b="1" dirty="0">
                <a:solidFill>
                  <a:srgbClr val="1B242B"/>
                </a:solidFill>
                <a:latin typeface="Arial" pitchFamily="34" charset="0"/>
                <a:ea typeface="Arial" pitchFamily="34" charset="-122"/>
                <a:cs typeface="Arial" pitchFamily="34" charset="-120"/>
              </a:rPr>
              <a:t>Add one interaction to this page. When the user [does something], the page should [respond]. Show what happens before the action, while it is happening, if it fails, and after it works. Run it and let me try it in Preview.</a:t>
            </a:r>
            <a:endParaRPr lang="en-US" sz="2100" dirty="0"/>
          </a:p>
        </p:txBody>
      </p:sp>
      <p:sp>
        <p:nvSpPr>
          <p:cNvPr id="8" name="Text 5"/>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Choose something useful for your page: reveal, select, filter, validate, confirm, or another clear action.</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Quick check: does the interaction make sense?</a:t>
            </a:r>
            <a:endParaRPr lang="en-US" sz="3100" dirty="0"/>
          </a:p>
        </p:txBody>
      </p:sp>
      <p:sp>
        <p:nvSpPr>
          <p:cNvPr id="5" name="Shape 2"/>
          <p:cNvSpPr/>
          <p:nvPr/>
        </p:nvSpPr>
        <p:spPr>
          <a:xfrm>
            <a:off x="868680" y="1691640"/>
            <a:ext cx="10332720" cy="749808"/>
          </a:xfrm>
          <a:prstGeom prst="roundRect">
            <a:avLst>
              <a:gd name="adj" fmla="val 9756"/>
            </a:avLst>
          </a:prstGeom>
          <a:solidFill>
            <a:srgbClr val="DDEFE6"/>
          </a:solidFill>
          <a:ln w="12700">
            <a:solidFill>
              <a:srgbClr val="DDEFE6">
                <a:alpha val="0"/>
              </a:srgbClr>
            </a:solidFill>
            <a:prstDash val="solid"/>
          </a:ln>
        </p:spPr>
      </p:sp>
      <p:sp>
        <p:nvSpPr>
          <p:cNvPr id="6" name="Text 3"/>
          <p:cNvSpPr/>
          <p:nvPr/>
        </p:nvSpPr>
        <p:spPr>
          <a:xfrm>
            <a:off x="10332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7" name="Text 4"/>
          <p:cNvSpPr/>
          <p:nvPr/>
        </p:nvSpPr>
        <p:spPr>
          <a:xfrm>
            <a:off x="1490472" y="182880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interaction works in Preview</a:t>
            </a:r>
            <a:endParaRPr lang="en-US" sz="1450" dirty="0"/>
          </a:p>
        </p:txBody>
      </p:sp>
      <p:sp>
        <p:nvSpPr>
          <p:cNvPr id="8" name="Shape 5"/>
          <p:cNvSpPr/>
          <p:nvPr/>
        </p:nvSpPr>
        <p:spPr>
          <a:xfrm>
            <a:off x="868680" y="2560320"/>
            <a:ext cx="10332720" cy="749808"/>
          </a:xfrm>
          <a:prstGeom prst="roundRect">
            <a:avLst>
              <a:gd name="adj" fmla="val 9756"/>
            </a:avLst>
          </a:prstGeom>
          <a:solidFill>
            <a:srgbClr val="DDEFE6"/>
          </a:solidFill>
          <a:ln w="12700">
            <a:solidFill>
              <a:srgbClr val="DDEFE6">
                <a:alpha val="0"/>
              </a:srgbClr>
            </a:solidFill>
            <a:prstDash val="solid"/>
          </a:ln>
        </p:spPr>
      </p:sp>
      <p:sp>
        <p:nvSpPr>
          <p:cNvPr id="9" name="Text 6"/>
          <p:cNvSpPr/>
          <p:nvPr/>
        </p:nvSpPr>
        <p:spPr>
          <a:xfrm>
            <a:off x="1033272" y="27432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0" name="Text 7"/>
          <p:cNvSpPr/>
          <p:nvPr/>
        </p:nvSpPr>
        <p:spPr>
          <a:xfrm>
            <a:off x="1490472" y="269748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can explain what the page needs to keep track of</a:t>
            </a:r>
            <a:endParaRPr lang="en-US" sz="1450" dirty="0"/>
          </a:p>
        </p:txBody>
      </p:sp>
      <p:sp>
        <p:nvSpPr>
          <p:cNvPr id="11" name="Shape 8"/>
          <p:cNvSpPr/>
          <p:nvPr/>
        </p:nvSpPr>
        <p:spPr>
          <a:xfrm>
            <a:off x="868680" y="3429000"/>
            <a:ext cx="10332720" cy="749808"/>
          </a:xfrm>
          <a:prstGeom prst="roundRect">
            <a:avLst>
              <a:gd name="adj" fmla="val 9756"/>
            </a:avLst>
          </a:prstGeom>
          <a:solidFill>
            <a:srgbClr val="DDEFE6"/>
          </a:solidFill>
          <a:ln w="12700">
            <a:solidFill>
              <a:srgbClr val="DDEFE6">
                <a:alpha val="0"/>
              </a:srgbClr>
            </a:solidFill>
            <a:prstDash val="solid"/>
          </a:ln>
        </p:spPr>
      </p:sp>
      <p:sp>
        <p:nvSpPr>
          <p:cNvPr id="12" name="Text 9"/>
          <p:cNvSpPr/>
          <p:nvPr/>
        </p:nvSpPr>
        <p:spPr>
          <a:xfrm>
            <a:off x="1033272" y="361188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3" name="Text 10"/>
          <p:cNvSpPr/>
          <p:nvPr/>
        </p:nvSpPr>
        <p:spPr>
          <a:xfrm>
            <a:off x="1490472" y="356616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At least two relevant states are visible</a:t>
            </a:r>
            <a:endParaRPr lang="en-US" sz="1450" dirty="0"/>
          </a:p>
        </p:txBody>
      </p:sp>
      <p:sp>
        <p:nvSpPr>
          <p:cNvPr id="14" name="Shape 11"/>
          <p:cNvSpPr/>
          <p:nvPr/>
        </p:nvSpPr>
        <p:spPr>
          <a:xfrm>
            <a:off x="868680" y="4297680"/>
            <a:ext cx="10332720" cy="749808"/>
          </a:xfrm>
          <a:prstGeom prst="roundRect">
            <a:avLst>
              <a:gd name="adj" fmla="val 9756"/>
            </a:avLst>
          </a:prstGeom>
          <a:solidFill>
            <a:srgbClr val="DDEFE6"/>
          </a:solidFill>
          <a:ln w="12700">
            <a:solidFill>
              <a:srgbClr val="DDEFE6">
                <a:alpha val="0"/>
              </a:srgbClr>
            </a:solidFill>
            <a:prstDash val="solid"/>
          </a:ln>
        </p:spPr>
      </p:sp>
      <p:sp>
        <p:nvSpPr>
          <p:cNvPr id="15" name="Text 12"/>
          <p:cNvSpPr/>
          <p:nvPr/>
        </p:nvSpPr>
        <p:spPr>
          <a:xfrm>
            <a:off x="1033272" y="44805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6" name="Text 13"/>
          <p:cNvSpPr/>
          <p:nvPr/>
        </p:nvSpPr>
        <p:spPr>
          <a:xfrm>
            <a:off x="1490472" y="4434840"/>
            <a:ext cx="950976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Someone else can use the flow and recover from it</a:t>
            </a:r>
            <a:endParaRPr lang="en-US" sz="1450" dirty="0"/>
          </a:p>
        </p:txBody>
      </p:sp>
      <p:sp>
        <p:nvSpPr>
          <p:cNvPr id="17" name="Text 14"/>
          <p:cNvSpPr/>
          <p:nvPr/>
        </p:nvSpPr>
        <p:spPr>
          <a:xfrm>
            <a:off x="868680" y="5806440"/>
            <a:ext cx="10332720" cy="384048"/>
          </a:xfrm>
          <a:prstGeom prst="rect">
            <a:avLst/>
          </a:prstGeom>
          <a:noFill/>
          <a:ln/>
        </p:spPr>
        <p:txBody>
          <a:bodyPr wrap="square" lIns="0" tIns="0" rIns="0" bIns="0" rtlCol="0" anchor="ctr">
            <a:normAutofit/>
          </a:bodyPr>
          <a:lstStyle/>
          <a:p>
            <a:pPr algn="ctr" indent="0" marL="0">
              <a:buNone/>
            </a:pPr>
            <a:r>
              <a:rPr lang="en-US" sz="1400" b="1" dirty="0">
                <a:solidFill>
                  <a:srgbClr val="2D7A58"/>
                </a:solidFill>
                <a:latin typeface="Arial" pitchFamily="34" charset="0"/>
                <a:ea typeface="Arial" pitchFamily="34" charset="-122"/>
                <a:cs typeface="Arial" pitchFamily="34" charset="-120"/>
              </a:rPr>
              <a:t>Ready · Ready with a little help · Let’s fix this together</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7252A3"/>
                </a:solidFill>
                <a:latin typeface="Arial" pitchFamily="34" charset="0"/>
                <a:ea typeface="Arial" pitchFamily="34" charset="-122"/>
                <a:cs typeface="Arial" pitchFamily="34" charset="-120"/>
              </a:rPr>
              <a:t>PHASE 2</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Questions before we give Agent more context?</a:t>
            </a:r>
            <a:endParaRPr lang="en-US" sz="3100" dirty="0"/>
          </a:p>
        </p:txBody>
      </p:sp>
      <p:sp>
        <p:nvSpPr>
          <p:cNvPr id="5" name="Shape 2"/>
          <p:cNvSpPr/>
          <p:nvPr/>
        </p:nvSpPr>
        <p:spPr>
          <a:xfrm>
            <a:off x="658368"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What is a framework?</a:t>
            </a:r>
            <a:endParaRPr lang="en-US" sz="1800" dirty="0"/>
          </a:p>
        </p:txBody>
      </p:sp>
      <p:sp>
        <p:nvSpPr>
          <p:cNvPr id="7" name="Shape 4"/>
          <p:cNvSpPr/>
          <p:nvPr/>
        </p:nvSpPr>
        <p:spPr>
          <a:xfrm>
            <a:off x="4337304"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4538472"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What is state?</a:t>
            </a:r>
            <a:endParaRPr lang="en-US" sz="1800" dirty="0"/>
          </a:p>
        </p:txBody>
      </p:sp>
      <p:sp>
        <p:nvSpPr>
          <p:cNvPr id="9" name="Shape 6"/>
          <p:cNvSpPr/>
          <p:nvPr/>
        </p:nvSpPr>
        <p:spPr>
          <a:xfrm>
            <a:off x="8016240"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217408"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Why React?</a:t>
            </a:r>
            <a:endParaRPr lang="en-US" sz="1800" dirty="0"/>
          </a:p>
        </p:txBody>
      </p:sp>
      <p:sp>
        <p:nvSpPr>
          <p:cNvPr id="11" name="Shape 8"/>
          <p:cNvSpPr/>
          <p:nvPr/>
        </p:nvSpPr>
        <p:spPr>
          <a:xfrm>
            <a:off x="658368" y="310896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2735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What should Agent remember?</a:t>
            </a:r>
            <a:endParaRPr lang="en-US" sz="1800" dirty="0"/>
          </a:p>
        </p:txBody>
      </p:sp>
      <p:sp>
        <p:nvSpPr>
          <p:cNvPr id="13" name="Shape 10"/>
          <p:cNvSpPr/>
          <p:nvPr/>
        </p:nvSpPr>
        <p:spPr>
          <a:xfrm>
            <a:off x="4337304" y="3108960"/>
            <a:ext cx="3477768"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4538472" y="32735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Parking lot</a:t>
            </a:r>
            <a:endParaRPr lang="en-US" sz="1800" dirty="0"/>
          </a:p>
        </p:txBody>
      </p:sp>
      <p:sp>
        <p:nvSpPr>
          <p:cNvPr id="15" name="Text 12"/>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Next we’ll connect Agent to the standards, files, and tools it needs for Modus work.</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7F20"/>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F47F20"/>
          </a:solidFill>
          <a:ln w="12700">
            <a:solidFill>
              <a:srgbClr val="333333">
                <a:alpha val="0"/>
              </a:srgbClr>
            </a:solidFill>
            <a:prstDash val="solid"/>
          </a:ln>
        </p:spPr>
      </p:sp>
      <p:sp>
        <p:nvSpPr>
          <p:cNvPr id="4" name="Shape 1"/>
          <p:cNvSpPr/>
          <p:nvPr/>
        </p:nvSpPr>
        <p:spPr>
          <a:xfrm rot="1800000">
            <a:off x="7772400" y="-914400"/>
            <a:ext cx="5212080" cy="5212080"/>
          </a:xfrm>
          <a:prstGeom prst="arc">
            <a:avLst/>
          </a:prstGeom>
          <a:solidFill>
            <a:srgbClr val="F9C74F">
              <a:alpha val="98000"/>
            </a:srgbClr>
          </a:solidFill>
          <a:ln w="12700">
            <a:solidFill>
              <a:srgbClr val="333333">
                <a:alpha val="0"/>
              </a:srgbClr>
            </a:solidFill>
            <a:prstDash val="solid"/>
          </a:ln>
        </p:spPr>
      </p:sp>
      <p:sp>
        <p:nvSpPr>
          <p:cNvPr id="5" name="Text 2"/>
          <p:cNvSpPr/>
          <p:nvPr/>
        </p:nvSpPr>
        <p:spPr>
          <a:xfrm>
            <a:off x="731520" y="658368"/>
            <a:ext cx="2743200" cy="274320"/>
          </a:xfrm>
          <a:prstGeom prst="rect">
            <a:avLst/>
          </a:prstGeom>
          <a:noFill/>
          <a:ln/>
        </p:spPr>
        <p:txBody>
          <a:bodyPr wrap="square" lIns="0" tIns="0" rIns="0" bIns="0" rtlCol="0" anchor="ctr">
            <a:normAutofit/>
          </a:bodyPr>
          <a:lstStyle/>
          <a:p>
            <a:pPr indent="0" marL="0">
              <a:buNone/>
            </a:pPr>
            <a:r>
              <a:rPr lang="en-US" sz="1100" b="1" spc="200" kern="0" dirty="0">
                <a:solidFill>
                  <a:srgbClr val="F9C74F"/>
                </a:solidFill>
                <a:latin typeface="Arial" pitchFamily="34" charset="0"/>
                <a:ea typeface="Arial" pitchFamily="34" charset="-122"/>
                <a:cs typeface="Arial" pitchFamily="34" charset="-120"/>
              </a:rPr>
              <a:t>PHASE 3</a:t>
            </a:r>
            <a:endParaRPr lang="en-US" sz="1100" dirty="0"/>
          </a:p>
        </p:txBody>
      </p:sp>
      <p:sp>
        <p:nvSpPr>
          <p:cNvPr id="6" name="Text 3"/>
          <p:cNvSpPr/>
          <p:nvPr/>
        </p:nvSpPr>
        <p:spPr>
          <a:xfrm>
            <a:off x="731520" y="1828800"/>
            <a:ext cx="8961120" cy="1005840"/>
          </a:xfrm>
          <a:prstGeom prst="rect">
            <a:avLst/>
          </a:prstGeom>
          <a:noFill/>
          <a:ln/>
        </p:spPr>
        <p:txBody>
          <a:bodyPr wrap="square" lIns="0" tIns="0" rIns="0" bIns="0" rtlCol="0" anchor="t">
            <a:normAutofit/>
          </a:bodyPr>
          <a:lstStyle/>
          <a:p>
            <a:pPr indent="0" marL="0">
              <a:buNone/>
            </a:pPr>
            <a:r>
              <a:rPr lang="en-US" sz="4200" b="1" dirty="0">
                <a:solidFill>
                  <a:srgbClr val="FFFFFF"/>
                </a:solidFill>
                <a:latin typeface="Arial" pitchFamily="34" charset="0"/>
                <a:ea typeface="Arial" pitchFamily="34" charset="-122"/>
                <a:cs typeface="Arial" pitchFamily="34" charset="-120"/>
              </a:rPr>
              <a:t>Phase 3</a:t>
            </a:r>
            <a:endParaRPr lang="en-US" sz="4200" dirty="0"/>
          </a:p>
        </p:txBody>
      </p:sp>
      <p:sp>
        <p:nvSpPr>
          <p:cNvPr id="7" name="Text 4"/>
          <p:cNvSpPr/>
          <p:nvPr/>
        </p:nvSpPr>
        <p:spPr>
          <a:xfrm>
            <a:off x="749808" y="3090672"/>
            <a:ext cx="8412480" cy="685800"/>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Give Agent the right context and tools</a:t>
            </a:r>
            <a:endParaRPr lang="en-US" sz="2400" dirty="0"/>
          </a:p>
        </p:txBody>
      </p:sp>
      <p:sp>
        <p:nvSpPr>
          <p:cNvPr id="8" name="Text 5"/>
          <p:cNvSpPr/>
          <p:nvPr/>
        </p:nvSpPr>
        <p:spPr>
          <a:xfrm>
            <a:off x="749808" y="5440680"/>
            <a:ext cx="5486400" cy="384048"/>
          </a:xfrm>
          <a:prstGeom prst="rect">
            <a:avLst/>
          </a:prstGeom>
          <a:noFill/>
          <a:ln/>
        </p:spPr>
        <p:txBody>
          <a:bodyPr wrap="square" lIns="0" tIns="0" rIns="0" bIns="0" rtlCol="0" anchor="ctr">
            <a:normAutofit/>
          </a:bodyPr>
          <a:lstStyle/>
          <a:p>
            <a:pPr indent="0" marL="0">
              <a:buNone/>
            </a:pPr>
            <a:r>
              <a:rPr lang="en-US" sz="1300" b="1" dirty="0">
                <a:solidFill>
                  <a:srgbClr val="F9C74F"/>
                </a:solidFill>
                <a:latin typeface="Arial" pitchFamily="34" charset="0"/>
                <a:ea typeface="Arial" pitchFamily="34" charset="-122"/>
                <a:cs typeface="Arial" pitchFamily="34" charset="-120"/>
              </a:rPr>
              <a:t>Day 1 · Afternoon · First full assessment</a:t>
            </a:r>
            <a:endParaRPr lang="en-US" sz="13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A general Agent does not know our product decisions yet.</a:t>
            </a:r>
            <a:endParaRPr lang="en-US" sz="3100" dirty="0"/>
          </a:p>
        </p:txBody>
      </p:sp>
      <p:sp>
        <p:nvSpPr>
          <p:cNvPr id="5" name="Shape 2"/>
          <p:cNvSpPr/>
          <p:nvPr/>
        </p:nvSpPr>
        <p:spPr>
          <a:xfrm>
            <a:off x="658368" y="1600200"/>
            <a:ext cx="5317236" cy="1170432"/>
          </a:xfrm>
          <a:prstGeom prst="roundRect">
            <a:avLst>
              <a:gd name="adj" fmla="val 6250"/>
            </a:avLst>
          </a:prstGeom>
          <a:solidFill>
            <a:srgbClr val="EBE3F5"/>
          </a:solidFill>
          <a:ln w="12700">
            <a:solidFill>
              <a:srgbClr val="EBE3F5">
                <a:alpha val="0"/>
              </a:srgbClr>
            </a:solidFill>
            <a:prstDash val="solid"/>
          </a:ln>
        </p:spPr>
      </p:sp>
      <p:sp>
        <p:nvSpPr>
          <p:cNvPr id="6" name="Text 3"/>
          <p:cNvSpPr/>
          <p:nvPr/>
        </p:nvSpPr>
        <p:spPr>
          <a:xfrm>
            <a:off x="859536" y="17647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Rules</a:t>
            </a:r>
            <a:endParaRPr lang="en-US" sz="1700" dirty="0"/>
          </a:p>
        </p:txBody>
      </p:sp>
      <p:sp>
        <p:nvSpPr>
          <p:cNvPr id="7" name="Text 4"/>
          <p:cNvSpPr/>
          <p:nvPr/>
        </p:nvSpPr>
        <p:spPr>
          <a:xfrm>
            <a:off x="859536" y="21122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Standards that apply to every request</a:t>
            </a:r>
            <a:endParaRPr lang="en-US" sz="1250" dirty="0"/>
          </a:p>
        </p:txBody>
      </p:sp>
      <p:sp>
        <p:nvSpPr>
          <p:cNvPr id="8" name="Shape 5"/>
          <p:cNvSpPr/>
          <p:nvPr/>
        </p:nvSpPr>
        <p:spPr>
          <a:xfrm>
            <a:off x="6176772" y="1600200"/>
            <a:ext cx="5317236" cy="1170432"/>
          </a:xfrm>
          <a:prstGeom prst="roundRect">
            <a:avLst>
              <a:gd name="adj" fmla="val 6250"/>
            </a:avLst>
          </a:prstGeom>
          <a:solidFill>
            <a:srgbClr val="EBE3F5"/>
          </a:solidFill>
          <a:ln w="12700">
            <a:solidFill>
              <a:srgbClr val="EBE3F5">
                <a:alpha val="0"/>
              </a:srgbClr>
            </a:solidFill>
            <a:prstDash val="solid"/>
          </a:ln>
        </p:spPr>
      </p:sp>
      <p:sp>
        <p:nvSpPr>
          <p:cNvPr id="9" name="Text 6"/>
          <p:cNvSpPr/>
          <p:nvPr/>
        </p:nvSpPr>
        <p:spPr>
          <a:xfrm>
            <a:off x="6377940" y="17647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Skills</a:t>
            </a:r>
            <a:endParaRPr lang="en-US" sz="1700" dirty="0"/>
          </a:p>
        </p:txBody>
      </p:sp>
      <p:sp>
        <p:nvSpPr>
          <p:cNvPr id="10" name="Text 7"/>
          <p:cNvSpPr/>
          <p:nvPr/>
        </p:nvSpPr>
        <p:spPr>
          <a:xfrm>
            <a:off x="6377940" y="21122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Step-by-step guidance for common tasks</a:t>
            </a:r>
            <a:endParaRPr lang="en-US" sz="1250" dirty="0"/>
          </a:p>
        </p:txBody>
      </p:sp>
      <p:sp>
        <p:nvSpPr>
          <p:cNvPr id="11" name="Shape 8"/>
          <p:cNvSpPr/>
          <p:nvPr/>
        </p:nvSpPr>
        <p:spPr>
          <a:xfrm>
            <a:off x="658368" y="2971800"/>
            <a:ext cx="5317236" cy="1170432"/>
          </a:xfrm>
          <a:prstGeom prst="roundRect">
            <a:avLst>
              <a:gd name="adj" fmla="val 6250"/>
            </a:avLst>
          </a:prstGeom>
          <a:solidFill>
            <a:srgbClr val="EBE3F5"/>
          </a:solidFill>
          <a:ln w="12700">
            <a:solidFill>
              <a:srgbClr val="EBE3F5">
                <a:alpha val="0"/>
              </a:srgbClr>
            </a:solidFill>
            <a:prstDash val="solid"/>
          </a:ln>
        </p:spPr>
      </p:sp>
      <p:sp>
        <p:nvSpPr>
          <p:cNvPr id="12" name="Text 9"/>
          <p:cNvSpPr/>
          <p:nvPr/>
        </p:nvSpPr>
        <p:spPr>
          <a:xfrm>
            <a:off x="859536" y="31363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MCP</a:t>
            </a:r>
            <a:endParaRPr lang="en-US" sz="1700" dirty="0"/>
          </a:p>
        </p:txBody>
      </p:sp>
      <p:sp>
        <p:nvSpPr>
          <p:cNvPr id="13" name="Text 10"/>
          <p:cNvSpPr/>
          <p:nvPr/>
        </p:nvSpPr>
        <p:spPr>
          <a:xfrm>
            <a:off x="859536" y="34838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Connections to tools and current information</a:t>
            </a:r>
            <a:endParaRPr lang="en-US" sz="1250" dirty="0"/>
          </a:p>
        </p:txBody>
      </p:sp>
      <p:sp>
        <p:nvSpPr>
          <p:cNvPr id="14" name="Shape 11"/>
          <p:cNvSpPr/>
          <p:nvPr/>
        </p:nvSpPr>
        <p:spPr>
          <a:xfrm>
            <a:off x="6176772" y="2971800"/>
            <a:ext cx="5317236" cy="1170432"/>
          </a:xfrm>
          <a:prstGeom prst="roundRect">
            <a:avLst>
              <a:gd name="adj" fmla="val 6250"/>
            </a:avLst>
          </a:prstGeom>
          <a:solidFill>
            <a:srgbClr val="EBE3F5"/>
          </a:solidFill>
          <a:ln w="12700">
            <a:solidFill>
              <a:srgbClr val="EBE3F5">
                <a:alpha val="0"/>
              </a:srgbClr>
            </a:solidFill>
            <a:prstDash val="solid"/>
          </a:ln>
        </p:spPr>
      </p:sp>
      <p:sp>
        <p:nvSpPr>
          <p:cNvPr id="15" name="Text 12"/>
          <p:cNvSpPr/>
          <p:nvPr/>
        </p:nvSpPr>
        <p:spPr>
          <a:xfrm>
            <a:off x="6377940" y="31363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Figma</a:t>
            </a:r>
            <a:endParaRPr lang="en-US" sz="1700" dirty="0"/>
          </a:p>
        </p:txBody>
      </p:sp>
      <p:sp>
        <p:nvSpPr>
          <p:cNvPr id="16" name="Text 13"/>
          <p:cNvSpPr/>
          <p:nvPr/>
        </p:nvSpPr>
        <p:spPr>
          <a:xfrm>
            <a:off x="6377940" y="34838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Live design context</a:t>
            </a:r>
            <a:endParaRPr lang="en-US" sz="1250" dirty="0"/>
          </a:p>
        </p:txBody>
      </p:sp>
      <p:sp>
        <p:nvSpPr>
          <p:cNvPr id="17" name="Shape 14"/>
          <p:cNvSpPr/>
          <p:nvPr/>
        </p:nvSpPr>
        <p:spPr>
          <a:xfrm>
            <a:off x="658368" y="4343400"/>
            <a:ext cx="5317236" cy="1170432"/>
          </a:xfrm>
          <a:prstGeom prst="roundRect">
            <a:avLst>
              <a:gd name="adj" fmla="val 6250"/>
            </a:avLst>
          </a:prstGeom>
          <a:solidFill>
            <a:srgbClr val="EBE3F5"/>
          </a:solidFill>
          <a:ln w="12700">
            <a:solidFill>
              <a:srgbClr val="EBE3F5">
                <a:alpha val="0"/>
              </a:srgbClr>
            </a:solidFill>
            <a:prstDash val="solid"/>
          </a:ln>
        </p:spPr>
      </p:sp>
      <p:sp>
        <p:nvSpPr>
          <p:cNvPr id="18" name="Text 15"/>
          <p:cNvSpPr/>
          <p:nvPr/>
        </p:nvSpPr>
        <p:spPr>
          <a:xfrm>
            <a:off x="859536" y="45079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Browser</a:t>
            </a:r>
            <a:endParaRPr lang="en-US" sz="1700" dirty="0"/>
          </a:p>
        </p:txBody>
      </p:sp>
      <p:sp>
        <p:nvSpPr>
          <p:cNvPr id="19" name="Text 16"/>
          <p:cNvSpPr/>
          <p:nvPr/>
        </p:nvSpPr>
        <p:spPr>
          <a:xfrm>
            <a:off x="859536" y="48554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Visible evidence</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Start with the Modus setup page.</a:t>
            </a:r>
            <a:endParaRPr lang="en-US" sz="3100" dirty="0"/>
          </a:p>
        </p:txBody>
      </p:sp>
      <p:sp>
        <p:nvSpPr>
          <p:cNvPr id="5" name="Text 2"/>
          <p:cNvSpPr/>
          <p:nvPr/>
        </p:nvSpPr>
        <p:spPr>
          <a:xfrm>
            <a:off x="685800" y="1965960"/>
            <a:ext cx="10789920" cy="1691640"/>
          </a:xfrm>
          <a:prstGeom prst="rect">
            <a:avLst/>
          </a:prstGeom>
          <a:noFill/>
          <a:ln/>
        </p:spPr>
        <p:txBody>
          <a:bodyPr wrap="square" lIns="0" tIns="0" rIns="0" bIns="0" rtlCol="0" anchor="ctr">
            <a:normAutofit/>
          </a:bodyPr>
          <a:lstStyle/>
          <a:p>
            <a:pPr algn="ctr" indent="0" marL="0">
              <a:buNone/>
            </a:pPr>
            <a:r>
              <a:rPr lang="en-US" sz="3800" b="1" dirty="0">
                <a:solidFill>
                  <a:srgbClr val="F47F20"/>
                </a:solidFill>
                <a:latin typeface="Arial" pitchFamily="34" charset="0"/>
                <a:ea typeface="Arial" pitchFamily="34" charset="-122"/>
                <a:cs typeface="Arial" pitchFamily="34" charset="-120"/>
              </a:rPr>
              <a:t>One setup prompt adds the Modus docs, rules, and skills to Cursor.</a:t>
            </a:r>
            <a:endParaRPr lang="en-US" sz="3800" dirty="0"/>
          </a:p>
        </p:txBody>
      </p:sp>
      <p:sp>
        <p:nvSpPr>
          <p:cNvPr id="6" name="Text 3"/>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modus.trimble.com/setup</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Rules keep the same standards across requests.</a:t>
            </a:r>
            <a:endParaRPr lang="en-US" sz="3100" dirty="0"/>
          </a:p>
        </p:txBody>
      </p:sp>
      <p:sp>
        <p:nvSpPr>
          <p:cNvPr id="5" name="Shape 2"/>
          <p:cNvSpPr/>
          <p:nvPr/>
        </p:nvSpPr>
        <p:spPr>
          <a:xfrm>
            <a:off x="658368" y="1691640"/>
            <a:ext cx="5317236"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8562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Use Modus components</a:t>
            </a:r>
            <a:endParaRPr lang="en-US" sz="1800" dirty="0"/>
          </a:p>
        </p:txBody>
      </p:sp>
      <p:sp>
        <p:nvSpPr>
          <p:cNvPr id="7" name="Shape 4"/>
          <p:cNvSpPr/>
          <p:nvPr/>
        </p:nvSpPr>
        <p:spPr>
          <a:xfrm>
            <a:off x="6176772" y="1691640"/>
            <a:ext cx="5317236"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6377940" y="18562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Follow accessible patterns</a:t>
            </a:r>
            <a:endParaRPr lang="en-US" sz="1800" dirty="0"/>
          </a:p>
        </p:txBody>
      </p:sp>
      <p:sp>
        <p:nvSpPr>
          <p:cNvPr id="9" name="Shape 6"/>
          <p:cNvSpPr/>
          <p:nvPr/>
        </p:nvSpPr>
        <p:spPr>
          <a:xfrm>
            <a:off x="658368" y="3063240"/>
            <a:ext cx="5317236"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59536" y="32278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Use semantic tokens</a:t>
            </a:r>
            <a:endParaRPr lang="en-US" sz="1800" dirty="0"/>
          </a:p>
        </p:txBody>
      </p:sp>
      <p:sp>
        <p:nvSpPr>
          <p:cNvPr id="11" name="Shape 8"/>
          <p:cNvSpPr/>
          <p:nvPr/>
        </p:nvSpPr>
        <p:spPr>
          <a:xfrm>
            <a:off x="6176772" y="3063240"/>
            <a:ext cx="5317236"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6377940" y="32278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Avoid custom-CSS drift</a:t>
            </a:r>
            <a:endParaRPr lang="en-US" sz="1800" dirty="0"/>
          </a:p>
        </p:txBody>
      </p:sp>
      <p:sp>
        <p:nvSpPr>
          <p:cNvPr id="13" name="Shape 10"/>
          <p:cNvSpPr/>
          <p:nvPr/>
        </p:nvSpPr>
        <p:spPr>
          <a:xfrm>
            <a:off x="658368" y="4434840"/>
            <a:ext cx="5317236"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859536" y="45994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Respect framework integration</a:t>
            </a:r>
            <a:endParaRPr lang="en-US" sz="18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Skills show Agent how to handle common tasks.</a:t>
            </a:r>
            <a:endParaRPr lang="en-US" sz="3100" dirty="0"/>
          </a:p>
        </p:txBody>
      </p:sp>
      <p:sp>
        <p:nvSpPr>
          <p:cNvPr id="5" name="Shape 2"/>
          <p:cNvSpPr/>
          <p:nvPr/>
        </p:nvSpPr>
        <p:spPr>
          <a:xfrm>
            <a:off x="658368" y="1691640"/>
            <a:ext cx="5317236"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8562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Look up component contracts</a:t>
            </a:r>
            <a:endParaRPr lang="en-US" sz="1800" dirty="0"/>
          </a:p>
        </p:txBody>
      </p:sp>
      <p:sp>
        <p:nvSpPr>
          <p:cNvPr id="7" name="Shape 4"/>
          <p:cNvSpPr/>
          <p:nvPr/>
        </p:nvSpPr>
        <p:spPr>
          <a:xfrm>
            <a:off x="6176772" y="1691640"/>
            <a:ext cx="5317236"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6377940" y="18562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Build forms and tables</a:t>
            </a:r>
            <a:endParaRPr lang="en-US" sz="1800" dirty="0"/>
          </a:p>
        </p:txBody>
      </p:sp>
      <p:sp>
        <p:nvSpPr>
          <p:cNvPr id="9" name="Shape 6"/>
          <p:cNvSpPr/>
          <p:nvPr/>
        </p:nvSpPr>
        <p:spPr>
          <a:xfrm>
            <a:off x="658368" y="3063240"/>
            <a:ext cx="5317236"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59536" y="32278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Use icons correctly</a:t>
            </a:r>
            <a:endParaRPr lang="en-US" sz="1800" dirty="0"/>
          </a:p>
        </p:txBody>
      </p:sp>
      <p:sp>
        <p:nvSpPr>
          <p:cNvPr id="11" name="Shape 8"/>
          <p:cNvSpPr/>
          <p:nvPr/>
        </p:nvSpPr>
        <p:spPr>
          <a:xfrm>
            <a:off x="6176772" y="3063240"/>
            <a:ext cx="5317236"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6377940" y="32278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Apply Blueprint patterns</a:t>
            </a:r>
            <a:endParaRPr lang="en-US" sz="1800" dirty="0"/>
          </a:p>
        </p:txBody>
      </p:sp>
      <p:sp>
        <p:nvSpPr>
          <p:cNvPr id="13" name="Shape 10"/>
          <p:cNvSpPr/>
          <p:nvPr/>
        </p:nvSpPr>
        <p:spPr>
          <a:xfrm>
            <a:off x="658368" y="4434840"/>
            <a:ext cx="5317236"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859536" y="45994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Handle modal and navigation workflows</a:t>
            </a:r>
            <a:endParaRPr lang="en-US" sz="18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MCP lets Agent use information from other tools.</a:t>
            </a:r>
            <a:endParaRPr lang="en-US" sz="3100" dirty="0"/>
          </a:p>
        </p:txBody>
      </p:sp>
      <p:sp>
        <p:nvSpPr>
          <p:cNvPr id="5" name="Shape 2"/>
          <p:cNvSpPr/>
          <p:nvPr/>
        </p:nvSpPr>
        <p:spPr>
          <a:xfrm>
            <a:off x="658368" y="1691640"/>
            <a:ext cx="5317236"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8562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Modus Docs MCP</a:t>
            </a:r>
            <a:endParaRPr lang="en-US" sz="1800" dirty="0"/>
          </a:p>
        </p:txBody>
      </p:sp>
      <p:sp>
        <p:nvSpPr>
          <p:cNvPr id="7" name="Shape 4"/>
          <p:cNvSpPr/>
          <p:nvPr/>
        </p:nvSpPr>
        <p:spPr>
          <a:xfrm>
            <a:off x="6176772" y="1691640"/>
            <a:ext cx="5317236"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6377940" y="18562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Official Figma MCP</a:t>
            </a:r>
            <a:endParaRPr lang="en-US" sz="1800" dirty="0"/>
          </a:p>
        </p:txBody>
      </p:sp>
      <p:sp>
        <p:nvSpPr>
          <p:cNvPr id="9" name="Shape 6"/>
          <p:cNvSpPr/>
          <p:nvPr/>
        </p:nvSpPr>
        <p:spPr>
          <a:xfrm>
            <a:off x="658368" y="3063240"/>
            <a:ext cx="5317236"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59536" y="32278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Optional Notion / Linear / GitHub</a:t>
            </a:r>
            <a:endParaRPr lang="en-US" sz="1800" dirty="0"/>
          </a:p>
        </p:txBody>
      </p:sp>
      <p:sp>
        <p:nvSpPr>
          <p:cNvPr id="11" name="Shape 8"/>
          <p:cNvSpPr/>
          <p:nvPr/>
        </p:nvSpPr>
        <p:spPr>
          <a:xfrm>
            <a:off x="6176772" y="3063240"/>
            <a:ext cx="5317236"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6377940" y="322783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Version-aware component guidance</a:t>
            </a:r>
            <a:endParaRPr lang="en-US" sz="18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Bring a Figma selection into the same conversation.</a:t>
            </a:r>
            <a:endParaRPr lang="en-US" sz="3100" dirty="0"/>
          </a:p>
        </p:txBody>
      </p:sp>
      <p:sp>
        <p:nvSpPr>
          <p:cNvPr id="5" name="Shape 2"/>
          <p:cNvSpPr/>
          <p:nvPr/>
        </p:nvSpPr>
        <p:spPr>
          <a:xfrm>
            <a:off x="658368"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6" name="Text 3"/>
          <p:cNvSpPr/>
          <p:nvPr/>
        </p:nvSpPr>
        <p:spPr>
          <a:xfrm>
            <a:off x="76809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F47F20"/>
                </a:solidFill>
                <a:latin typeface="Arial" pitchFamily="34" charset="0"/>
                <a:ea typeface="Arial" pitchFamily="34" charset="-122"/>
                <a:cs typeface="Arial" pitchFamily="34" charset="-120"/>
              </a:rPr>
              <a:t>1</a:t>
            </a:r>
            <a:endParaRPr lang="en-US" sz="1000" dirty="0"/>
          </a:p>
        </p:txBody>
      </p:sp>
      <p:sp>
        <p:nvSpPr>
          <p:cNvPr id="7" name="Text 4"/>
          <p:cNvSpPr/>
          <p:nvPr/>
        </p:nvSpPr>
        <p:spPr>
          <a:xfrm>
            <a:off x="768096"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Use the Modus 2.0 library</a:t>
            </a:r>
            <a:endParaRPr lang="en-US" sz="1390" dirty="0"/>
          </a:p>
        </p:txBody>
      </p:sp>
      <p:sp>
        <p:nvSpPr>
          <p:cNvPr id="8" name="Shape 5"/>
          <p:cNvSpPr/>
          <p:nvPr/>
        </p:nvSpPr>
        <p:spPr>
          <a:xfrm>
            <a:off x="2482596"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9" name="Text 6"/>
          <p:cNvSpPr/>
          <p:nvPr/>
        </p:nvSpPr>
        <p:spPr>
          <a:xfrm>
            <a:off x="2592324"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F47F20"/>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2592324"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Copy a link to the selection</a:t>
            </a:r>
            <a:endParaRPr lang="en-US" sz="1390" dirty="0"/>
          </a:p>
        </p:txBody>
      </p:sp>
      <p:sp>
        <p:nvSpPr>
          <p:cNvPr id="11" name="Shape 8"/>
          <p:cNvSpPr/>
          <p:nvPr/>
        </p:nvSpPr>
        <p:spPr>
          <a:xfrm>
            <a:off x="4306824"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12" name="Text 9"/>
          <p:cNvSpPr/>
          <p:nvPr/>
        </p:nvSpPr>
        <p:spPr>
          <a:xfrm>
            <a:off x="4416552"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F47F20"/>
                </a:solidFill>
                <a:latin typeface="Arial" pitchFamily="34" charset="0"/>
                <a:ea typeface="Arial" pitchFamily="34" charset="-122"/>
                <a:cs typeface="Arial" pitchFamily="34" charset="-120"/>
              </a:rPr>
              <a:t>3</a:t>
            </a:r>
            <a:endParaRPr lang="en-US" sz="1000" dirty="0"/>
          </a:p>
        </p:txBody>
      </p:sp>
      <p:sp>
        <p:nvSpPr>
          <p:cNvPr id="13" name="Text 10"/>
          <p:cNvSpPr/>
          <p:nvPr/>
        </p:nvSpPr>
        <p:spPr>
          <a:xfrm>
            <a:off x="4416552"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Paste it into Agent</a:t>
            </a:r>
            <a:endParaRPr lang="en-US" sz="1390" dirty="0"/>
          </a:p>
        </p:txBody>
      </p:sp>
      <p:sp>
        <p:nvSpPr>
          <p:cNvPr id="14" name="Shape 11"/>
          <p:cNvSpPr/>
          <p:nvPr/>
        </p:nvSpPr>
        <p:spPr>
          <a:xfrm>
            <a:off x="6131052"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15" name="Text 12"/>
          <p:cNvSpPr/>
          <p:nvPr/>
        </p:nvSpPr>
        <p:spPr>
          <a:xfrm>
            <a:off x="624078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F47F20"/>
                </a:solidFill>
                <a:latin typeface="Arial" pitchFamily="34" charset="0"/>
                <a:ea typeface="Arial" pitchFamily="34" charset="-122"/>
                <a:cs typeface="Arial" pitchFamily="34" charset="-120"/>
              </a:rPr>
              <a:t>4</a:t>
            </a:r>
            <a:endParaRPr lang="en-US" sz="1000" dirty="0"/>
          </a:p>
        </p:txBody>
      </p:sp>
      <p:sp>
        <p:nvSpPr>
          <p:cNvPr id="16" name="Text 13"/>
          <p:cNvSpPr/>
          <p:nvPr/>
        </p:nvSpPr>
        <p:spPr>
          <a:xfrm>
            <a:off x="6240780"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Explain the goal and states</a:t>
            </a:r>
            <a:endParaRPr lang="en-US" sz="1390" dirty="0"/>
          </a:p>
        </p:txBody>
      </p:sp>
      <p:sp>
        <p:nvSpPr>
          <p:cNvPr id="17" name="Shape 14"/>
          <p:cNvSpPr/>
          <p:nvPr/>
        </p:nvSpPr>
        <p:spPr>
          <a:xfrm>
            <a:off x="7955280"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18" name="Text 15"/>
          <p:cNvSpPr/>
          <p:nvPr/>
        </p:nvSpPr>
        <p:spPr>
          <a:xfrm>
            <a:off x="8065008"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F47F20"/>
                </a:solidFill>
                <a:latin typeface="Arial" pitchFamily="34" charset="0"/>
                <a:ea typeface="Arial" pitchFamily="34" charset="-122"/>
                <a:cs typeface="Arial" pitchFamily="34" charset="-120"/>
              </a:rPr>
              <a:t>5</a:t>
            </a:r>
            <a:endParaRPr lang="en-US" sz="1000" dirty="0"/>
          </a:p>
        </p:txBody>
      </p:sp>
      <p:sp>
        <p:nvSpPr>
          <p:cNvPr id="19" name="Text 16"/>
          <p:cNvSpPr/>
          <p:nvPr/>
        </p:nvSpPr>
        <p:spPr>
          <a:xfrm>
            <a:off x="8065008"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Run it in Preview</a:t>
            </a:r>
            <a:endParaRPr lang="en-US" sz="1390" dirty="0"/>
          </a:p>
        </p:txBody>
      </p:sp>
      <p:sp>
        <p:nvSpPr>
          <p:cNvPr id="20" name="Shape 17"/>
          <p:cNvSpPr/>
          <p:nvPr/>
        </p:nvSpPr>
        <p:spPr>
          <a:xfrm>
            <a:off x="9779508"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21" name="Text 18"/>
          <p:cNvSpPr/>
          <p:nvPr/>
        </p:nvSpPr>
        <p:spPr>
          <a:xfrm>
            <a:off x="988923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F47F20"/>
                </a:solidFill>
                <a:latin typeface="Arial" pitchFamily="34" charset="0"/>
                <a:ea typeface="Arial" pitchFamily="34" charset="-122"/>
                <a:cs typeface="Arial" pitchFamily="34" charset="-120"/>
              </a:rPr>
              <a:t>6</a:t>
            </a:r>
            <a:endParaRPr lang="en-US" sz="1000" dirty="0"/>
          </a:p>
        </p:txBody>
      </p:sp>
      <p:sp>
        <p:nvSpPr>
          <p:cNvPr id="22" name="Text 19"/>
          <p:cNvSpPr/>
          <p:nvPr/>
        </p:nvSpPr>
        <p:spPr>
          <a:xfrm>
            <a:off x="9889236"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Compare and adjust</a:t>
            </a:r>
            <a:endParaRPr lang="en-US" sz="1390" dirty="0"/>
          </a:p>
        </p:txBody>
      </p:sp>
      <p:sp>
        <p:nvSpPr>
          <p:cNvPr id="23" name="Text 20"/>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Install the official Figma plugin in Agent: /add-plugin figma</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Add other connections only when your team needs them.</a:t>
            </a:r>
            <a:endParaRPr lang="en-US" sz="3100" dirty="0"/>
          </a:p>
        </p:txBody>
      </p:sp>
      <p:sp>
        <p:nvSpPr>
          <p:cNvPr id="5" name="Shape 2"/>
          <p:cNvSpPr/>
          <p:nvPr/>
        </p:nvSpPr>
        <p:spPr>
          <a:xfrm>
            <a:off x="658368" y="1600200"/>
            <a:ext cx="5317236"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7647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Notion MCP</a:t>
            </a:r>
            <a:endParaRPr lang="en-US" sz="1700" dirty="0"/>
          </a:p>
        </p:txBody>
      </p:sp>
      <p:sp>
        <p:nvSpPr>
          <p:cNvPr id="7" name="Text 4"/>
          <p:cNvSpPr/>
          <p:nvPr/>
        </p:nvSpPr>
        <p:spPr>
          <a:xfrm>
            <a:off x="859536" y="21122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Bring requirements into Agent</a:t>
            </a:r>
            <a:endParaRPr lang="en-US" sz="1250" dirty="0"/>
          </a:p>
        </p:txBody>
      </p:sp>
      <p:sp>
        <p:nvSpPr>
          <p:cNvPr id="8" name="Shape 5"/>
          <p:cNvSpPr/>
          <p:nvPr/>
        </p:nvSpPr>
        <p:spPr>
          <a:xfrm>
            <a:off x="6176772" y="1600200"/>
            <a:ext cx="5317236" cy="1170432"/>
          </a:xfrm>
          <a:prstGeom prst="roundRect">
            <a:avLst>
              <a:gd name="adj" fmla="val 6250"/>
            </a:avLst>
          </a:prstGeom>
          <a:solidFill>
            <a:srgbClr val="FFFFFF"/>
          </a:solidFill>
          <a:ln w="12700">
            <a:solidFill>
              <a:srgbClr val="FFFFFF">
                <a:alpha val="0"/>
              </a:srgbClr>
            </a:solidFill>
            <a:prstDash val="solid"/>
          </a:ln>
        </p:spPr>
      </p:sp>
      <p:sp>
        <p:nvSpPr>
          <p:cNvPr id="9" name="Text 6"/>
          <p:cNvSpPr/>
          <p:nvPr/>
        </p:nvSpPr>
        <p:spPr>
          <a:xfrm>
            <a:off x="6377940" y="17647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Linear / Jira</a:t>
            </a:r>
            <a:endParaRPr lang="en-US" sz="1700" dirty="0"/>
          </a:p>
        </p:txBody>
      </p:sp>
      <p:sp>
        <p:nvSpPr>
          <p:cNvPr id="10" name="Text 7"/>
          <p:cNvSpPr/>
          <p:nvPr/>
        </p:nvSpPr>
        <p:spPr>
          <a:xfrm>
            <a:off x="6377940" y="21122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Use tickets as the brief</a:t>
            </a:r>
            <a:endParaRPr lang="en-US" sz="1250" dirty="0"/>
          </a:p>
        </p:txBody>
      </p:sp>
      <p:sp>
        <p:nvSpPr>
          <p:cNvPr id="11" name="Shape 8"/>
          <p:cNvSpPr/>
          <p:nvPr/>
        </p:nvSpPr>
        <p:spPr>
          <a:xfrm>
            <a:off x="658368" y="2971800"/>
            <a:ext cx="5317236"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1363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GitHub MCP</a:t>
            </a:r>
            <a:endParaRPr lang="en-US" sz="1700" dirty="0"/>
          </a:p>
        </p:txBody>
      </p:sp>
      <p:sp>
        <p:nvSpPr>
          <p:cNvPr id="13" name="Text 10"/>
          <p:cNvSpPr/>
          <p:nvPr/>
        </p:nvSpPr>
        <p:spPr>
          <a:xfrm>
            <a:off x="859536" y="34838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Read project work and later delivery</a:t>
            </a:r>
            <a:endParaRPr lang="en-US" sz="1250" dirty="0"/>
          </a:p>
        </p:txBody>
      </p:sp>
      <p:sp>
        <p:nvSpPr>
          <p:cNvPr id="14" name="Shape 11"/>
          <p:cNvSpPr/>
          <p:nvPr/>
        </p:nvSpPr>
        <p:spPr>
          <a:xfrm>
            <a:off x="6176772" y="2971800"/>
            <a:ext cx="5317236" cy="1170432"/>
          </a:xfrm>
          <a:prstGeom prst="roundRect">
            <a:avLst>
              <a:gd name="adj" fmla="val 6250"/>
            </a:avLst>
          </a:prstGeom>
          <a:solidFill>
            <a:srgbClr val="FFFFFF"/>
          </a:solidFill>
          <a:ln w="12700">
            <a:solidFill>
              <a:srgbClr val="FFFFFF">
                <a:alpha val="0"/>
              </a:srgbClr>
            </a:solidFill>
            <a:prstDash val="solid"/>
          </a:ln>
        </p:spPr>
      </p:sp>
      <p:sp>
        <p:nvSpPr>
          <p:cNvPr id="15" name="Text 12"/>
          <p:cNvSpPr/>
          <p:nvPr/>
        </p:nvSpPr>
        <p:spPr>
          <a:xfrm>
            <a:off x="6377940" y="31363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Image generation</a:t>
            </a:r>
            <a:endParaRPr lang="en-US" sz="1700" dirty="0"/>
          </a:p>
        </p:txBody>
      </p:sp>
      <p:sp>
        <p:nvSpPr>
          <p:cNvPr id="16" name="Text 13"/>
          <p:cNvSpPr/>
          <p:nvPr/>
        </p:nvSpPr>
        <p:spPr>
          <a:xfrm>
            <a:off x="6377940" y="34838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Temporary concept assets</a:t>
            </a:r>
            <a:endParaRPr lang="en-US" sz="1250" dirty="0"/>
          </a:p>
        </p:txBody>
      </p:sp>
      <p:sp>
        <p:nvSpPr>
          <p:cNvPr id="17" name="Shape 14"/>
          <p:cNvSpPr/>
          <p:nvPr/>
        </p:nvSpPr>
        <p:spPr>
          <a:xfrm>
            <a:off x="658368" y="4343400"/>
            <a:ext cx="5317236" cy="1170432"/>
          </a:xfrm>
          <a:prstGeom prst="roundRect">
            <a:avLst>
              <a:gd name="adj" fmla="val 6250"/>
            </a:avLst>
          </a:prstGeom>
          <a:solidFill>
            <a:srgbClr val="FFFFFF"/>
          </a:solidFill>
          <a:ln w="12700">
            <a:solidFill>
              <a:srgbClr val="FFFFFF">
                <a:alpha val="0"/>
              </a:srgbClr>
            </a:solidFill>
            <a:prstDash val="solid"/>
          </a:ln>
        </p:spPr>
      </p:sp>
      <p:sp>
        <p:nvSpPr>
          <p:cNvPr id="18" name="Text 15"/>
          <p:cNvSpPr/>
          <p:nvPr/>
        </p:nvSpPr>
        <p:spPr>
          <a:xfrm>
            <a:off x="859536" y="4507992"/>
            <a:ext cx="4914900"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Team marketplace</a:t>
            </a:r>
            <a:endParaRPr lang="en-US" sz="1700" dirty="0"/>
          </a:p>
        </p:txBody>
      </p:sp>
      <p:sp>
        <p:nvSpPr>
          <p:cNvPr id="19" name="Text 16"/>
          <p:cNvSpPr/>
          <p:nvPr/>
        </p:nvSpPr>
        <p:spPr>
          <a:xfrm>
            <a:off x="859536" y="4855464"/>
            <a:ext cx="4914900"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Approved shared plugins</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First full assessment: use the connected workflow</a:t>
            </a:r>
            <a:endParaRPr lang="en-US" sz="3100" dirty="0"/>
          </a:p>
        </p:txBody>
      </p:sp>
      <p:sp>
        <p:nvSpPr>
          <p:cNvPr id="5" name="Shape 2"/>
          <p:cNvSpPr/>
          <p:nvPr/>
        </p:nvSpPr>
        <p:spPr>
          <a:xfrm>
            <a:off x="868680" y="1691640"/>
            <a:ext cx="5257800" cy="749808"/>
          </a:xfrm>
          <a:prstGeom prst="roundRect">
            <a:avLst>
              <a:gd name="adj" fmla="val 9756"/>
            </a:avLst>
          </a:prstGeom>
          <a:solidFill>
            <a:srgbClr val="DDEFE6"/>
          </a:solidFill>
          <a:ln w="12700">
            <a:solidFill>
              <a:srgbClr val="DDEFE6">
                <a:alpha val="0"/>
              </a:srgbClr>
            </a:solidFill>
            <a:prstDash val="solid"/>
          </a:ln>
        </p:spPr>
      </p:sp>
      <p:sp>
        <p:nvSpPr>
          <p:cNvPr id="6" name="Text 3"/>
          <p:cNvSpPr/>
          <p:nvPr/>
        </p:nvSpPr>
        <p:spPr>
          <a:xfrm>
            <a:off x="10332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7" name="Text 4"/>
          <p:cNvSpPr/>
          <p:nvPr/>
        </p:nvSpPr>
        <p:spPr>
          <a:xfrm>
            <a:off x="1490472" y="182880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Modus setup is complete</a:t>
            </a:r>
            <a:endParaRPr lang="en-US" sz="1450" dirty="0"/>
          </a:p>
        </p:txBody>
      </p:sp>
      <p:sp>
        <p:nvSpPr>
          <p:cNvPr id="8" name="Shape 5"/>
          <p:cNvSpPr/>
          <p:nvPr/>
        </p:nvSpPr>
        <p:spPr>
          <a:xfrm>
            <a:off x="6355080" y="1691640"/>
            <a:ext cx="5257800" cy="749808"/>
          </a:xfrm>
          <a:prstGeom prst="roundRect">
            <a:avLst>
              <a:gd name="adj" fmla="val 9756"/>
            </a:avLst>
          </a:prstGeom>
          <a:solidFill>
            <a:srgbClr val="DDEFE6"/>
          </a:solidFill>
          <a:ln w="12700">
            <a:solidFill>
              <a:srgbClr val="DDEFE6">
                <a:alpha val="0"/>
              </a:srgbClr>
            </a:solidFill>
            <a:prstDash val="solid"/>
          </a:ln>
        </p:spPr>
      </p:sp>
      <p:sp>
        <p:nvSpPr>
          <p:cNvPr id="9" name="Text 6"/>
          <p:cNvSpPr/>
          <p:nvPr/>
        </p:nvSpPr>
        <p:spPr>
          <a:xfrm>
            <a:off x="65196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0" name="Text 7"/>
          <p:cNvSpPr/>
          <p:nvPr/>
        </p:nvSpPr>
        <p:spPr>
          <a:xfrm>
            <a:off x="6976872" y="182880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Figma is connected</a:t>
            </a:r>
            <a:endParaRPr lang="en-US" sz="1450" dirty="0"/>
          </a:p>
        </p:txBody>
      </p:sp>
      <p:sp>
        <p:nvSpPr>
          <p:cNvPr id="11" name="Shape 8"/>
          <p:cNvSpPr/>
          <p:nvPr/>
        </p:nvSpPr>
        <p:spPr>
          <a:xfrm>
            <a:off x="868680" y="2849880"/>
            <a:ext cx="5257800" cy="749808"/>
          </a:xfrm>
          <a:prstGeom prst="roundRect">
            <a:avLst>
              <a:gd name="adj" fmla="val 9756"/>
            </a:avLst>
          </a:prstGeom>
          <a:solidFill>
            <a:srgbClr val="DDEFE6"/>
          </a:solidFill>
          <a:ln w="12700">
            <a:solidFill>
              <a:srgbClr val="DDEFE6">
                <a:alpha val="0"/>
              </a:srgbClr>
            </a:solidFill>
            <a:prstDash val="solid"/>
          </a:ln>
        </p:spPr>
      </p:sp>
      <p:sp>
        <p:nvSpPr>
          <p:cNvPr id="12" name="Text 9"/>
          <p:cNvSpPr/>
          <p:nvPr/>
        </p:nvSpPr>
        <p:spPr>
          <a:xfrm>
            <a:off x="1033272" y="30327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3" name="Text 10"/>
          <p:cNvSpPr/>
          <p:nvPr/>
        </p:nvSpPr>
        <p:spPr>
          <a:xfrm>
            <a:off x="1490472" y="298704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used a link to a Figma selection</a:t>
            </a:r>
            <a:endParaRPr lang="en-US" sz="1450" dirty="0"/>
          </a:p>
        </p:txBody>
      </p:sp>
      <p:sp>
        <p:nvSpPr>
          <p:cNvPr id="14" name="Shape 11"/>
          <p:cNvSpPr/>
          <p:nvPr/>
        </p:nvSpPr>
        <p:spPr>
          <a:xfrm>
            <a:off x="6355080" y="2849880"/>
            <a:ext cx="5257800" cy="749808"/>
          </a:xfrm>
          <a:prstGeom prst="roundRect">
            <a:avLst>
              <a:gd name="adj" fmla="val 9756"/>
            </a:avLst>
          </a:prstGeom>
          <a:solidFill>
            <a:srgbClr val="DDEFE6"/>
          </a:solidFill>
          <a:ln w="12700">
            <a:solidFill>
              <a:srgbClr val="DDEFE6">
                <a:alpha val="0"/>
              </a:srgbClr>
            </a:solidFill>
            <a:prstDash val="solid"/>
          </a:ln>
        </p:spPr>
      </p:sp>
      <p:sp>
        <p:nvSpPr>
          <p:cNvPr id="15" name="Text 12"/>
          <p:cNvSpPr/>
          <p:nvPr/>
        </p:nvSpPr>
        <p:spPr>
          <a:xfrm>
            <a:off x="6519672" y="30327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6" name="Text 13"/>
          <p:cNvSpPr/>
          <p:nvPr/>
        </p:nvSpPr>
        <p:spPr>
          <a:xfrm>
            <a:off x="6976872" y="298704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Agent checked the page in Preview</a:t>
            </a:r>
            <a:endParaRPr lang="en-US" sz="1450" dirty="0"/>
          </a:p>
        </p:txBody>
      </p:sp>
      <p:sp>
        <p:nvSpPr>
          <p:cNvPr id="17" name="Shape 14"/>
          <p:cNvSpPr/>
          <p:nvPr/>
        </p:nvSpPr>
        <p:spPr>
          <a:xfrm>
            <a:off x="868680" y="4008120"/>
            <a:ext cx="5257800" cy="749808"/>
          </a:xfrm>
          <a:prstGeom prst="roundRect">
            <a:avLst>
              <a:gd name="adj" fmla="val 9756"/>
            </a:avLst>
          </a:prstGeom>
          <a:solidFill>
            <a:srgbClr val="DDEFE6"/>
          </a:solidFill>
          <a:ln w="12700">
            <a:solidFill>
              <a:srgbClr val="DDEFE6">
                <a:alpha val="0"/>
              </a:srgbClr>
            </a:solidFill>
            <a:prstDash val="solid"/>
          </a:ln>
        </p:spPr>
      </p:sp>
      <p:sp>
        <p:nvSpPr>
          <p:cNvPr id="18" name="Text 15"/>
          <p:cNvSpPr/>
          <p:nvPr/>
        </p:nvSpPr>
        <p:spPr>
          <a:xfrm>
            <a:off x="1033272" y="41910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9" name="Text 16"/>
          <p:cNvSpPr/>
          <p:nvPr/>
        </p:nvSpPr>
        <p:spPr>
          <a:xfrm>
            <a:off x="1490472" y="414528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can restore a Checkpoint</a:t>
            </a:r>
            <a:endParaRPr lang="en-US" sz="1450" dirty="0"/>
          </a:p>
        </p:txBody>
      </p:sp>
      <p:sp>
        <p:nvSpPr>
          <p:cNvPr id="20" name="Shape 17"/>
          <p:cNvSpPr/>
          <p:nvPr/>
        </p:nvSpPr>
        <p:spPr>
          <a:xfrm>
            <a:off x="6355080" y="4008120"/>
            <a:ext cx="5257800" cy="749808"/>
          </a:xfrm>
          <a:prstGeom prst="roundRect">
            <a:avLst>
              <a:gd name="adj" fmla="val 9756"/>
            </a:avLst>
          </a:prstGeom>
          <a:solidFill>
            <a:srgbClr val="DDEFE6"/>
          </a:solidFill>
          <a:ln w="12700">
            <a:solidFill>
              <a:srgbClr val="DDEFE6">
                <a:alpha val="0"/>
              </a:srgbClr>
            </a:solidFill>
            <a:prstDash val="solid"/>
          </a:ln>
        </p:spPr>
      </p:sp>
      <p:sp>
        <p:nvSpPr>
          <p:cNvPr id="21" name="Text 18"/>
          <p:cNvSpPr/>
          <p:nvPr/>
        </p:nvSpPr>
        <p:spPr>
          <a:xfrm>
            <a:off x="6519672" y="41910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22" name="Text 19"/>
          <p:cNvSpPr/>
          <p:nvPr/>
        </p:nvSpPr>
        <p:spPr>
          <a:xfrm>
            <a:off x="6976872" y="414528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interaction still works</a:t>
            </a:r>
            <a:endParaRPr lang="en-US" sz="1450" dirty="0"/>
          </a:p>
        </p:txBody>
      </p:sp>
      <p:sp>
        <p:nvSpPr>
          <p:cNvPr id="23" name="Text 20"/>
          <p:cNvSpPr/>
          <p:nvPr/>
        </p:nvSpPr>
        <p:spPr>
          <a:xfrm>
            <a:off x="868680" y="5806440"/>
            <a:ext cx="10332720" cy="384048"/>
          </a:xfrm>
          <a:prstGeom prst="rect">
            <a:avLst/>
          </a:prstGeom>
          <a:noFill/>
          <a:ln/>
        </p:spPr>
        <p:txBody>
          <a:bodyPr wrap="square" lIns="0" tIns="0" rIns="0" bIns="0" rtlCol="0" anchor="ctr">
            <a:normAutofit/>
          </a:bodyPr>
          <a:lstStyle/>
          <a:p>
            <a:pPr algn="ctr" indent="0" marL="0">
              <a:buNone/>
            </a:pPr>
            <a:r>
              <a:rPr lang="en-US" sz="1400" b="1" dirty="0">
                <a:solidFill>
                  <a:srgbClr val="2D7A58"/>
                </a:solidFill>
                <a:latin typeface="Arial" pitchFamily="34" charset="0"/>
                <a:ea typeface="Arial" pitchFamily="34" charset="-122"/>
                <a:cs typeface="Arial" pitchFamily="34" charset="-120"/>
              </a:rPr>
              <a:t>Goal: complete the workflow with little or no facilitator help</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F47F20"/>
                </a:solidFill>
                <a:latin typeface="Arial" pitchFamily="34" charset="0"/>
                <a:ea typeface="Arial" pitchFamily="34" charset="-122"/>
                <a:cs typeface="Arial" pitchFamily="34" charset="-120"/>
              </a:rPr>
              <a:t>PHASE 3</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What helped? What still needed your input?</a:t>
            </a:r>
            <a:endParaRPr lang="en-US" sz="3100" dirty="0"/>
          </a:p>
        </p:txBody>
      </p:sp>
      <p:sp>
        <p:nvSpPr>
          <p:cNvPr id="5" name="Shape 2"/>
          <p:cNvSpPr/>
          <p:nvPr/>
        </p:nvSpPr>
        <p:spPr>
          <a:xfrm>
            <a:off x="658368" y="1737360"/>
            <a:ext cx="5317236"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90195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What changed after adding Modus context?</a:t>
            </a:r>
            <a:endParaRPr lang="en-US" sz="1800" dirty="0"/>
          </a:p>
        </p:txBody>
      </p:sp>
      <p:sp>
        <p:nvSpPr>
          <p:cNvPr id="7" name="Shape 4"/>
          <p:cNvSpPr/>
          <p:nvPr/>
        </p:nvSpPr>
        <p:spPr>
          <a:xfrm>
            <a:off x="6176772" y="1737360"/>
            <a:ext cx="5317236"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6377940" y="190195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Where did Agent still guess?</a:t>
            </a:r>
            <a:endParaRPr lang="en-US" sz="1800" dirty="0"/>
          </a:p>
        </p:txBody>
      </p:sp>
      <p:sp>
        <p:nvSpPr>
          <p:cNvPr id="9" name="Shape 6"/>
          <p:cNvSpPr/>
          <p:nvPr/>
        </p:nvSpPr>
        <p:spPr>
          <a:xfrm>
            <a:off x="658368" y="3108960"/>
            <a:ext cx="5317236"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59536" y="327355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What did Preview help you catch?</a:t>
            </a:r>
            <a:endParaRPr lang="en-US" sz="1800" dirty="0"/>
          </a:p>
        </p:txBody>
      </p:sp>
      <p:sp>
        <p:nvSpPr>
          <p:cNvPr id="11" name="Shape 8"/>
          <p:cNvSpPr/>
          <p:nvPr/>
        </p:nvSpPr>
        <p:spPr>
          <a:xfrm>
            <a:off x="6176772" y="3108960"/>
            <a:ext cx="5317236"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6377940" y="3273552"/>
            <a:ext cx="4914900"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Which decisions were still yours?</a:t>
            </a:r>
            <a:endParaRPr lang="en-US" sz="1800" dirty="0"/>
          </a:p>
        </p:txBody>
      </p:sp>
      <p:sp>
        <p:nvSpPr>
          <p:cNvPr id="13" name="Text 10"/>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Tomorrow we’ll use the same workflow to build and check the Modus version.</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D7A58"/>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2D7A58"/>
          </a:solidFill>
          <a:ln w="12700">
            <a:solidFill>
              <a:srgbClr val="333333">
                <a:alpha val="0"/>
              </a:srgbClr>
            </a:solidFill>
            <a:prstDash val="solid"/>
          </a:ln>
        </p:spPr>
      </p:sp>
      <p:sp>
        <p:nvSpPr>
          <p:cNvPr id="4" name="Shape 1"/>
          <p:cNvSpPr/>
          <p:nvPr/>
        </p:nvSpPr>
        <p:spPr>
          <a:xfrm rot="1800000">
            <a:off x="7772400" y="-914400"/>
            <a:ext cx="5212080" cy="5212080"/>
          </a:xfrm>
          <a:prstGeom prst="arc">
            <a:avLst/>
          </a:prstGeom>
          <a:solidFill>
            <a:srgbClr val="F9C74F">
              <a:alpha val="98000"/>
            </a:srgbClr>
          </a:solidFill>
          <a:ln w="12700">
            <a:solidFill>
              <a:srgbClr val="333333">
                <a:alpha val="0"/>
              </a:srgbClr>
            </a:solidFill>
            <a:prstDash val="solid"/>
          </a:ln>
        </p:spPr>
      </p:sp>
      <p:sp>
        <p:nvSpPr>
          <p:cNvPr id="5" name="Text 2"/>
          <p:cNvSpPr/>
          <p:nvPr/>
        </p:nvSpPr>
        <p:spPr>
          <a:xfrm>
            <a:off x="731520" y="658368"/>
            <a:ext cx="2743200" cy="274320"/>
          </a:xfrm>
          <a:prstGeom prst="rect">
            <a:avLst/>
          </a:prstGeom>
          <a:noFill/>
          <a:ln/>
        </p:spPr>
        <p:txBody>
          <a:bodyPr wrap="square" lIns="0" tIns="0" rIns="0" bIns="0" rtlCol="0" anchor="ctr">
            <a:normAutofit/>
          </a:bodyPr>
          <a:lstStyle/>
          <a:p>
            <a:pPr indent="0" marL="0">
              <a:buNone/>
            </a:pPr>
            <a:r>
              <a:rPr lang="en-US" sz="1100" b="1" spc="200" kern="0" dirty="0">
                <a:solidFill>
                  <a:srgbClr val="F9C74F"/>
                </a:solidFill>
                <a:latin typeface="Arial" pitchFamily="34" charset="0"/>
                <a:ea typeface="Arial" pitchFamily="34" charset="-122"/>
                <a:cs typeface="Arial" pitchFamily="34" charset="-120"/>
              </a:rPr>
              <a:t>PHASE 4</a:t>
            </a:r>
            <a:endParaRPr lang="en-US" sz="1100" dirty="0"/>
          </a:p>
        </p:txBody>
      </p:sp>
      <p:sp>
        <p:nvSpPr>
          <p:cNvPr id="6" name="Text 3"/>
          <p:cNvSpPr/>
          <p:nvPr/>
        </p:nvSpPr>
        <p:spPr>
          <a:xfrm>
            <a:off x="731520" y="1828800"/>
            <a:ext cx="8961120" cy="1005840"/>
          </a:xfrm>
          <a:prstGeom prst="rect">
            <a:avLst/>
          </a:prstGeom>
          <a:noFill/>
          <a:ln/>
        </p:spPr>
        <p:txBody>
          <a:bodyPr wrap="square" lIns="0" tIns="0" rIns="0" bIns="0" rtlCol="0" anchor="t">
            <a:normAutofit/>
          </a:bodyPr>
          <a:lstStyle/>
          <a:p>
            <a:pPr indent="0" marL="0">
              <a:buNone/>
            </a:pPr>
            <a:r>
              <a:rPr lang="en-US" sz="4200" b="1" dirty="0">
                <a:solidFill>
                  <a:srgbClr val="FFFFFF"/>
                </a:solidFill>
                <a:latin typeface="Arial" pitchFamily="34" charset="0"/>
                <a:ea typeface="Arial" pitchFamily="34" charset="-122"/>
                <a:cs typeface="Arial" pitchFamily="34" charset="-120"/>
              </a:rPr>
              <a:t>Phase 4</a:t>
            </a:r>
            <a:endParaRPr lang="en-US" sz="4200" dirty="0"/>
          </a:p>
        </p:txBody>
      </p:sp>
      <p:sp>
        <p:nvSpPr>
          <p:cNvPr id="7" name="Text 4"/>
          <p:cNvSpPr/>
          <p:nvPr/>
        </p:nvSpPr>
        <p:spPr>
          <a:xfrm>
            <a:off x="749808" y="3090672"/>
            <a:ext cx="8412480" cy="685800"/>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Build and check the Modus version</a:t>
            </a:r>
            <a:endParaRPr lang="en-US" sz="2400" dirty="0"/>
          </a:p>
        </p:txBody>
      </p:sp>
      <p:sp>
        <p:nvSpPr>
          <p:cNvPr id="8" name="Text 5"/>
          <p:cNvSpPr/>
          <p:nvPr/>
        </p:nvSpPr>
        <p:spPr>
          <a:xfrm>
            <a:off x="749808" y="5440680"/>
            <a:ext cx="5486400" cy="384048"/>
          </a:xfrm>
          <a:prstGeom prst="rect">
            <a:avLst/>
          </a:prstGeom>
          <a:noFill/>
          <a:ln/>
        </p:spPr>
        <p:txBody>
          <a:bodyPr wrap="square" lIns="0" tIns="0" rIns="0" bIns="0" rtlCol="0" anchor="ctr">
            <a:normAutofit/>
          </a:bodyPr>
          <a:lstStyle/>
          <a:p>
            <a:pPr indent="0" marL="0">
              <a:buNone/>
            </a:pPr>
            <a:r>
              <a:rPr lang="en-US" sz="1300" b="1" dirty="0">
                <a:solidFill>
                  <a:srgbClr val="F9C74F"/>
                </a:solidFill>
                <a:latin typeface="Arial" pitchFamily="34" charset="0"/>
                <a:ea typeface="Arial" pitchFamily="34" charset="-122"/>
                <a:cs typeface="Arial" pitchFamily="34" charset="-120"/>
              </a:rPr>
              <a:t>Day 2 · Morning</a:t>
            </a:r>
            <a:endParaRPr lang="en-US" sz="13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Use the Modus site as your reference.</a:t>
            </a:r>
            <a:endParaRPr lang="en-US" sz="3100" dirty="0"/>
          </a:p>
        </p:txBody>
      </p:sp>
      <p:sp>
        <p:nvSpPr>
          <p:cNvPr id="5" name="Shape 2"/>
          <p:cNvSpPr/>
          <p:nvPr/>
        </p:nvSpPr>
        <p:spPr>
          <a:xfrm>
            <a:off x="658368" y="160020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764792"/>
            <a:ext cx="3075432"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Foundations</a:t>
            </a:r>
            <a:endParaRPr lang="en-US" sz="1700" dirty="0"/>
          </a:p>
        </p:txBody>
      </p:sp>
      <p:sp>
        <p:nvSpPr>
          <p:cNvPr id="7" name="Text 4"/>
          <p:cNvSpPr/>
          <p:nvPr/>
        </p:nvSpPr>
        <p:spPr>
          <a:xfrm>
            <a:off x="859536" y="2112264"/>
            <a:ext cx="3075432"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Type, color, space, breakpoints</a:t>
            </a:r>
            <a:endParaRPr lang="en-US" sz="1250" dirty="0"/>
          </a:p>
        </p:txBody>
      </p:sp>
      <p:sp>
        <p:nvSpPr>
          <p:cNvPr id="8" name="Shape 5"/>
          <p:cNvSpPr/>
          <p:nvPr/>
        </p:nvSpPr>
        <p:spPr>
          <a:xfrm>
            <a:off x="4337304" y="1600200"/>
            <a:ext cx="3477768" cy="1170432"/>
          </a:xfrm>
          <a:prstGeom prst="roundRect">
            <a:avLst>
              <a:gd name="adj" fmla="val 6250"/>
            </a:avLst>
          </a:prstGeom>
          <a:solidFill>
            <a:srgbClr val="FFFFFF"/>
          </a:solidFill>
          <a:ln w="12700">
            <a:solidFill>
              <a:srgbClr val="FFFFFF">
                <a:alpha val="0"/>
              </a:srgbClr>
            </a:solidFill>
            <a:prstDash val="solid"/>
          </a:ln>
        </p:spPr>
      </p:sp>
      <p:sp>
        <p:nvSpPr>
          <p:cNvPr id="9" name="Text 6"/>
          <p:cNvSpPr/>
          <p:nvPr/>
        </p:nvSpPr>
        <p:spPr>
          <a:xfrm>
            <a:off x="4538472" y="1764792"/>
            <a:ext cx="3075432"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Components</a:t>
            </a:r>
            <a:endParaRPr lang="en-US" sz="1700" dirty="0"/>
          </a:p>
        </p:txBody>
      </p:sp>
      <p:sp>
        <p:nvSpPr>
          <p:cNvPr id="10" name="Text 7"/>
          <p:cNvSpPr/>
          <p:nvPr/>
        </p:nvSpPr>
        <p:spPr>
          <a:xfrm>
            <a:off x="4538472" y="2112264"/>
            <a:ext cx="3075432"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Production controls</a:t>
            </a:r>
            <a:endParaRPr lang="en-US" sz="1250" dirty="0"/>
          </a:p>
        </p:txBody>
      </p:sp>
      <p:sp>
        <p:nvSpPr>
          <p:cNvPr id="11" name="Shape 8"/>
          <p:cNvSpPr/>
          <p:nvPr/>
        </p:nvSpPr>
        <p:spPr>
          <a:xfrm>
            <a:off x="8016240" y="160020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217408" y="1764792"/>
            <a:ext cx="3075432"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Patterns</a:t>
            </a:r>
            <a:endParaRPr lang="en-US" sz="1700" dirty="0"/>
          </a:p>
        </p:txBody>
      </p:sp>
      <p:sp>
        <p:nvSpPr>
          <p:cNvPr id="13" name="Text 10"/>
          <p:cNvSpPr/>
          <p:nvPr/>
        </p:nvSpPr>
        <p:spPr>
          <a:xfrm>
            <a:off x="8217408" y="2112264"/>
            <a:ext cx="3075432"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Composable interactions</a:t>
            </a:r>
            <a:endParaRPr lang="en-US" sz="1250" dirty="0"/>
          </a:p>
        </p:txBody>
      </p:sp>
      <p:sp>
        <p:nvSpPr>
          <p:cNvPr id="14" name="Shape 11"/>
          <p:cNvSpPr/>
          <p:nvPr/>
        </p:nvSpPr>
        <p:spPr>
          <a:xfrm>
            <a:off x="658368" y="2971800"/>
            <a:ext cx="3477768" cy="1170432"/>
          </a:xfrm>
          <a:prstGeom prst="roundRect">
            <a:avLst>
              <a:gd name="adj" fmla="val 6250"/>
            </a:avLst>
          </a:prstGeom>
          <a:solidFill>
            <a:srgbClr val="FFFFFF"/>
          </a:solidFill>
          <a:ln w="12700">
            <a:solidFill>
              <a:srgbClr val="FFFFFF">
                <a:alpha val="0"/>
              </a:srgbClr>
            </a:solidFill>
            <a:prstDash val="solid"/>
          </a:ln>
        </p:spPr>
      </p:sp>
      <p:sp>
        <p:nvSpPr>
          <p:cNvPr id="15" name="Text 12"/>
          <p:cNvSpPr/>
          <p:nvPr/>
        </p:nvSpPr>
        <p:spPr>
          <a:xfrm>
            <a:off x="859536" y="3136392"/>
            <a:ext cx="3075432"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Templates</a:t>
            </a:r>
            <a:endParaRPr lang="en-US" sz="1700" dirty="0"/>
          </a:p>
        </p:txBody>
      </p:sp>
      <p:sp>
        <p:nvSpPr>
          <p:cNvPr id="16" name="Text 13"/>
          <p:cNvSpPr/>
          <p:nvPr/>
        </p:nvSpPr>
        <p:spPr>
          <a:xfrm>
            <a:off x="859536" y="3483864"/>
            <a:ext cx="3075432"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Application structures</a:t>
            </a:r>
            <a:endParaRPr lang="en-US" sz="1250" dirty="0"/>
          </a:p>
        </p:txBody>
      </p:sp>
      <p:sp>
        <p:nvSpPr>
          <p:cNvPr id="17" name="Shape 14"/>
          <p:cNvSpPr/>
          <p:nvPr/>
        </p:nvSpPr>
        <p:spPr>
          <a:xfrm>
            <a:off x="4337304" y="2971800"/>
            <a:ext cx="3477768" cy="1170432"/>
          </a:xfrm>
          <a:prstGeom prst="roundRect">
            <a:avLst>
              <a:gd name="adj" fmla="val 6250"/>
            </a:avLst>
          </a:prstGeom>
          <a:solidFill>
            <a:srgbClr val="FFFFFF"/>
          </a:solidFill>
          <a:ln w="12700">
            <a:solidFill>
              <a:srgbClr val="FFFFFF">
                <a:alpha val="0"/>
              </a:srgbClr>
            </a:solidFill>
            <a:prstDash val="solid"/>
          </a:ln>
        </p:spPr>
      </p:sp>
      <p:sp>
        <p:nvSpPr>
          <p:cNvPr id="18" name="Text 15"/>
          <p:cNvSpPr/>
          <p:nvPr/>
        </p:nvSpPr>
        <p:spPr>
          <a:xfrm>
            <a:off x="4538472" y="3136392"/>
            <a:ext cx="3075432"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Figma libraries</a:t>
            </a:r>
            <a:endParaRPr lang="en-US" sz="1700" dirty="0"/>
          </a:p>
        </p:txBody>
      </p:sp>
      <p:sp>
        <p:nvSpPr>
          <p:cNvPr id="19" name="Text 16"/>
          <p:cNvSpPr/>
          <p:nvPr/>
        </p:nvSpPr>
        <p:spPr>
          <a:xfrm>
            <a:off x="4538472" y="3483864"/>
            <a:ext cx="3075432"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Design assets that match delivery</a:t>
            </a:r>
            <a:endParaRPr lang="en-US" sz="1250" dirty="0"/>
          </a:p>
        </p:txBody>
      </p:sp>
      <p:sp>
        <p:nvSpPr>
          <p:cNvPr id="20" name="Shape 17"/>
          <p:cNvSpPr/>
          <p:nvPr/>
        </p:nvSpPr>
        <p:spPr>
          <a:xfrm>
            <a:off x="8016240" y="2971800"/>
            <a:ext cx="3477768" cy="1170432"/>
          </a:xfrm>
          <a:prstGeom prst="roundRect">
            <a:avLst>
              <a:gd name="adj" fmla="val 6250"/>
            </a:avLst>
          </a:prstGeom>
          <a:solidFill>
            <a:srgbClr val="FFFFFF"/>
          </a:solidFill>
          <a:ln w="12700">
            <a:solidFill>
              <a:srgbClr val="FFFFFF">
                <a:alpha val="0"/>
              </a:srgbClr>
            </a:solidFill>
            <a:prstDash val="solid"/>
          </a:ln>
        </p:spPr>
      </p:sp>
      <p:sp>
        <p:nvSpPr>
          <p:cNvPr id="21" name="Text 18"/>
          <p:cNvSpPr/>
          <p:nvPr/>
        </p:nvSpPr>
        <p:spPr>
          <a:xfrm>
            <a:off x="8217408" y="3136392"/>
            <a:ext cx="3075432"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AI tooling</a:t>
            </a:r>
            <a:endParaRPr lang="en-US" sz="1700" dirty="0"/>
          </a:p>
        </p:txBody>
      </p:sp>
      <p:sp>
        <p:nvSpPr>
          <p:cNvPr id="22" name="Text 19"/>
          <p:cNvSpPr/>
          <p:nvPr/>
        </p:nvSpPr>
        <p:spPr>
          <a:xfrm>
            <a:off x="8217408" y="3483864"/>
            <a:ext cx="3075432" cy="512064"/>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Rules, skills, MCP, CLI</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Start with what already exists.</a:t>
            </a:r>
            <a:endParaRPr lang="en-US" sz="3100" dirty="0"/>
          </a:p>
        </p:txBody>
      </p:sp>
      <p:sp>
        <p:nvSpPr>
          <p:cNvPr id="5" name="Shape 2"/>
          <p:cNvSpPr/>
          <p:nvPr/>
        </p:nvSpPr>
        <p:spPr>
          <a:xfrm>
            <a:off x="5093208" y="5394960"/>
            <a:ext cx="2011680" cy="548640"/>
          </a:xfrm>
          <a:prstGeom prst="roundRect">
            <a:avLst>
              <a:gd name="adj" fmla="val 13333"/>
            </a:avLst>
          </a:prstGeom>
          <a:solidFill>
            <a:srgbClr val="D9EBF7"/>
          </a:solidFill>
          <a:ln w="12700">
            <a:solidFill>
              <a:srgbClr val="D9EBF7">
                <a:alpha val="0"/>
              </a:srgbClr>
            </a:solidFill>
            <a:prstDash val="solid"/>
          </a:ln>
        </p:spPr>
      </p:sp>
      <p:sp>
        <p:nvSpPr>
          <p:cNvPr id="6" name="Text 3"/>
          <p:cNvSpPr/>
          <p:nvPr/>
        </p:nvSpPr>
        <p:spPr>
          <a:xfrm>
            <a:off x="5202936" y="5486400"/>
            <a:ext cx="1792224"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Foundations</a:t>
            </a:r>
            <a:endParaRPr lang="en-US" sz="1400" dirty="0"/>
          </a:p>
        </p:txBody>
      </p:sp>
      <p:sp>
        <p:nvSpPr>
          <p:cNvPr id="7" name="Shape 4"/>
          <p:cNvSpPr/>
          <p:nvPr/>
        </p:nvSpPr>
        <p:spPr>
          <a:xfrm>
            <a:off x="4384548" y="4681728"/>
            <a:ext cx="3429000" cy="548640"/>
          </a:xfrm>
          <a:prstGeom prst="roundRect">
            <a:avLst>
              <a:gd name="adj" fmla="val 13333"/>
            </a:avLst>
          </a:prstGeom>
          <a:solidFill>
            <a:srgbClr val="DDEFE6"/>
          </a:solidFill>
          <a:ln w="12700">
            <a:solidFill>
              <a:srgbClr val="DDEFE6">
                <a:alpha val="0"/>
              </a:srgbClr>
            </a:solidFill>
            <a:prstDash val="solid"/>
          </a:ln>
        </p:spPr>
      </p:sp>
      <p:sp>
        <p:nvSpPr>
          <p:cNvPr id="8" name="Text 5"/>
          <p:cNvSpPr/>
          <p:nvPr/>
        </p:nvSpPr>
        <p:spPr>
          <a:xfrm>
            <a:off x="4494276" y="4773168"/>
            <a:ext cx="3209544"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Components</a:t>
            </a:r>
            <a:endParaRPr lang="en-US" sz="1400" dirty="0"/>
          </a:p>
        </p:txBody>
      </p:sp>
      <p:sp>
        <p:nvSpPr>
          <p:cNvPr id="9" name="Shape 6"/>
          <p:cNvSpPr/>
          <p:nvPr/>
        </p:nvSpPr>
        <p:spPr>
          <a:xfrm>
            <a:off x="3675888" y="3968496"/>
            <a:ext cx="4846320" cy="548640"/>
          </a:xfrm>
          <a:prstGeom prst="roundRect">
            <a:avLst>
              <a:gd name="adj" fmla="val 13333"/>
            </a:avLst>
          </a:prstGeom>
          <a:solidFill>
            <a:srgbClr val="EBE3F5"/>
          </a:solidFill>
          <a:ln w="12700">
            <a:solidFill>
              <a:srgbClr val="EBE3F5">
                <a:alpha val="0"/>
              </a:srgbClr>
            </a:solidFill>
            <a:prstDash val="solid"/>
          </a:ln>
        </p:spPr>
      </p:sp>
      <p:sp>
        <p:nvSpPr>
          <p:cNvPr id="10" name="Text 7"/>
          <p:cNvSpPr/>
          <p:nvPr/>
        </p:nvSpPr>
        <p:spPr>
          <a:xfrm>
            <a:off x="3785616" y="4059936"/>
            <a:ext cx="4626864"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Patterns</a:t>
            </a:r>
            <a:endParaRPr lang="en-US" sz="1400" dirty="0"/>
          </a:p>
        </p:txBody>
      </p:sp>
      <p:sp>
        <p:nvSpPr>
          <p:cNvPr id="11" name="Shape 8"/>
          <p:cNvSpPr/>
          <p:nvPr/>
        </p:nvSpPr>
        <p:spPr>
          <a:xfrm>
            <a:off x="2967228" y="3255264"/>
            <a:ext cx="6263640" cy="548640"/>
          </a:xfrm>
          <a:prstGeom prst="roundRect">
            <a:avLst>
              <a:gd name="adj" fmla="val 13333"/>
            </a:avLst>
          </a:prstGeom>
          <a:solidFill>
            <a:srgbClr val="E8ECEF"/>
          </a:solidFill>
          <a:ln w="12700">
            <a:solidFill>
              <a:srgbClr val="E8ECEF">
                <a:alpha val="0"/>
              </a:srgbClr>
            </a:solidFill>
            <a:prstDash val="solid"/>
          </a:ln>
        </p:spPr>
      </p:sp>
      <p:sp>
        <p:nvSpPr>
          <p:cNvPr id="12" name="Text 9"/>
          <p:cNvSpPr/>
          <p:nvPr/>
        </p:nvSpPr>
        <p:spPr>
          <a:xfrm>
            <a:off x="3076956" y="3346704"/>
            <a:ext cx="6044184"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Templates</a:t>
            </a:r>
            <a:endParaRPr lang="en-US" sz="1400" dirty="0"/>
          </a:p>
        </p:txBody>
      </p:sp>
      <p:sp>
        <p:nvSpPr>
          <p:cNvPr id="13" name="Shape 10"/>
          <p:cNvSpPr/>
          <p:nvPr/>
        </p:nvSpPr>
        <p:spPr>
          <a:xfrm>
            <a:off x="2258568" y="2542032"/>
            <a:ext cx="7680960" cy="548640"/>
          </a:xfrm>
          <a:prstGeom prst="roundRect">
            <a:avLst>
              <a:gd name="adj" fmla="val 13333"/>
            </a:avLst>
          </a:prstGeom>
          <a:solidFill>
            <a:srgbClr val="F9C74F"/>
          </a:solidFill>
          <a:ln w="12700">
            <a:solidFill>
              <a:srgbClr val="F9C74F">
                <a:alpha val="0"/>
              </a:srgbClr>
            </a:solidFill>
            <a:prstDash val="solid"/>
          </a:ln>
        </p:spPr>
      </p:sp>
      <p:sp>
        <p:nvSpPr>
          <p:cNvPr id="14" name="Text 11"/>
          <p:cNvSpPr/>
          <p:nvPr/>
        </p:nvSpPr>
        <p:spPr>
          <a:xfrm>
            <a:off x="2368296" y="2633472"/>
            <a:ext cx="7461504" cy="310896"/>
          </a:xfrm>
          <a:prstGeom prst="rect">
            <a:avLst/>
          </a:prstGeom>
          <a:noFill/>
          <a:ln/>
        </p:spPr>
        <p:txBody>
          <a:bodyPr wrap="square" lIns="0" tIns="0" rIns="0" bIns="0" rtlCol="0" anchor="ctr">
            <a:normAutofit/>
          </a:bodyPr>
          <a:lstStyle/>
          <a:p>
            <a:pPr algn="ctr" indent="0" marL="0">
              <a:buNone/>
            </a:pPr>
            <a:r>
              <a:rPr lang="en-US" sz="1400" b="1" dirty="0">
                <a:solidFill>
                  <a:srgbClr val="1B242B"/>
                </a:solidFill>
                <a:latin typeface="Arial" pitchFamily="34" charset="0"/>
                <a:ea typeface="Arial" pitchFamily="34" charset="-122"/>
                <a:cs typeface="Arial" pitchFamily="34" charset="-120"/>
              </a:rPr>
              <a:t>Your product</a:t>
            </a:r>
            <a:endParaRPr lang="en-US" sz="1400" dirty="0"/>
          </a:p>
        </p:txBody>
      </p:sp>
      <p:sp>
        <p:nvSpPr>
          <p:cNvPr id="15" name="Text 12"/>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Use Modus foundations, components, patterns, and templates before asking Agent to invent something new.</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A good prototype needs more than the right look.</a:t>
            </a:r>
            <a:endParaRPr lang="en-US" sz="3100" dirty="0"/>
          </a:p>
        </p:txBody>
      </p:sp>
      <p:sp>
        <p:nvSpPr>
          <p:cNvPr id="5" name="Shape 2"/>
          <p:cNvSpPr/>
          <p:nvPr/>
        </p:nvSpPr>
        <p:spPr>
          <a:xfrm>
            <a:off x="658368"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 clear task flow</a:t>
            </a:r>
            <a:endParaRPr lang="en-US" sz="1800" dirty="0"/>
          </a:p>
        </p:txBody>
      </p:sp>
      <p:sp>
        <p:nvSpPr>
          <p:cNvPr id="7" name="Shape 4"/>
          <p:cNvSpPr/>
          <p:nvPr/>
        </p:nvSpPr>
        <p:spPr>
          <a:xfrm>
            <a:off x="4337304"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4538472"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The states people will actually encounter</a:t>
            </a:r>
            <a:endParaRPr lang="en-US" sz="1800" dirty="0"/>
          </a:p>
        </p:txBody>
      </p:sp>
      <p:sp>
        <p:nvSpPr>
          <p:cNvPr id="9" name="Shape 6"/>
          <p:cNvSpPr/>
          <p:nvPr/>
        </p:nvSpPr>
        <p:spPr>
          <a:xfrm>
            <a:off x="8016240"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217408"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Modus components and tokens</a:t>
            </a:r>
            <a:endParaRPr lang="en-US" sz="1800" dirty="0"/>
          </a:p>
        </p:txBody>
      </p:sp>
      <p:sp>
        <p:nvSpPr>
          <p:cNvPr id="11" name="Shape 8"/>
          <p:cNvSpPr/>
          <p:nvPr/>
        </p:nvSpPr>
        <p:spPr>
          <a:xfrm>
            <a:off x="658368"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 layout that works at different widths</a:t>
            </a:r>
            <a:endParaRPr lang="en-US" sz="1800" dirty="0"/>
          </a:p>
        </p:txBody>
      </p:sp>
      <p:sp>
        <p:nvSpPr>
          <p:cNvPr id="13" name="Shape 10"/>
          <p:cNvSpPr/>
          <p:nvPr/>
        </p:nvSpPr>
        <p:spPr>
          <a:xfrm>
            <a:off x="4337304"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4538472"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Keyboard use and visible focus</a:t>
            </a:r>
            <a:endParaRPr lang="en-US" sz="1800" dirty="0"/>
          </a:p>
        </p:txBody>
      </p:sp>
      <p:sp>
        <p:nvSpPr>
          <p:cNvPr id="15" name="Shape 12"/>
          <p:cNvSpPr/>
          <p:nvPr/>
        </p:nvSpPr>
        <p:spPr>
          <a:xfrm>
            <a:off x="8016240"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6" name="Text 13"/>
          <p:cNvSpPr/>
          <p:nvPr/>
        </p:nvSpPr>
        <p:spPr>
          <a:xfrm>
            <a:off x="8217408"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Honest data assumptions</a:t>
            </a:r>
            <a:endParaRPr lang="en-US" sz="1800" dirty="0"/>
          </a:p>
        </p:txBody>
      </p:sp>
      <p:sp>
        <p:nvSpPr>
          <p:cNvPr id="17" name="Shape 14"/>
          <p:cNvSpPr/>
          <p:nvPr/>
        </p:nvSpPr>
        <p:spPr>
          <a:xfrm>
            <a:off x="658368" y="4434840"/>
            <a:ext cx="3477768" cy="1170432"/>
          </a:xfrm>
          <a:prstGeom prst="roundRect">
            <a:avLst>
              <a:gd name="adj" fmla="val 6250"/>
            </a:avLst>
          </a:prstGeom>
          <a:solidFill>
            <a:srgbClr val="FFFFFF"/>
          </a:solidFill>
          <a:ln w="12700">
            <a:solidFill>
              <a:srgbClr val="FFFFFF">
                <a:alpha val="0"/>
              </a:srgbClr>
            </a:solidFill>
            <a:prstDash val="solid"/>
          </a:ln>
        </p:spPr>
      </p:sp>
      <p:sp>
        <p:nvSpPr>
          <p:cNvPr id="18" name="Text 15"/>
          <p:cNvSpPr/>
          <p:nvPr/>
        </p:nvSpPr>
        <p:spPr>
          <a:xfrm>
            <a:off x="859536" y="45994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 result others can open and test</a:t>
            </a:r>
            <a:endParaRPr lang="en-US" sz="18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Check the result in the browser.</a:t>
            </a:r>
            <a:endParaRPr lang="en-US" sz="3100" dirty="0"/>
          </a:p>
        </p:txBody>
      </p:sp>
      <p:sp>
        <p:nvSpPr>
          <p:cNvPr id="5" name="Shape 2"/>
          <p:cNvSpPr/>
          <p:nvPr/>
        </p:nvSpPr>
        <p:spPr>
          <a:xfrm>
            <a:off x="658368"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6" name="Text 3"/>
          <p:cNvSpPr/>
          <p:nvPr/>
        </p:nvSpPr>
        <p:spPr>
          <a:xfrm>
            <a:off x="76809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1</a:t>
            </a:r>
            <a:endParaRPr lang="en-US" sz="1000" dirty="0"/>
          </a:p>
        </p:txBody>
      </p:sp>
      <p:sp>
        <p:nvSpPr>
          <p:cNvPr id="7" name="Text 4"/>
          <p:cNvSpPr/>
          <p:nvPr/>
        </p:nvSpPr>
        <p:spPr>
          <a:xfrm>
            <a:off x="768096"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Complete the main task</a:t>
            </a:r>
            <a:endParaRPr lang="en-US" sz="1390" dirty="0"/>
          </a:p>
        </p:txBody>
      </p:sp>
      <p:sp>
        <p:nvSpPr>
          <p:cNvPr id="8" name="Shape 5"/>
          <p:cNvSpPr/>
          <p:nvPr/>
        </p:nvSpPr>
        <p:spPr>
          <a:xfrm>
            <a:off x="2482596"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9" name="Text 6"/>
          <p:cNvSpPr/>
          <p:nvPr/>
        </p:nvSpPr>
        <p:spPr>
          <a:xfrm>
            <a:off x="2592324"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2592324"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Try empty, loading, error, and success</a:t>
            </a:r>
            <a:endParaRPr lang="en-US" sz="1390" dirty="0"/>
          </a:p>
        </p:txBody>
      </p:sp>
      <p:sp>
        <p:nvSpPr>
          <p:cNvPr id="11" name="Shape 8"/>
          <p:cNvSpPr/>
          <p:nvPr/>
        </p:nvSpPr>
        <p:spPr>
          <a:xfrm>
            <a:off x="4306824"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12" name="Text 9"/>
          <p:cNvSpPr/>
          <p:nvPr/>
        </p:nvSpPr>
        <p:spPr>
          <a:xfrm>
            <a:off x="4416552"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3</a:t>
            </a:r>
            <a:endParaRPr lang="en-US" sz="1000" dirty="0"/>
          </a:p>
        </p:txBody>
      </p:sp>
      <p:sp>
        <p:nvSpPr>
          <p:cNvPr id="13" name="Text 10"/>
          <p:cNvSpPr/>
          <p:nvPr/>
        </p:nvSpPr>
        <p:spPr>
          <a:xfrm>
            <a:off x="4416552"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Use only the keyboard</a:t>
            </a:r>
            <a:endParaRPr lang="en-US" sz="1390" dirty="0"/>
          </a:p>
        </p:txBody>
      </p:sp>
      <p:sp>
        <p:nvSpPr>
          <p:cNvPr id="14" name="Shape 11"/>
          <p:cNvSpPr/>
          <p:nvPr/>
        </p:nvSpPr>
        <p:spPr>
          <a:xfrm>
            <a:off x="6131052"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15" name="Text 12"/>
          <p:cNvSpPr/>
          <p:nvPr/>
        </p:nvSpPr>
        <p:spPr>
          <a:xfrm>
            <a:off x="624078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4</a:t>
            </a:r>
            <a:endParaRPr lang="en-US" sz="1000" dirty="0"/>
          </a:p>
        </p:txBody>
      </p:sp>
      <p:sp>
        <p:nvSpPr>
          <p:cNvPr id="16" name="Text 13"/>
          <p:cNvSpPr/>
          <p:nvPr/>
        </p:nvSpPr>
        <p:spPr>
          <a:xfrm>
            <a:off x="6240780"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Check narrow and wide views</a:t>
            </a:r>
            <a:endParaRPr lang="en-US" sz="1390" dirty="0"/>
          </a:p>
        </p:txBody>
      </p:sp>
      <p:sp>
        <p:nvSpPr>
          <p:cNvPr id="17" name="Shape 14"/>
          <p:cNvSpPr/>
          <p:nvPr/>
        </p:nvSpPr>
        <p:spPr>
          <a:xfrm>
            <a:off x="7955280"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18" name="Text 15"/>
          <p:cNvSpPr/>
          <p:nvPr/>
        </p:nvSpPr>
        <p:spPr>
          <a:xfrm>
            <a:off x="8065008"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5</a:t>
            </a:r>
            <a:endParaRPr lang="en-US" sz="1000" dirty="0"/>
          </a:p>
        </p:txBody>
      </p:sp>
      <p:sp>
        <p:nvSpPr>
          <p:cNvPr id="19" name="Text 16"/>
          <p:cNvSpPr/>
          <p:nvPr/>
        </p:nvSpPr>
        <p:spPr>
          <a:xfrm>
            <a:off x="8065008"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Try longer content</a:t>
            </a:r>
            <a:endParaRPr lang="en-US" sz="1390" dirty="0"/>
          </a:p>
        </p:txBody>
      </p:sp>
      <p:sp>
        <p:nvSpPr>
          <p:cNvPr id="20" name="Shape 17"/>
          <p:cNvSpPr/>
          <p:nvPr/>
        </p:nvSpPr>
        <p:spPr>
          <a:xfrm>
            <a:off x="9779508"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21" name="Text 18"/>
          <p:cNvSpPr/>
          <p:nvPr/>
        </p:nvSpPr>
        <p:spPr>
          <a:xfrm>
            <a:off x="988923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6</a:t>
            </a:r>
            <a:endParaRPr lang="en-US" sz="1000" dirty="0"/>
          </a:p>
        </p:txBody>
      </p:sp>
      <p:sp>
        <p:nvSpPr>
          <p:cNvPr id="22" name="Text 19"/>
          <p:cNvSpPr/>
          <p:nvPr/>
        </p:nvSpPr>
        <p:spPr>
          <a:xfrm>
            <a:off x="9889236"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Re-test what worked before</a:t>
            </a:r>
            <a:endParaRPr lang="en-US" sz="139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When something is wrong, be specific.</a:t>
            </a:r>
            <a:endParaRPr lang="en-US" sz="3100" dirty="0"/>
          </a:p>
        </p:txBody>
      </p:sp>
      <p:sp>
        <p:nvSpPr>
          <p:cNvPr id="5" name="Shape 2"/>
          <p:cNvSpPr/>
          <p:nvPr/>
        </p:nvSpPr>
        <p:spPr>
          <a:xfrm>
            <a:off x="658368" y="2148840"/>
            <a:ext cx="2079346" cy="960120"/>
          </a:xfrm>
          <a:prstGeom prst="roundRect">
            <a:avLst>
              <a:gd name="adj" fmla="val 7619"/>
            </a:avLst>
          </a:prstGeom>
          <a:solidFill>
            <a:srgbClr val="DDEFE6"/>
          </a:solidFill>
          <a:ln w="12700">
            <a:solidFill>
              <a:srgbClr val="DDEFE6">
                <a:alpha val="0"/>
              </a:srgbClr>
            </a:solidFill>
            <a:prstDash val="solid"/>
          </a:ln>
        </p:spPr>
      </p:sp>
      <p:sp>
        <p:nvSpPr>
          <p:cNvPr id="6" name="Text 3"/>
          <p:cNvSpPr/>
          <p:nvPr/>
        </p:nvSpPr>
        <p:spPr>
          <a:xfrm>
            <a:off x="76809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1</a:t>
            </a:r>
            <a:endParaRPr lang="en-US" sz="1000" dirty="0"/>
          </a:p>
        </p:txBody>
      </p:sp>
      <p:sp>
        <p:nvSpPr>
          <p:cNvPr id="7" name="Text 4"/>
          <p:cNvSpPr/>
          <p:nvPr/>
        </p:nvSpPr>
        <p:spPr>
          <a:xfrm>
            <a:off x="768096" y="2542032"/>
            <a:ext cx="1859890" cy="347472"/>
          </a:xfrm>
          <a:prstGeom prst="rect">
            <a:avLst/>
          </a:prstGeom>
          <a:noFill/>
          <a:ln/>
        </p:spPr>
        <p:txBody>
          <a:bodyPr wrap="square" lIns="0" tIns="0" rIns="0" bIns="0" rtlCol="0" anchor="ctr">
            <a:normAutofit/>
          </a:bodyPr>
          <a:lstStyle/>
          <a:p>
            <a:pPr algn="ctr" indent="0" marL="0">
              <a:buNone/>
            </a:pPr>
            <a:r>
              <a:rPr lang="en-US" sz="1425" b="1" dirty="0">
                <a:solidFill>
                  <a:srgbClr val="1B242B"/>
                </a:solidFill>
                <a:latin typeface="Arial" pitchFamily="34" charset="0"/>
                <a:ea typeface="Arial" pitchFamily="34" charset="-122"/>
                <a:cs typeface="Arial" pitchFamily="34" charset="-120"/>
              </a:rPr>
              <a:t>Show what happened</a:t>
            </a:r>
            <a:endParaRPr lang="en-US" sz="1425" dirty="0"/>
          </a:p>
        </p:txBody>
      </p:sp>
      <p:sp>
        <p:nvSpPr>
          <p:cNvPr id="8" name="Shape 5"/>
          <p:cNvSpPr/>
          <p:nvPr/>
        </p:nvSpPr>
        <p:spPr>
          <a:xfrm>
            <a:off x="2847442" y="2148840"/>
            <a:ext cx="2079346" cy="960120"/>
          </a:xfrm>
          <a:prstGeom prst="roundRect">
            <a:avLst>
              <a:gd name="adj" fmla="val 7619"/>
            </a:avLst>
          </a:prstGeom>
          <a:solidFill>
            <a:srgbClr val="D9EBF7"/>
          </a:solidFill>
          <a:ln w="12700">
            <a:solidFill>
              <a:srgbClr val="D9EBF7">
                <a:alpha val="0"/>
              </a:srgbClr>
            </a:solidFill>
            <a:prstDash val="solid"/>
          </a:ln>
        </p:spPr>
      </p:sp>
      <p:sp>
        <p:nvSpPr>
          <p:cNvPr id="9" name="Text 6"/>
          <p:cNvSpPr/>
          <p:nvPr/>
        </p:nvSpPr>
        <p:spPr>
          <a:xfrm>
            <a:off x="295717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2957170" y="2542032"/>
            <a:ext cx="1859890" cy="347472"/>
          </a:xfrm>
          <a:prstGeom prst="rect">
            <a:avLst/>
          </a:prstGeom>
          <a:noFill/>
          <a:ln/>
        </p:spPr>
        <p:txBody>
          <a:bodyPr wrap="square" lIns="0" tIns="0" rIns="0" bIns="0" rtlCol="0" anchor="ctr">
            <a:normAutofit/>
          </a:bodyPr>
          <a:lstStyle/>
          <a:p>
            <a:pPr algn="ctr" indent="0" marL="0">
              <a:buNone/>
            </a:pPr>
            <a:r>
              <a:rPr lang="en-US" sz="1425" b="1" dirty="0">
                <a:solidFill>
                  <a:srgbClr val="1B242B"/>
                </a:solidFill>
                <a:latin typeface="Arial" pitchFamily="34" charset="0"/>
                <a:ea typeface="Arial" pitchFamily="34" charset="-122"/>
                <a:cs typeface="Arial" pitchFamily="34" charset="-120"/>
              </a:rPr>
              <a:t>Explain why it is a problem</a:t>
            </a:r>
            <a:endParaRPr lang="en-US" sz="1425" dirty="0"/>
          </a:p>
        </p:txBody>
      </p:sp>
      <p:sp>
        <p:nvSpPr>
          <p:cNvPr id="11" name="Shape 8"/>
          <p:cNvSpPr/>
          <p:nvPr/>
        </p:nvSpPr>
        <p:spPr>
          <a:xfrm>
            <a:off x="5036515" y="2148840"/>
            <a:ext cx="2079346" cy="960120"/>
          </a:xfrm>
          <a:prstGeom prst="roundRect">
            <a:avLst>
              <a:gd name="adj" fmla="val 7619"/>
            </a:avLst>
          </a:prstGeom>
          <a:solidFill>
            <a:srgbClr val="DDEFE6"/>
          </a:solidFill>
          <a:ln w="12700">
            <a:solidFill>
              <a:srgbClr val="DDEFE6">
                <a:alpha val="0"/>
              </a:srgbClr>
            </a:solidFill>
            <a:prstDash val="solid"/>
          </a:ln>
        </p:spPr>
      </p:sp>
      <p:sp>
        <p:nvSpPr>
          <p:cNvPr id="12" name="Text 9"/>
          <p:cNvSpPr/>
          <p:nvPr/>
        </p:nvSpPr>
        <p:spPr>
          <a:xfrm>
            <a:off x="5146243"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3</a:t>
            </a:r>
            <a:endParaRPr lang="en-US" sz="1000" dirty="0"/>
          </a:p>
        </p:txBody>
      </p:sp>
      <p:sp>
        <p:nvSpPr>
          <p:cNvPr id="13" name="Text 10"/>
          <p:cNvSpPr/>
          <p:nvPr/>
        </p:nvSpPr>
        <p:spPr>
          <a:xfrm>
            <a:off x="5146243" y="2542032"/>
            <a:ext cx="1859890" cy="347472"/>
          </a:xfrm>
          <a:prstGeom prst="rect">
            <a:avLst/>
          </a:prstGeom>
          <a:noFill/>
          <a:ln/>
        </p:spPr>
        <p:txBody>
          <a:bodyPr wrap="square" lIns="0" tIns="0" rIns="0" bIns="0" rtlCol="0" anchor="ctr">
            <a:normAutofit/>
          </a:bodyPr>
          <a:lstStyle/>
          <a:p>
            <a:pPr algn="ctr" indent="0" marL="0">
              <a:buNone/>
            </a:pPr>
            <a:r>
              <a:rPr lang="en-US" sz="1425" b="1" dirty="0">
                <a:solidFill>
                  <a:srgbClr val="1B242B"/>
                </a:solidFill>
                <a:latin typeface="Arial" pitchFamily="34" charset="0"/>
                <a:ea typeface="Arial" pitchFamily="34" charset="-122"/>
                <a:cs typeface="Arial" pitchFamily="34" charset="-120"/>
              </a:rPr>
              <a:t>Ask for one focused change</a:t>
            </a:r>
            <a:endParaRPr lang="en-US" sz="1425" dirty="0"/>
          </a:p>
        </p:txBody>
      </p:sp>
      <p:sp>
        <p:nvSpPr>
          <p:cNvPr id="14" name="Shape 11"/>
          <p:cNvSpPr/>
          <p:nvPr/>
        </p:nvSpPr>
        <p:spPr>
          <a:xfrm>
            <a:off x="7225589" y="2148840"/>
            <a:ext cx="2079346" cy="960120"/>
          </a:xfrm>
          <a:prstGeom prst="roundRect">
            <a:avLst>
              <a:gd name="adj" fmla="val 7619"/>
            </a:avLst>
          </a:prstGeom>
          <a:solidFill>
            <a:srgbClr val="D9EBF7"/>
          </a:solidFill>
          <a:ln w="12700">
            <a:solidFill>
              <a:srgbClr val="D9EBF7">
                <a:alpha val="0"/>
              </a:srgbClr>
            </a:solidFill>
            <a:prstDash val="solid"/>
          </a:ln>
        </p:spPr>
      </p:sp>
      <p:sp>
        <p:nvSpPr>
          <p:cNvPr id="15" name="Text 12"/>
          <p:cNvSpPr/>
          <p:nvPr/>
        </p:nvSpPr>
        <p:spPr>
          <a:xfrm>
            <a:off x="7335317"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4</a:t>
            </a:r>
            <a:endParaRPr lang="en-US" sz="1000" dirty="0"/>
          </a:p>
        </p:txBody>
      </p:sp>
      <p:sp>
        <p:nvSpPr>
          <p:cNvPr id="16" name="Text 13"/>
          <p:cNvSpPr/>
          <p:nvPr/>
        </p:nvSpPr>
        <p:spPr>
          <a:xfrm>
            <a:off x="7335317" y="2542032"/>
            <a:ext cx="1859890" cy="347472"/>
          </a:xfrm>
          <a:prstGeom prst="rect">
            <a:avLst/>
          </a:prstGeom>
          <a:noFill/>
          <a:ln/>
        </p:spPr>
        <p:txBody>
          <a:bodyPr wrap="square" lIns="0" tIns="0" rIns="0" bIns="0" rtlCol="0" anchor="ctr">
            <a:normAutofit/>
          </a:bodyPr>
          <a:lstStyle/>
          <a:p>
            <a:pPr algn="ctr" indent="0" marL="0">
              <a:buNone/>
            </a:pPr>
            <a:r>
              <a:rPr lang="en-US" sz="1425" b="1" dirty="0">
                <a:solidFill>
                  <a:srgbClr val="1B242B"/>
                </a:solidFill>
                <a:latin typeface="Arial" pitchFamily="34" charset="0"/>
                <a:ea typeface="Arial" pitchFamily="34" charset="-122"/>
                <a:cs typeface="Arial" pitchFamily="34" charset="-120"/>
              </a:rPr>
              <a:t>Try the fix</a:t>
            </a:r>
            <a:endParaRPr lang="en-US" sz="1425" dirty="0"/>
          </a:p>
        </p:txBody>
      </p:sp>
      <p:sp>
        <p:nvSpPr>
          <p:cNvPr id="17" name="Shape 14"/>
          <p:cNvSpPr/>
          <p:nvPr/>
        </p:nvSpPr>
        <p:spPr>
          <a:xfrm>
            <a:off x="9414662" y="2148840"/>
            <a:ext cx="2079346" cy="960120"/>
          </a:xfrm>
          <a:prstGeom prst="roundRect">
            <a:avLst>
              <a:gd name="adj" fmla="val 7619"/>
            </a:avLst>
          </a:prstGeom>
          <a:solidFill>
            <a:srgbClr val="DDEFE6"/>
          </a:solidFill>
          <a:ln w="12700">
            <a:solidFill>
              <a:srgbClr val="DDEFE6">
                <a:alpha val="0"/>
              </a:srgbClr>
            </a:solidFill>
            <a:prstDash val="solid"/>
          </a:ln>
        </p:spPr>
      </p:sp>
      <p:sp>
        <p:nvSpPr>
          <p:cNvPr id="18" name="Text 15"/>
          <p:cNvSpPr/>
          <p:nvPr/>
        </p:nvSpPr>
        <p:spPr>
          <a:xfrm>
            <a:off x="952439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2D7A58"/>
                </a:solidFill>
                <a:latin typeface="Arial" pitchFamily="34" charset="0"/>
                <a:ea typeface="Arial" pitchFamily="34" charset="-122"/>
                <a:cs typeface="Arial" pitchFamily="34" charset="-120"/>
              </a:rPr>
              <a:t>5</a:t>
            </a:r>
            <a:endParaRPr lang="en-US" sz="1000" dirty="0"/>
          </a:p>
        </p:txBody>
      </p:sp>
      <p:sp>
        <p:nvSpPr>
          <p:cNvPr id="19" name="Text 16"/>
          <p:cNvSpPr/>
          <p:nvPr/>
        </p:nvSpPr>
        <p:spPr>
          <a:xfrm>
            <a:off x="9524390" y="2542032"/>
            <a:ext cx="1859890" cy="347472"/>
          </a:xfrm>
          <a:prstGeom prst="rect">
            <a:avLst/>
          </a:prstGeom>
          <a:noFill/>
          <a:ln/>
        </p:spPr>
        <p:txBody>
          <a:bodyPr wrap="square" lIns="0" tIns="0" rIns="0" bIns="0" rtlCol="0" anchor="ctr">
            <a:normAutofit/>
          </a:bodyPr>
          <a:lstStyle/>
          <a:p>
            <a:pPr algn="ctr" indent="0" marL="0">
              <a:buNone/>
            </a:pPr>
            <a:r>
              <a:rPr lang="en-US" sz="1425" b="1" dirty="0">
                <a:solidFill>
                  <a:srgbClr val="1B242B"/>
                </a:solidFill>
                <a:latin typeface="Arial" pitchFamily="34" charset="0"/>
                <a:ea typeface="Arial" pitchFamily="34" charset="-122"/>
                <a:cs typeface="Arial" pitchFamily="34" charset="-120"/>
              </a:rPr>
              <a:t>Check the rest of the flow again</a:t>
            </a:r>
            <a:endParaRPr lang="en-US" sz="1425" dirty="0"/>
          </a:p>
        </p:txBody>
      </p:sp>
      <p:sp>
        <p:nvSpPr>
          <p:cNvPr id="20" name="Text 17"/>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Instead of “make it better,” say what failed, where it failed, and what should happen instead.</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Modus build check</a:t>
            </a:r>
            <a:endParaRPr lang="en-US" sz="3100" dirty="0"/>
          </a:p>
        </p:txBody>
      </p:sp>
      <p:sp>
        <p:nvSpPr>
          <p:cNvPr id="5" name="Shape 2"/>
          <p:cNvSpPr/>
          <p:nvPr/>
        </p:nvSpPr>
        <p:spPr>
          <a:xfrm>
            <a:off x="868680" y="1691640"/>
            <a:ext cx="5257800" cy="749808"/>
          </a:xfrm>
          <a:prstGeom prst="roundRect">
            <a:avLst>
              <a:gd name="adj" fmla="val 9756"/>
            </a:avLst>
          </a:prstGeom>
          <a:solidFill>
            <a:srgbClr val="DDEFE6"/>
          </a:solidFill>
          <a:ln w="12700">
            <a:solidFill>
              <a:srgbClr val="DDEFE6">
                <a:alpha val="0"/>
              </a:srgbClr>
            </a:solidFill>
            <a:prstDash val="solid"/>
          </a:ln>
        </p:spPr>
      </p:sp>
      <p:sp>
        <p:nvSpPr>
          <p:cNvPr id="6" name="Text 3"/>
          <p:cNvSpPr/>
          <p:nvPr/>
        </p:nvSpPr>
        <p:spPr>
          <a:xfrm>
            <a:off x="10332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7" name="Text 4"/>
          <p:cNvSpPr/>
          <p:nvPr/>
        </p:nvSpPr>
        <p:spPr>
          <a:xfrm>
            <a:off x="1490472" y="182880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interface uses Modus consistently</a:t>
            </a:r>
            <a:endParaRPr lang="en-US" sz="1450" dirty="0"/>
          </a:p>
        </p:txBody>
      </p:sp>
      <p:sp>
        <p:nvSpPr>
          <p:cNvPr id="8" name="Shape 5"/>
          <p:cNvSpPr/>
          <p:nvPr/>
        </p:nvSpPr>
        <p:spPr>
          <a:xfrm>
            <a:off x="6355080" y="1691640"/>
            <a:ext cx="5257800" cy="749808"/>
          </a:xfrm>
          <a:prstGeom prst="roundRect">
            <a:avLst>
              <a:gd name="adj" fmla="val 9756"/>
            </a:avLst>
          </a:prstGeom>
          <a:solidFill>
            <a:srgbClr val="DDEFE6"/>
          </a:solidFill>
          <a:ln w="12700">
            <a:solidFill>
              <a:srgbClr val="DDEFE6">
                <a:alpha val="0"/>
              </a:srgbClr>
            </a:solidFill>
            <a:prstDash val="solid"/>
          </a:ln>
        </p:spPr>
      </p:sp>
      <p:sp>
        <p:nvSpPr>
          <p:cNvPr id="9" name="Text 6"/>
          <p:cNvSpPr/>
          <p:nvPr/>
        </p:nvSpPr>
        <p:spPr>
          <a:xfrm>
            <a:off x="65196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0" name="Text 7"/>
          <p:cNvSpPr/>
          <p:nvPr/>
        </p:nvSpPr>
        <p:spPr>
          <a:xfrm>
            <a:off x="6976872" y="182880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important states work</a:t>
            </a:r>
            <a:endParaRPr lang="en-US" sz="1450" dirty="0"/>
          </a:p>
        </p:txBody>
      </p:sp>
      <p:sp>
        <p:nvSpPr>
          <p:cNvPr id="11" name="Shape 8"/>
          <p:cNvSpPr/>
          <p:nvPr/>
        </p:nvSpPr>
        <p:spPr>
          <a:xfrm>
            <a:off x="868680" y="2849880"/>
            <a:ext cx="5257800" cy="749808"/>
          </a:xfrm>
          <a:prstGeom prst="roundRect">
            <a:avLst>
              <a:gd name="adj" fmla="val 9756"/>
            </a:avLst>
          </a:prstGeom>
          <a:solidFill>
            <a:srgbClr val="DDEFE6"/>
          </a:solidFill>
          <a:ln w="12700">
            <a:solidFill>
              <a:srgbClr val="DDEFE6">
                <a:alpha val="0"/>
              </a:srgbClr>
            </a:solidFill>
            <a:prstDash val="solid"/>
          </a:ln>
        </p:spPr>
      </p:sp>
      <p:sp>
        <p:nvSpPr>
          <p:cNvPr id="12" name="Text 9"/>
          <p:cNvSpPr/>
          <p:nvPr/>
        </p:nvSpPr>
        <p:spPr>
          <a:xfrm>
            <a:off x="1033272" y="30327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3" name="Text 10"/>
          <p:cNvSpPr/>
          <p:nvPr/>
        </p:nvSpPr>
        <p:spPr>
          <a:xfrm>
            <a:off x="1490472" y="298704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Someone else can complete the task without help</a:t>
            </a:r>
            <a:endParaRPr lang="en-US" sz="1450" dirty="0"/>
          </a:p>
        </p:txBody>
      </p:sp>
      <p:sp>
        <p:nvSpPr>
          <p:cNvPr id="14" name="Shape 11"/>
          <p:cNvSpPr/>
          <p:nvPr/>
        </p:nvSpPr>
        <p:spPr>
          <a:xfrm>
            <a:off x="6355080" y="2849880"/>
            <a:ext cx="5257800" cy="749808"/>
          </a:xfrm>
          <a:prstGeom prst="roundRect">
            <a:avLst>
              <a:gd name="adj" fmla="val 9756"/>
            </a:avLst>
          </a:prstGeom>
          <a:solidFill>
            <a:srgbClr val="DDEFE6"/>
          </a:solidFill>
          <a:ln w="12700">
            <a:solidFill>
              <a:srgbClr val="DDEFE6">
                <a:alpha val="0"/>
              </a:srgbClr>
            </a:solidFill>
            <a:prstDash val="solid"/>
          </a:ln>
        </p:spPr>
      </p:sp>
      <p:sp>
        <p:nvSpPr>
          <p:cNvPr id="15" name="Text 12"/>
          <p:cNvSpPr/>
          <p:nvPr/>
        </p:nvSpPr>
        <p:spPr>
          <a:xfrm>
            <a:off x="6519672" y="30327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6" name="Text 13"/>
          <p:cNvSpPr/>
          <p:nvPr/>
        </p:nvSpPr>
        <p:spPr>
          <a:xfrm>
            <a:off x="6976872" y="298704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Narrow and wide layouts work</a:t>
            </a:r>
            <a:endParaRPr lang="en-US" sz="1450" dirty="0"/>
          </a:p>
        </p:txBody>
      </p:sp>
      <p:sp>
        <p:nvSpPr>
          <p:cNvPr id="17" name="Shape 14"/>
          <p:cNvSpPr/>
          <p:nvPr/>
        </p:nvSpPr>
        <p:spPr>
          <a:xfrm>
            <a:off x="868680" y="4008120"/>
            <a:ext cx="5257800" cy="749808"/>
          </a:xfrm>
          <a:prstGeom prst="roundRect">
            <a:avLst>
              <a:gd name="adj" fmla="val 9756"/>
            </a:avLst>
          </a:prstGeom>
          <a:solidFill>
            <a:srgbClr val="DDEFE6"/>
          </a:solidFill>
          <a:ln w="12700">
            <a:solidFill>
              <a:srgbClr val="DDEFE6">
                <a:alpha val="0"/>
              </a:srgbClr>
            </a:solidFill>
            <a:prstDash val="solid"/>
          </a:ln>
        </p:spPr>
      </p:sp>
      <p:sp>
        <p:nvSpPr>
          <p:cNvPr id="18" name="Text 15"/>
          <p:cNvSpPr/>
          <p:nvPr/>
        </p:nvSpPr>
        <p:spPr>
          <a:xfrm>
            <a:off x="1033272" y="41910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9" name="Text 16"/>
          <p:cNvSpPr/>
          <p:nvPr/>
        </p:nvSpPr>
        <p:spPr>
          <a:xfrm>
            <a:off x="1490472" y="414528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Keyboard, focus, and labels were checked</a:t>
            </a:r>
            <a:endParaRPr lang="en-US" sz="1450" dirty="0"/>
          </a:p>
        </p:txBody>
      </p:sp>
      <p:sp>
        <p:nvSpPr>
          <p:cNvPr id="20" name="Shape 17"/>
          <p:cNvSpPr/>
          <p:nvPr/>
        </p:nvSpPr>
        <p:spPr>
          <a:xfrm>
            <a:off x="6355080" y="4008120"/>
            <a:ext cx="5257800" cy="749808"/>
          </a:xfrm>
          <a:prstGeom prst="roundRect">
            <a:avLst>
              <a:gd name="adj" fmla="val 9756"/>
            </a:avLst>
          </a:prstGeom>
          <a:solidFill>
            <a:srgbClr val="DDEFE6"/>
          </a:solidFill>
          <a:ln w="12700">
            <a:solidFill>
              <a:srgbClr val="DDEFE6">
                <a:alpha val="0"/>
              </a:srgbClr>
            </a:solidFill>
            <a:prstDash val="solid"/>
          </a:ln>
        </p:spPr>
      </p:sp>
      <p:sp>
        <p:nvSpPr>
          <p:cNvPr id="21" name="Text 18"/>
          <p:cNvSpPr/>
          <p:nvPr/>
        </p:nvSpPr>
        <p:spPr>
          <a:xfrm>
            <a:off x="6519672" y="41910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22" name="Text 19"/>
          <p:cNvSpPr/>
          <p:nvPr/>
        </p:nvSpPr>
        <p:spPr>
          <a:xfrm>
            <a:off x="6976872" y="414528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can explain what is not finished</a:t>
            </a:r>
            <a:endParaRPr lang="en-US" sz="1450" dirty="0"/>
          </a:p>
        </p:txBody>
      </p:sp>
      <p:sp>
        <p:nvSpPr>
          <p:cNvPr id="23" name="Text 20"/>
          <p:cNvSpPr/>
          <p:nvPr/>
        </p:nvSpPr>
        <p:spPr>
          <a:xfrm>
            <a:off x="868680" y="5806440"/>
            <a:ext cx="10332720" cy="384048"/>
          </a:xfrm>
          <a:prstGeom prst="rect">
            <a:avLst/>
          </a:prstGeom>
          <a:noFill/>
          <a:ln/>
        </p:spPr>
        <p:txBody>
          <a:bodyPr wrap="square" lIns="0" tIns="0" rIns="0" bIns="0" rtlCol="0" anchor="ctr">
            <a:normAutofit/>
          </a:bodyPr>
          <a:lstStyle/>
          <a:p>
            <a:pPr algn="ctr" indent="0" marL="0">
              <a:buNone/>
            </a:pPr>
            <a:r>
              <a:rPr lang="en-US" sz="1400" b="1" dirty="0">
                <a:solidFill>
                  <a:srgbClr val="2D7A58"/>
                </a:solidFill>
                <a:latin typeface="Arial" pitchFamily="34" charset="0"/>
                <a:ea typeface="Arial" pitchFamily="34" charset="-122"/>
                <a:cs typeface="Arial" pitchFamily="34" charset="-120"/>
              </a:rPr>
              <a:t>We are checking the experience—not the generated code</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2D7A58"/>
                </a:solidFill>
                <a:latin typeface="Arial" pitchFamily="34" charset="0"/>
                <a:ea typeface="Arial" pitchFamily="34" charset="-122"/>
                <a:cs typeface="Arial" pitchFamily="34" charset="-120"/>
              </a:rPr>
              <a:t>PHASE 4</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Questions before we share it?</a:t>
            </a:r>
            <a:endParaRPr lang="en-US" sz="3100" dirty="0"/>
          </a:p>
        </p:txBody>
      </p:sp>
      <p:sp>
        <p:nvSpPr>
          <p:cNvPr id="5" name="Shape 2"/>
          <p:cNvSpPr/>
          <p:nvPr/>
        </p:nvSpPr>
        <p:spPr>
          <a:xfrm>
            <a:off x="658368"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Modus</a:t>
            </a:r>
            <a:endParaRPr lang="en-US" sz="1800" dirty="0"/>
          </a:p>
        </p:txBody>
      </p:sp>
      <p:sp>
        <p:nvSpPr>
          <p:cNvPr id="7" name="Shape 4"/>
          <p:cNvSpPr/>
          <p:nvPr/>
        </p:nvSpPr>
        <p:spPr>
          <a:xfrm>
            <a:off x="4337304"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4538472"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Interaction</a:t>
            </a:r>
            <a:endParaRPr lang="en-US" sz="1800" dirty="0"/>
          </a:p>
        </p:txBody>
      </p:sp>
      <p:sp>
        <p:nvSpPr>
          <p:cNvPr id="9" name="Shape 6"/>
          <p:cNvSpPr/>
          <p:nvPr/>
        </p:nvSpPr>
        <p:spPr>
          <a:xfrm>
            <a:off x="8016240" y="1737360"/>
            <a:ext cx="3477768"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217408" y="19019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Responsive</a:t>
            </a:r>
            <a:endParaRPr lang="en-US" sz="1800" dirty="0"/>
          </a:p>
        </p:txBody>
      </p:sp>
      <p:sp>
        <p:nvSpPr>
          <p:cNvPr id="11" name="Shape 8"/>
          <p:cNvSpPr/>
          <p:nvPr/>
        </p:nvSpPr>
        <p:spPr>
          <a:xfrm>
            <a:off x="658368" y="310896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2735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Accessibility</a:t>
            </a:r>
            <a:endParaRPr lang="en-US" sz="1800" dirty="0"/>
          </a:p>
        </p:txBody>
      </p:sp>
      <p:sp>
        <p:nvSpPr>
          <p:cNvPr id="13" name="Shape 10"/>
          <p:cNvSpPr/>
          <p:nvPr/>
        </p:nvSpPr>
        <p:spPr>
          <a:xfrm>
            <a:off x="4337304" y="3108960"/>
            <a:ext cx="3477768"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4538472" y="327355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Repair</a:t>
            </a:r>
            <a:endParaRPr lang="en-US" sz="1800" dirty="0"/>
          </a:p>
        </p:txBody>
      </p:sp>
      <p:sp>
        <p:nvSpPr>
          <p:cNvPr id="15" name="Text 12"/>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Next we’ll move the prototype from one Mac to links that other people can open.</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3E63"/>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003E63"/>
          </a:solidFill>
          <a:ln w="12700">
            <a:solidFill>
              <a:srgbClr val="333333">
                <a:alpha val="0"/>
              </a:srgbClr>
            </a:solidFill>
            <a:prstDash val="solid"/>
          </a:ln>
        </p:spPr>
      </p:sp>
      <p:sp>
        <p:nvSpPr>
          <p:cNvPr id="4" name="Shape 1"/>
          <p:cNvSpPr/>
          <p:nvPr/>
        </p:nvSpPr>
        <p:spPr>
          <a:xfrm rot="1800000">
            <a:off x="7772400" y="-914400"/>
            <a:ext cx="5212080" cy="5212080"/>
          </a:xfrm>
          <a:prstGeom prst="arc">
            <a:avLst/>
          </a:prstGeom>
          <a:solidFill>
            <a:srgbClr val="F9C74F">
              <a:alpha val="98000"/>
            </a:srgbClr>
          </a:solidFill>
          <a:ln w="12700">
            <a:solidFill>
              <a:srgbClr val="333333">
                <a:alpha val="0"/>
              </a:srgbClr>
            </a:solidFill>
            <a:prstDash val="solid"/>
          </a:ln>
        </p:spPr>
      </p:sp>
      <p:sp>
        <p:nvSpPr>
          <p:cNvPr id="5" name="Text 2"/>
          <p:cNvSpPr/>
          <p:nvPr/>
        </p:nvSpPr>
        <p:spPr>
          <a:xfrm>
            <a:off x="731520" y="658368"/>
            <a:ext cx="2743200" cy="274320"/>
          </a:xfrm>
          <a:prstGeom prst="rect">
            <a:avLst/>
          </a:prstGeom>
          <a:noFill/>
          <a:ln/>
        </p:spPr>
        <p:txBody>
          <a:bodyPr wrap="square" lIns="0" tIns="0" rIns="0" bIns="0" rtlCol="0" anchor="ctr">
            <a:normAutofit/>
          </a:bodyPr>
          <a:lstStyle/>
          <a:p>
            <a:pPr indent="0" marL="0">
              <a:buNone/>
            </a:pPr>
            <a:r>
              <a:rPr lang="en-US" sz="1100" b="1" spc="200" kern="0" dirty="0">
                <a:solidFill>
                  <a:srgbClr val="F9C74F"/>
                </a:solidFill>
                <a:latin typeface="Arial" pitchFamily="34" charset="0"/>
                <a:ea typeface="Arial" pitchFamily="34" charset="-122"/>
                <a:cs typeface="Arial" pitchFamily="34" charset="-120"/>
              </a:rPr>
              <a:t>PHASE 5</a:t>
            </a:r>
            <a:endParaRPr lang="en-US" sz="1100" dirty="0"/>
          </a:p>
        </p:txBody>
      </p:sp>
      <p:sp>
        <p:nvSpPr>
          <p:cNvPr id="6" name="Text 3"/>
          <p:cNvSpPr/>
          <p:nvPr/>
        </p:nvSpPr>
        <p:spPr>
          <a:xfrm>
            <a:off x="731520" y="1828800"/>
            <a:ext cx="8961120" cy="1005840"/>
          </a:xfrm>
          <a:prstGeom prst="rect">
            <a:avLst/>
          </a:prstGeom>
          <a:noFill/>
          <a:ln/>
        </p:spPr>
        <p:txBody>
          <a:bodyPr wrap="square" lIns="0" tIns="0" rIns="0" bIns="0" rtlCol="0" anchor="t">
            <a:normAutofit/>
          </a:bodyPr>
          <a:lstStyle/>
          <a:p>
            <a:pPr indent="0" marL="0">
              <a:buNone/>
            </a:pPr>
            <a:r>
              <a:rPr lang="en-US" sz="4200" b="1" dirty="0">
                <a:solidFill>
                  <a:srgbClr val="FFFFFF"/>
                </a:solidFill>
                <a:latin typeface="Arial" pitchFamily="34" charset="0"/>
                <a:ea typeface="Arial" pitchFamily="34" charset="-122"/>
                <a:cs typeface="Arial" pitchFamily="34" charset="-120"/>
              </a:rPr>
              <a:t>Phase 5</a:t>
            </a:r>
            <a:endParaRPr lang="en-US" sz="4200" dirty="0"/>
          </a:p>
        </p:txBody>
      </p:sp>
      <p:sp>
        <p:nvSpPr>
          <p:cNvPr id="7" name="Text 4"/>
          <p:cNvSpPr/>
          <p:nvPr/>
        </p:nvSpPr>
        <p:spPr>
          <a:xfrm>
            <a:off x="749808" y="3090672"/>
            <a:ext cx="8412480" cy="685800"/>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Share the work</a:t>
            </a:r>
            <a:endParaRPr lang="en-US" sz="2400" dirty="0"/>
          </a:p>
        </p:txBody>
      </p:sp>
      <p:sp>
        <p:nvSpPr>
          <p:cNvPr id="8" name="Text 5"/>
          <p:cNvSpPr/>
          <p:nvPr/>
        </p:nvSpPr>
        <p:spPr>
          <a:xfrm>
            <a:off x="749808" y="5440680"/>
            <a:ext cx="5486400" cy="384048"/>
          </a:xfrm>
          <a:prstGeom prst="rect">
            <a:avLst/>
          </a:prstGeom>
          <a:noFill/>
          <a:ln/>
        </p:spPr>
        <p:txBody>
          <a:bodyPr wrap="square" lIns="0" tIns="0" rIns="0" bIns="0" rtlCol="0" anchor="ctr">
            <a:normAutofit/>
          </a:bodyPr>
          <a:lstStyle/>
          <a:p>
            <a:pPr indent="0" marL="0">
              <a:buNone/>
            </a:pPr>
            <a:r>
              <a:rPr lang="en-US" sz="1300" b="1" dirty="0">
                <a:solidFill>
                  <a:srgbClr val="F9C74F"/>
                </a:solidFill>
                <a:latin typeface="Arial" pitchFamily="34" charset="0"/>
                <a:ea typeface="Arial" pitchFamily="34" charset="-122"/>
                <a:cs typeface="Arial" pitchFamily="34" charset="-120"/>
              </a:rPr>
              <a:t>Day 2 · Afternoon</a:t>
            </a:r>
            <a:endParaRPr lang="en-US" sz="13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PHASE 5</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Move it from your Mac to links others can open.</a:t>
            </a:r>
            <a:endParaRPr lang="en-US" sz="3100" dirty="0"/>
          </a:p>
        </p:txBody>
      </p:sp>
      <p:sp>
        <p:nvSpPr>
          <p:cNvPr id="5" name="Shape 2"/>
          <p:cNvSpPr/>
          <p:nvPr/>
        </p:nvSpPr>
        <p:spPr>
          <a:xfrm>
            <a:off x="658368"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6" name="Text 3"/>
          <p:cNvSpPr/>
          <p:nvPr/>
        </p:nvSpPr>
        <p:spPr>
          <a:xfrm>
            <a:off x="76809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1</a:t>
            </a:r>
            <a:endParaRPr lang="en-US" sz="1000" dirty="0"/>
          </a:p>
        </p:txBody>
      </p:sp>
      <p:sp>
        <p:nvSpPr>
          <p:cNvPr id="7" name="Text 4"/>
          <p:cNvSpPr/>
          <p:nvPr/>
        </p:nvSpPr>
        <p:spPr>
          <a:xfrm>
            <a:off x="768096"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Use your GitHub account</a:t>
            </a:r>
            <a:endParaRPr lang="en-US" sz="1390" dirty="0"/>
          </a:p>
        </p:txBody>
      </p:sp>
      <p:sp>
        <p:nvSpPr>
          <p:cNvPr id="8" name="Shape 5"/>
          <p:cNvSpPr/>
          <p:nvPr/>
        </p:nvSpPr>
        <p:spPr>
          <a:xfrm>
            <a:off x="2482596"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9" name="Text 6"/>
          <p:cNvSpPr/>
          <p:nvPr/>
        </p:nvSpPr>
        <p:spPr>
          <a:xfrm>
            <a:off x="2592324"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2</a:t>
            </a:r>
            <a:endParaRPr lang="en-US" sz="1000" dirty="0"/>
          </a:p>
        </p:txBody>
      </p:sp>
      <p:sp>
        <p:nvSpPr>
          <p:cNvPr id="10" name="Text 7"/>
          <p:cNvSpPr/>
          <p:nvPr/>
        </p:nvSpPr>
        <p:spPr>
          <a:xfrm>
            <a:off x="2592324"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Create a repository</a:t>
            </a:r>
            <a:endParaRPr lang="en-US" sz="1390" dirty="0"/>
          </a:p>
        </p:txBody>
      </p:sp>
      <p:sp>
        <p:nvSpPr>
          <p:cNvPr id="11" name="Shape 8"/>
          <p:cNvSpPr/>
          <p:nvPr/>
        </p:nvSpPr>
        <p:spPr>
          <a:xfrm>
            <a:off x="4306824"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12" name="Text 9"/>
          <p:cNvSpPr/>
          <p:nvPr/>
        </p:nvSpPr>
        <p:spPr>
          <a:xfrm>
            <a:off x="4416552"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3</a:t>
            </a:r>
            <a:endParaRPr lang="en-US" sz="1000" dirty="0"/>
          </a:p>
        </p:txBody>
      </p:sp>
      <p:sp>
        <p:nvSpPr>
          <p:cNvPr id="13" name="Text 10"/>
          <p:cNvSpPr/>
          <p:nvPr/>
        </p:nvSpPr>
        <p:spPr>
          <a:xfrm>
            <a:off x="4416552"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Save a named version</a:t>
            </a:r>
            <a:endParaRPr lang="en-US" sz="1390" dirty="0"/>
          </a:p>
        </p:txBody>
      </p:sp>
      <p:sp>
        <p:nvSpPr>
          <p:cNvPr id="14" name="Shape 11"/>
          <p:cNvSpPr/>
          <p:nvPr/>
        </p:nvSpPr>
        <p:spPr>
          <a:xfrm>
            <a:off x="6131052"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15" name="Text 12"/>
          <p:cNvSpPr/>
          <p:nvPr/>
        </p:nvSpPr>
        <p:spPr>
          <a:xfrm>
            <a:off x="6240780"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4</a:t>
            </a:r>
            <a:endParaRPr lang="en-US" sz="1000" dirty="0"/>
          </a:p>
        </p:txBody>
      </p:sp>
      <p:sp>
        <p:nvSpPr>
          <p:cNvPr id="16" name="Text 13"/>
          <p:cNvSpPr/>
          <p:nvPr/>
        </p:nvSpPr>
        <p:spPr>
          <a:xfrm>
            <a:off x="6240780"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Publish it</a:t>
            </a:r>
            <a:endParaRPr lang="en-US" sz="1390" dirty="0"/>
          </a:p>
        </p:txBody>
      </p:sp>
      <p:sp>
        <p:nvSpPr>
          <p:cNvPr id="17" name="Shape 14"/>
          <p:cNvSpPr/>
          <p:nvPr/>
        </p:nvSpPr>
        <p:spPr>
          <a:xfrm>
            <a:off x="7955280" y="2148840"/>
            <a:ext cx="1714500" cy="960120"/>
          </a:xfrm>
          <a:prstGeom prst="roundRect">
            <a:avLst>
              <a:gd name="adj" fmla="val 7619"/>
            </a:avLst>
          </a:prstGeom>
          <a:solidFill>
            <a:srgbClr val="DDEFE6"/>
          </a:solidFill>
          <a:ln w="12700">
            <a:solidFill>
              <a:srgbClr val="DDEFE6">
                <a:alpha val="0"/>
              </a:srgbClr>
            </a:solidFill>
            <a:prstDash val="solid"/>
          </a:ln>
        </p:spPr>
      </p:sp>
      <p:sp>
        <p:nvSpPr>
          <p:cNvPr id="18" name="Text 15"/>
          <p:cNvSpPr/>
          <p:nvPr/>
        </p:nvSpPr>
        <p:spPr>
          <a:xfrm>
            <a:off x="8065008"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5</a:t>
            </a:r>
            <a:endParaRPr lang="en-US" sz="1000" dirty="0"/>
          </a:p>
        </p:txBody>
      </p:sp>
      <p:sp>
        <p:nvSpPr>
          <p:cNvPr id="19" name="Text 16"/>
          <p:cNvSpPr/>
          <p:nvPr/>
        </p:nvSpPr>
        <p:spPr>
          <a:xfrm>
            <a:off x="8065008"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Create a live preview</a:t>
            </a:r>
            <a:endParaRPr lang="en-US" sz="1390" dirty="0"/>
          </a:p>
        </p:txBody>
      </p:sp>
      <p:sp>
        <p:nvSpPr>
          <p:cNvPr id="20" name="Shape 17"/>
          <p:cNvSpPr/>
          <p:nvPr/>
        </p:nvSpPr>
        <p:spPr>
          <a:xfrm>
            <a:off x="9779508" y="2148840"/>
            <a:ext cx="1714500" cy="960120"/>
          </a:xfrm>
          <a:prstGeom prst="roundRect">
            <a:avLst>
              <a:gd name="adj" fmla="val 7619"/>
            </a:avLst>
          </a:prstGeom>
          <a:solidFill>
            <a:srgbClr val="D9EBF7"/>
          </a:solidFill>
          <a:ln w="12700">
            <a:solidFill>
              <a:srgbClr val="D9EBF7">
                <a:alpha val="0"/>
              </a:srgbClr>
            </a:solidFill>
            <a:prstDash val="solid"/>
          </a:ln>
        </p:spPr>
      </p:sp>
      <p:sp>
        <p:nvSpPr>
          <p:cNvPr id="21" name="Text 18"/>
          <p:cNvSpPr/>
          <p:nvPr/>
        </p:nvSpPr>
        <p:spPr>
          <a:xfrm>
            <a:off x="9889236" y="2276856"/>
            <a:ext cx="228600" cy="228600"/>
          </a:xfrm>
          <a:prstGeom prst="rect">
            <a:avLst/>
          </a:prstGeom>
          <a:noFill/>
          <a:ln/>
        </p:spPr>
        <p:txBody>
          <a:bodyPr wrap="square" lIns="0" tIns="0" rIns="0" bIns="0" rtlCol="0" anchor="ctr">
            <a:normAutofit/>
          </a:bodyPr>
          <a:lstStyle/>
          <a:p>
            <a:pPr algn="ctr" indent="0" marL="0">
              <a:buNone/>
            </a:pPr>
            <a:r>
              <a:rPr lang="en-US" sz="1000" b="1" dirty="0">
                <a:solidFill>
                  <a:srgbClr val="003E63"/>
                </a:solidFill>
                <a:latin typeface="Arial" pitchFamily="34" charset="0"/>
                <a:ea typeface="Arial" pitchFamily="34" charset="-122"/>
                <a:cs typeface="Arial" pitchFamily="34" charset="-120"/>
              </a:rPr>
              <a:t>6</a:t>
            </a:r>
            <a:endParaRPr lang="en-US" sz="1000" dirty="0"/>
          </a:p>
        </p:txBody>
      </p:sp>
      <p:sp>
        <p:nvSpPr>
          <p:cNvPr id="22" name="Text 19"/>
          <p:cNvSpPr/>
          <p:nvPr/>
        </p:nvSpPr>
        <p:spPr>
          <a:xfrm>
            <a:off x="9889236" y="2542032"/>
            <a:ext cx="1495044" cy="347472"/>
          </a:xfrm>
          <a:prstGeom prst="rect">
            <a:avLst/>
          </a:prstGeom>
          <a:noFill/>
          <a:ln/>
        </p:spPr>
        <p:txBody>
          <a:bodyPr wrap="square" lIns="0" tIns="0" rIns="0" bIns="0" rtlCol="0" anchor="ctr">
            <a:normAutofit/>
          </a:bodyPr>
          <a:lstStyle/>
          <a:p>
            <a:pPr algn="ctr" indent="0" marL="0">
              <a:buNone/>
            </a:pPr>
            <a:r>
              <a:rPr lang="en-US" sz="1390" b="1" dirty="0">
                <a:solidFill>
                  <a:srgbClr val="1B242B"/>
                </a:solidFill>
                <a:latin typeface="Arial" pitchFamily="34" charset="0"/>
                <a:ea typeface="Arial" pitchFamily="34" charset="-122"/>
                <a:cs typeface="Arial" pitchFamily="34" charset="-120"/>
              </a:rPr>
              <a:t>Share both links</a:t>
            </a:r>
            <a:endParaRPr lang="en-US" sz="1390" dirty="0"/>
          </a:p>
        </p:txBody>
      </p:sp>
      <p:sp>
        <p:nvSpPr>
          <p:cNvPr id="23" name="Text 20"/>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The Modus AI PDLC Playbook includes a Netlify deployment flow.</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PHASE 5</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Share access, not credentials.</a:t>
            </a:r>
            <a:endParaRPr lang="en-US" sz="3100" dirty="0"/>
          </a:p>
        </p:txBody>
      </p:sp>
      <p:sp>
        <p:nvSpPr>
          <p:cNvPr id="5" name="Shape 2"/>
          <p:cNvSpPr/>
          <p:nvPr/>
        </p:nvSpPr>
        <p:spPr>
          <a:xfrm>
            <a:off x="658368" y="1645920"/>
            <a:ext cx="5257800" cy="4251960"/>
          </a:xfrm>
          <a:prstGeom prst="roundRect">
            <a:avLst>
              <a:gd name="adj" fmla="val 1720"/>
            </a:avLst>
          </a:prstGeom>
          <a:solidFill>
            <a:srgbClr val="DDEFE6"/>
          </a:solidFill>
          <a:ln w="12700">
            <a:solidFill>
              <a:srgbClr val="DDEFE6">
                <a:alpha val="0"/>
              </a:srgbClr>
            </a:solidFill>
            <a:prstDash val="solid"/>
          </a:ln>
        </p:spPr>
      </p:sp>
      <p:sp>
        <p:nvSpPr>
          <p:cNvPr id="6" name="Shape 3"/>
          <p:cNvSpPr/>
          <p:nvPr/>
        </p:nvSpPr>
        <p:spPr>
          <a:xfrm>
            <a:off x="6126480" y="1645920"/>
            <a:ext cx="5257800" cy="4251960"/>
          </a:xfrm>
          <a:prstGeom prst="roundRect">
            <a:avLst>
              <a:gd name="adj" fmla="val 1720"/>
            </a:avLst>
          </a:prstGeom>
          <a:solidFill>
            <a:srgbClr val="F7E2E2"/>
          </a:solidFill>
          <a:ln w="12700">
            <a:solidFill>
              <a:srgbClr val="F7E2E2">
                <a:alpha val="0"/>
              </a:srgbClr>
            </a:solidFill>
            <a:prstDash val="solid"/>
          </a:ln>
        </p:spPr>
      </p:sp>
      <p:sp>
        <p:nvSpPr>
          <p:cNvPr id="7" name="Text 4"/>
          <p:cNvSpPr/>
          <p:nvPr/>
        </p:nvSpPr>
        <p:spPr>
          <a:xfrm>
            <a:off x="914400" y="1901952"/>
            <a:ext cx="4709160" cy="384048"/>
          </a:xfrm>
          <a:prstGeom prst="rect">
            <a:avLst/>
          </a:prstGeom>
          <a:noFill/>
          <a:ln/>
        </p:spPr>
        <p:txBody>
          <a:bodyPr wrap="square" lIns="0" tIns="0" rIns="0" bIns="0" rtlCol="0" anchor="ctr">
            <a:normAutofit/>
          </a:bodyPr>
          <a:lstStyle/>
          <a:p>
            <a:pPr indent="0" marL="0">
              <a:buNone/>
            </a:pPr>
            <a:r>
              <a:rPr lang="en-US" sz="2000" b="1" dirty="0">
                <a:solidFill>
                  <a:srgbClr val="2D7A58"/>
                </a:solidFill>
                <a:latin typeface="Arial" pitchFamily="34" charset="0"/>
                <a:ea typeface="Arial" pitchFamily="34" charset="-122"/>
                <a:cs typeface="Arial" pitchFamily="34" charset="-120"/>
              </a:rPr>
              <a:t>What to share</a:t>
            </a:r>
            <a:endParaRPr lang="en-US" sz="2000" dirty="0"/>
          </a:p>
        </p:txBody>
      </p:sp>
      <p:sp>
        <p:nvSpPr>
          <p:cNvPr id="8" name="Text 5"/>
          <p:cNvSpPr/>
          <p:nvPr/>
        </p:nvSpPr>
        <p:spPr>
          <a:xfrm>
            <a:off x="6382512" y="1901952"/>
            <a:ext cx="4709160" cy="384048"/>
          </a:xfrm>
          <a:prstGeom prst="rect">
            <a:avLst/>
          </a:prstGeom>
          <a:noFill/>
          <a:ln/>
        </p:spPr>
        <p:txBody>
          <a:bodyPr wrap="square" lIns="0" tIns="0" rIns="0" bIns="0" rtlCol="0" anchor="ctr">
            <a:normAutofit/>
          </a:bodyPr>
          <a:lstStyle/>
          <a:p>
            <a:pPr indent="0" marL="0">
              <a:buNone/>
            </a:pPr>
            <a:r>
              <a:rPr lang="en-US" sz="2000" b="1" dirty="0">
                <a:solidFill>
                  <a:srgbClr val="B83B3B"/>
                </a:solidFill>
                <a:latin typeface="Arial" pitchFamily="34" charset="0"/>
                <a:ea typeface="Arial" pitchFamily="34" charset="-122"/>
                <a:cs typeface="Arial" pitchFamily="34" charset="-120"/>
              </a:rPr>
              <a:t>What stays private</a:t>
            </a:r>
            <a:endParaRPr lang="en-US" sz="2000" dirty="0"/>
          </a:p>
        </p:txBody>
      </p:sp>
      <p:sp>
        <p:nvSpPr>
          <p:cNvPr id="9" name="Text 6"/>
          <p:cNvSpPr/>
          <p:nvPr/>
        </p:nvSpPr>
        <p:spPr>
          <a:xfrm>
            <a:off x="932688" y="248716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0" name="Text 7"/>
          <p:cNvSpPr/>
          <p:nvPr/>
        </p:nvSpPr>
        <p:spPr>
          <a:xfrm>
            <a:off x="1316736" y="246888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Private vs public</a:t>
            </a:r>
            <a:endParaRPr lang="en-US" sz="1550" dirty="0"/>
          </a:p>
        </p:txBody>
      </p:sp>
      <p:sp>
        <p:nvSpPr>
          <p:cNvPr id="11" name="Text 8"/>
          <p:cNvSpPr/>
          <p:nvPr/>
        </p:nvSpPr>
        <p:spPr>
          <a:xfrm>
            <a:off x="932688" y="3008376"/>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2" name="Text 9"/>
          <p:cNvSpPr/>
          <p:nvPr/>
        </p:nvSpPr>
        <p:spPr>
          <a:xfrm>
            <a:off x="1316736" y="2990088"/>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Add a collaborator</a:t>
            </a:r>
            <a:endParaRPr lang="en-US" sz="1550" dirty="0"/>
          </a:p>
        </p:txBody>
      </p:sp>
      <p:sp>
        <p:nvSpPr>
          <p:cNvPr id="13" name="Text 10"/>
          <p:cNvSpPr/>
          <p:nvPr/>
        </p:nvSpPr>
        <p:spPr>
          <a:xfrm>
            <a:off x="932688" y="3529584"/>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4" name="Text 11"/>
          <p:cNvSpPr/>
          <p:nvPr/>
        </p:nvSpPr>
        <p:spPr>
          <a:xfrm>
            <a:off x="1316736" y="3511296"/>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View vs push access</a:t>
            </a:r>
            <a:endParaRPr lang="en-US" sz="1550" dirty="0"/>
          </a:p>
        </p:txBody>
      </p:sp>
      <p:sp>
        <p:nvSpPr>
          <p:cNvPr id="15" name="Text 12"/>
          <p:cNvSpPr/>
          <p:nvPr/>
        </p:nvSpPr>
        <p:spPr>
          <a:xfrm>
            <a:off x="932688" y="4050792"/>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6" name="Text 13"/>
          <p:cNvSpPr/>
          <p:nvPr/>
        </p:nvSpPr>
        <p:spPr>
          <a:xfrm>
            <a:off x="1316736" y="4032504"/>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Org vs personal repo</a:t>
            </a:r>
            <a:endParaRPr lang="en-US" sz="1550" dirty="0"/>
          </a:p>
        </p:txBody>
      </p:sp>
      <p:sp>
        <p:nvSpPr>
          <p:cNvPr id="17" name="Text 14"/>
          <p:cNvSpPr/>
          <p:nvPr/>
        </p:nvSpPr>
        <p:spPr>
          <a:xfrm>
            <a:off x="932688" y="4572000"/>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2D7A58"/>
                </a:solidFill>
                <a:latin typeface="Arial" pitchFamily="34" charset="0"/>
                <a:ea typeface="Arial" pitchFamily="34" charset="-122"/>
                <a:cs typeface="Arial" pitchFamily="34" charset="-120"/>
              </a:rPr>
              <a:t>✓</a:t>
            </a:r>
            <a:endParaRPr lang="en-US" sz="1300" dirty="0"/>
          </a:p>
        </p:txBody>
      </p:sp>
      <p:sp>
        <p:nvSpPr>
          <p:cNvPr id="18" name="Text 15"/>
          <p:cNvSpPr/>
          <p:nvPr/>
        </p:nvSpPr>
        <p:spPr>
          <a:xfrm>
            <a:off x="1316736" y="4553712"/>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Repo link + live link</a:t>
            </a:r>
            <a:endParaRPr lang="en-US" sz="1550" dirty="0"/>
          </a:p>
        </p:txBody>
      </p:sp>
      <p:sp>
        <p:nvSpPr>
          <p:cNvPr id="19" name="Text 16"/>
          <p:cNvSpPr/>
          <p:nvPr/>
        </p:nvSpPr>
        <p:spPr>
          <a:xfrm>
            <a:off x="6400800" y="2487168"/>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B83B3B"/>
                </a:solidFill>
                <a:latin typeface="Arial" pitchFamily="34" charset="0"/>
                <a:ea typeface="Arial" pitchFamily="34" charset="-122"/>
                <a:cs typeface="Arial" pitchFamily="34" charset="-120"/>
              </a:rPr>
              <a:t>✓</a:t>
            </a:r>
            <a:endParaRPr lang="en-US" sz="1300" dirty="0"/>
          </a:p>
        </p:txBody>
      </p:sp>
      <p:sp>
        <p:nvSpPr>
          <p:cNvPr id="20" name="Text 17"/>
          <p:cNvSpPr/>
          <p:nvPr/>
        </p:nvSpPr>
        <p:spPr>
          <a:xfrm>
            <a:off x="6784848" y="2468880"/>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Tokens</a:t>
            </a:r>
            <a:endParaRPr lang="en-US" sz="1550" dirty="0"/>
          </a:p>
        </p:txBody>
      </p:sp>
      <p:sp>
        <p:nvSpPr>
          <p:cNvPr id="21" name="Text 18"/>
          <p:cNvSpPr/>
          <p:nvPr/>
        </p:nvSpPr>
        <p:spPr>
          <a:xfrm>
            <a:off x="6400800" y="3008376"/>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B83B3B"/>
                </a:solidFill>
                <a:latin typeface="Arial" pitchFamily="34" charset="0"/>
                <a:ea typeface="Arial" pitchFamily="34" charset="-122"/>
                <a:cs typeface="Arial" pitchFamily="34" charset="-120"/>
              </a:rPr>
              <a:t>✓</a:t>
            </a:r>
            <a:endParaRPr lang="en-US" sz="1300" dirty="0"/>
          </a:p>
        </p:txBody>
      </p:sp>
      <p:sp>
        <p:nvSpPr>
          <p:cNvPr id="22" name="Text 19"/>
          <p:cNvSpPr/>
          <p:nvPr/>
        </p:nvSpPr>
        <p:spPr>
          <a:xfrm>
            <a:off x="6784848" y="2990088"/>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.env files</a:t>
            </a:r>
            <a:endParaRPr lang="en-US" sz="1550" dirty="0"/>
          </a:p>
        </p:txBody>
      </p:sp>
      <p:sp>
        <p:nvSpPr>
          <p:cNvPr id="23" name="Text 20"/>
          <p:cNvSpPr/>
          <p:nvPr/>
        </p:nvSpPr>
        <p:spPr>
          <a:xfrm>
            <a:off x="6400800" y="3529584"/>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B83B3B"/>
                </a:solidFill>
                <a:latin typeface="Arial" pitchFamily="34" charset="0"/>
                <a:ea typeface="Arial" pitchFamily="34" charset="-122"/>
                <a:cs typeface="Arial" pitchFamily="34" charset="-120"/>
              </a:rPr>
              <a:t>✓</a:t>
            </a:r>
            <a:endParaRPr lang="en-US" sz="1300" dirty="0"/>
          </a:p>
        </p:txBody>
      </p:sp>
      <p:sp>
        <p:nvSpPr>
          <p:cNvPr id="24" name="Text 21"/>
          <p:cNvSpPr/>
          <p:nvPr/>
        </p:nvSpPr>
        <p:spPr>
          <a:xfrm>
            <a:off x="6784848" y="3511296"/>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CI secrets</a:t>
            </a:r>
            <a:endParaRPr lang="en-US" sz="1550" dirty="0"/>
          </a:p>
        </p:txBody>
      </p:sp>
      <p:sp>
        <p:nvSpPr>
          <p:cNvPr id="25" name="Text 22"/>
          <p:cNvSpPr/>
          <p:nvPr/>
        </p:nvSpPr>
        <p:spPr>
          <a:xfrm>
            <a:off x="6400800" y="4050792"/>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B83B3B"/>
                </a:solidFill>
                <a:latin typeface="Arial" pitchFamily="34" charset="0"/>
                <a:ea typeface="Arial" pitchFamily="34" charset="-122"/>
                <a:cs typeface="Arial" pitchFamily="34" charset="-120"/>
              </a:rPr>
              <a:t>✓</a:t>
            </a:r>
            <a:endParaRPr lang="en-US" sz="1300" dirty="0"/>
          </a:p>
        </p:txBody>
      </p:sp>
      <p:sp>
        <p:nvSpPr>
          <p:cNvPr id="26" name="Text 23"/>
          <p:cNvSpPr/>
          <p:nvPr/>
        </p:nvSpPr>
        <p:spPr>
          <a:xfrm>
            <a:off x="6784848" y="4032504"/>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Production credentials</a:t>
            </a:r>
            <a:endParaRPr lang="en-US" sz="1550" dirty="0"/>
          </a:p>
        </p:txBody>
      </p:sp>
      <p:sp>
        <p:nvSpPr>
          <p:cNvPr id="27" name="Text 24"/>
          <p:cNvSpPr/>
          <p:nvPr/>
        </p:nvSpPr>
        <p:spPr>
          <a:xfrm>
            <a:off x="6400800" y="4572000"/>
            <a:ext cx="274320" cy="274320"/>
          </a:xfrm>
          <a:prstGeom prst="rect">
            <a:avLst/>
          </a:prstGeom>
          <a:noFill/>
          <a:ln/>
        </p:spPr>
        <p:txBody>
          <a:bodyPr wrap="square" lIns="0" tIns="0" rIns="0" bIns="0" rtlCol="0" anchor="ctr">
            <a:normAutofit/>
          </a:bodyPr>
          <a:lstStyle/>
          <a:p>
            <a:pPr algn="ctr" indent="0" marL="0">
              <a:buNone/>
            </a:pPr>
            <a:r>
              <a:rPr lang="en-US" sz="1300" b="1" dirty="0">
                <a:solidFill>
                  <a:srgbClr val="B83B3B"/>
                </a:solidFill>
                <a:latin typeface="Arial" pitchFamily="34" charset="0"/>
                <a:ea typeface="Arial" pitchFamily="34" charset="-122"/>
                <a:cs typeface="Arial" pitchFamily="34" charset="-120"/>
              </a:rPr>
              <a:t>✓</a:t>
            </a:r>
            <a:endParaRPr lang="en-US" sz="1300" dirty="0"/>
          </a:p>
        </p:txBody>
      </p:sp>
      <p:sp>
        <p:nvSpPr>
          <p:cNvPr id="28" name="Text 25"/>
          <p:cNvSpPr/>
          <p:nvPr/>
        </p:nvSpPr>
        <p:spPr>
          <a:xfrm>
            <a:off x="6784848" y="4553712"/>
            <a:ext cx="4251960" cy="329184"/>
          </a:xfrm>
          <a:prstGeom prst="rect">
            <a:avLst/>
          </a:prstGeom>
          <a:noFill/>
          <a:ln/>
        </p:spPr>
        <p:txBody>
          <a:bodyPr wrap="square" lIns="0" tIns="0" rIns="0" bIns="0" rtlCol="0" anchor="ctr">
            <a:normAutofit/>
          </a:bodyPr>
          <a:lstStyle/>
          <a:p>
            <a:pPr indent="0" marL="0">
              <a:buNone/>
            </a:pPr>
            <a:r>
              <a:rPr lang="en-US" sz="1550" dirty="0">
                <a:solidFill>
                  <a:srgbClr val="1B242B"/>
                </a:solidFill>
                <a:latin typeface="Arial" pitchFamily="34" charset="0"/>
                <a:ea typeface="Arial" pitchFamily="34" charset="-122"/>
                <a:cs typeface="Arial" pitchFamily="34" charset="-120"/>
              </a:rPr>
              <a:t>Customer data</a:t>
            </a:r>
            <a:endParaRPr lang="en-US" sz="15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003E63"/>
                </a:solidFill>
                <a:latin typeface="Arial" pitchFamily="34" charset="0"/>
                <a:ea typeface="Arial" pitchFamily="34" charset="-122"/>
                <a:cs typeface="Arial" pitchFamily="34" charset="-120"/>
              </a:rPr>
              <a:t>PHASE 5</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Delivery check</a:t>
            </a:r>
            <a:endParaRPr lang="en-US" sz="3100" dirty="0"/>
          </a:p>
        </p:txBody>
      </p:sp>
      <p:sp>
        <p:nvSpPr>
          <p:cNvPr id="5" name="Shape 2"/>
          <p:cNvSpPr/>
          <p:nvPr/>
        </p:nvSpPr>
        <p:spPr>
          <a:xfrm>
            <a:off x="868680" y="1691640"/>
            <a:ext cx="5257800" cy="749808"/>
          </a:xfrm>
          <a:prstGeom prst="roundRect">
            <a:avLst>
              <a:gd name="adj" fmla="val 9756"/>
            </a:avLst>
          </a:prstGeom>
          <a:solidFill>
            <a:srgbClr val="DDEFE6"/>
          </a:solidFill>
          <a:ln w="12700">
            <a:solidFill>
              <a:srgbClr val="DDEFE6">
                <a:alpha val="0"/>
              </a:srgbClr>
            </a:solidFill>
            <a:prstDash val="solid"/>
          </a:ln>
        </p:spPr>
      </p:sp>
      <p:sp>
        <p:nvSpPr>
          <p:cNvPr id="6" name="Text 3"/>
          <p:cNvSpPr/>
          <p:nvPr/>
        </p:nvSpPr>
        <p:spPr>
          <a:xfrm>
            <a:off x="10332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7" name="Text 4"/>
          <p:cNvSpPr/>
          <p:nvPr/>
        </p:nvSpPr>
        <p:spPr>
          <a:xfrm>
            <a:off x="1490472" y="182880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repository is in your GitHub account</a:t>
            </a:r>
            <a:endParaRPr lang="en-US" sz="1450" dirty="0"/>
          </a:p>
        </p:txBody>
      </p:sp>
      <p:sp>
        <p:nvSpPr>
          <p:cNvPr id="8" name="Shape 5"/>
          <p:cNvSpPr/>
          <p:nvPr/>
        </p:nvSpPr>
        <p:spPr>
          <a:xfrm>
            <a:off x="6355080" y="1691640"/>
            <a:ext cx="5257800" cy="749808"/>
          </a:xfrm>
          <a:prstGeom prst="roundRect">
            <a:avLst>
              <a:gd name="adj" fmla="val 9756"/>
            </a:avLst>
          </a:prstGeom>
          <a:solidFill>
            <a:srgbClr val="DDEFE6"/>
          </a:solidFill>
          <a:ln w="12700">
            <a:solidFill>
              <a:srgbClr val="DDEFE6">
                <a:alpha val="0"/>
              </a:srgbClr>
            </a:solidFill>
            <a:prstDash val="solid"/>
          </a:ln>
        </p:spPr>
      </p:sp>
      <p:sp>
        <p:nvSpPr>
          <p:cNvPr id="9" name="Text 6"/>
          <p:cNvSpPr/>
          <p:nvPr/>
        </p:nvSpPr>
        <p:spPr>
          <a:xfrm>
            <a:off x="6519672" y="187452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0" name="Text 7"/>
          <p:cNvSpPr/>
          <p:nvPr/>
        </p:nvSpPr>
        <p:spPr>
          <a:xfrm>
            <a:off x="6976872" y="182880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There is a clearly named saved version</a:t>
            </a:r>
            <a:endParaRPr lang="en-US" sz="1450" dirty="0"/>
          </a:p>
        </p:txBody>
      </p:sp>
      <p:sp>
        <p:nvSpPr>
          <p:cNvPr id="11" name="Shape 8"/>
          <p:cNvSpPr/>
          <p:nvPr/>
        </p:nvSpPr>
        <p:spPr>
          <a:xfrm>
            <a:off x="868680" y="2849880"/>
            <a:ext cx="5257800" cy="749808"/>
          </a:xfrm>
          <a:prstGeom prst="roundRect">
            <a:avLst>
              <a:gd name="adj" fmla="val 9756"/>
            </a:avLst>
          </a:prstGeom>
          <a:solidFill>
            <a:srgbClr val="DDEFE6"/>
          </a:solidFill>
          <a:ln w="12700">
            <a:solidFill>
              <a:srgbClr val="DDEFE6">
                <a:alpha val="0"/>
              </a:srgbClr>
            </a:solidFill>
            <a:prstDash val="solid"/>
          </a:ln>
        </p:spPr>
      </p:sp>
      <p:sp>
        <p:nvSpPr>
          <p:cNvPr id="12" name="Text 9"/>
          <p:cNvSpPr/>
          <p:nvPr/>
        </p:nvSpPr>
        <p:spPr>
          <a:xfrm>
            <a:off x="1033272" y="30327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3" name="Text 10"/>
          <p:cNvSpPr/>
          <p:nvPr/>
        </p:nvSpPr>
        <p:spPr>
          <a:xfrm>
            <a:off x="1490472" y="298704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Another person can open the live URL</a:t>
            </a:r>
            <a:endParaRPr lang="en-US" sz="1450" dirty="0"/>
          </a:p>
        </p:txBody>
      </p:sp>
      <p:sp>
        <p:nvSpPr>
          <p:cNvPr id="14" name="Shape 11"/>
          <p:cNvSpPr/>
          <p:nvPr/>
        </p:nvSpPr>
        <p:spPr>
          <a:xfrm>
            <a:off x="6355080" y="2849880"/>
            <a:ext cx="5257800" cy="749808"/>
          </a:xfrm>
          <a:prstGeom prst="roundRect">
            <a:avLst>
              <a:gd name="adj" fmla="val 9756"/>
            </a:avLst>
          </a:prstGeom>
          <a:solidFill>
            <a:srgbClr val="DDEFE6"/>
          </a:solidFill>
          <a:ln w="12700">
            <a:solidFill>
              <a:srgbClr val="DDEFE6">
                <a:alpha val="0"/>
              </a:srgbClr>
            </a:solidFill>
            <a:prstDash val="solid"/>
          </a:ln>
        </p:spPr>
      </p:sp>
      <p:sp>
        <p:nvSpPr>
          <p:cNvPr id="15" name="Text 12"/>
          <p:cNvSpPr/>
          <p:nvPr/>
        </p:nvSpPr>
        <p:spPr>
          <a:xfrm>
            <a:off x="6519672" y="303276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6" name="Text 13"/>
          <p:cNvSpPr/>
          <p:nvPr/>
        </p:nvSpPr>
        <p:spPr>
          <a:xfrm>
            <a:off x="6976872" y="298704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added or demonstrated collaborator access</a:t>
            </a:r>
            <a:endParaRPr lang="en-US" sz="1450" dirty="0"/>
          </a:p>
        </p:txBody>
      </p:sp>
      <p:sp>
        <p:nvSpPr>
          <p:cNvPr id="17" name="Shape 14"/>
          <p:cNvSpPr/>
          <p:nvPr/>
        </p:nvSpPr>
        <p:spPr>
          <a:xfrm>
            <a:off x="868680" y="4008120"/>
            <a:ext cx="5257800" cy="749808"/>
          </a:xfrm>
          <a:prstGeom prst="roundRect">
            <a:avLst>
              <a:gd name="adj" fmla="val 9756"/>
            </a:avLst>
          </a:prstGeom>
          <a:solidFill>
            <a:srgbClr val="DDEFE6"/>
          </a:solidFill>
          <a:ln w="12700">
            <a:solidFill>
              <a:srgbClr val="DDEFE6">
                <a:alpha val="0"/>
              </a:srgbClr>
            </a:solidFill>
            <a:prstDash val="solid"/>
          </a:ln>
        </p:spPr>
      </p:sp>
      <p:sp>
        <p:nvSpPr>
          <p:cNvPr id="18" name="Text 15"/>
          <p:cNvSpPr/>
          <p:nvPr/>
        </p:nvSpPr>
        <p:spPr>
          <a:xfrm>
            <a:off x="1033272" y="41910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19" name="Text 16"/>
          <p:cNvSpPr/>
          <p:nvPr/>
        </p:nvSpPr>
        <p:spPr>
          <a:xfrm>
            <a:off x="1490472" y="414528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The Figma, repository, and preview links are recorded</a:t>
            </a:r>
            <a:endParaRPr lang="en-US" sz="1450" dirty="0"/>
          </a:p>
        </p:txBody>
      </p:sp>
      <p:sp>
        <p:nvSpPr>
          <p:cNvPr id="20" name="Shape 17"/>
          <p:cNvSpPr/>
          <p:nvPr/>
        </p:nvSpPr>
        <p:spPr>
          <a:xfrm>
            <a:off x="6355080" y="4008120"/>
            <a:ext cx="5257800" cy="749808"/>
          </a:xfrm>
          <a:prstGeom prst="roundRect">
            <a:avLst>
              <a:gd name="adj" fmla="val 9756"/>
            </a:avLst>
          </a:prstGeom>
          <a:solidFill>
            <a:srgbClr val="DDEFE6"/>
          </a:solidFill>
          <a:ln w="12700">
            <a:solidFill>
              <a:srgbClr val="DDEFE6">
                <a:alpha val="0"/>
              </a:srgbClr>
            </a:solidFill>
            <a:prstDash val="solid"/>
          </a:ln>
        </p:spPr>
      </p:sp>
      <p:sp>
        <p:nvSpPr>
          <p:cNvPr id="21" name="Text 18"/>
          <p:cNvSpPr/>
          <p:nvPr/>
        </p:nvSpPr>
        <p:spPr>
          <a:xfrm>
            <a:off x="6519672" y="4191000"/>
            <a:ext cx="310896" cy="274320"/>
          </a:xfrm>
          <a:prstGeom prst="rect">
            <a:avLst/>
          </a:prstGeom>
          <a:noFill/>
          <a:ln/>
        </p:spPr>
        <p:txBody>
          <a:bodyPr wrap="square" lIns="0" tIns="0" rIns="0" bIns="0" rtlCol="0" anchor="ctr">
            <a:normAutofit/>
          </a:bodyPr>
          <a:lstStyle/>
          <a:p>
            <a:pPr algn="ctr" indent="0" marL="0">
              <a:buNone/>
            </a:pPr>
            <a:r>
              <a:rPr lang="en-US" sz="1500" b="1" dirty="0">
                <a:solidFill>
                  <a:srgbClr val="2D7A58"/>
                </a:solidFill>
                <a:latin typeface="Arial" pitchFamily="34" charset="0"/>
                <a:ea typeface="Arial" pitchFamily="34" charset="-122"/>
                <a:cs typeface="Arial" pitchFamily="34" charset="-120"/>
              </a:rPr>
              <a:t>✓</a:t>
            </a:r>
            <a:endParaRPr lang="en-US" sz="1500" dirty="0"/>
          </a:p>
        </p:txBody>
      </p:sp>
      <p:sp>
        <p:nvSpPr>
          <p:cNvPr id="22" name="Text 19"/>
          <p:cNvSpPr/>
          <p:nvPr/>
        </p:nvSpPr>
        <p:spPr>
          <a:xfrm>
            <a:off x="6976872" y="4145280"/>
            <a:ext cx="4434840" cy="438912"/>
          </a:xfrm>
          <a:prstGeom prst="rect">
            <a:avLst/>
          </a:prstGeom>
          <a:noFill/>
          <a:ln/>
        </p:spPr>
        <p:txBody>
          <a:bodyPr wrap="square" lIns="0" tIns="0" rIns="0" bIns="0" rtlCol="0" anchor="ctr">
            <a:normAutofit/>
          </a:bodyPr>
          <a:lstStyle/>
          <a:p>
            <a:pPr indent="0" marL="0">
              <a:buNone/>
            </a:pPr>
            <a:r>
              <a:rPr lang="en-US" sz="1450" b="1" dirty="0">
                <a:solidFill>
                  <a:srgbClr val="1B242B"/>
                </a:solidFill>
                <a:latin typeface="Arial" pitchFamily="34" charset="0"/>
                <a:ea typeface="Arial" pitchFamily="34" charset="-122"/>
                <a:cs typeface="Arial" pitchFamily="34" charset="-120"/>
              </a:rPr>
              <a:t>You wrote down what is not finished</a:t>
            </a:r>
            <a:endParaRPr lang="en-US" sz="1450" dirty="0"/>
          </a:p>
        </p:txBody>
      </p:sp>
      <p:sp>
        <p:nvSpPr>
          <p:cNvPr id="23" name="Text 20"/>
          <p:cNvSpPr/>
          <p:nvPr/>
        </p:nvSpPr>
        <p:spPr>
          <a:xfrm>
            <a:off x="868680" y="5806440"/>
            <a:ext cx="10332720" cy="384048"/>
          </a:xfrm>
          <a:prstGeom prst="rect">
            <a:avLst/>
          </a:prstGeom>
          <a:noFill/>
          <a:ln/>
        </p:spPr>
        <p:txBody>
          <a:bodyPr wrap="square" lIns="0" tIns="0" rIns="0" bIns="0" rtlCol="0" anchor="ctr">
            <a:normAutofit/>
          </a:bodyPr>
          <a:lstStyle/>
          <a:p>
            <a:pPr algn="ctr" indent="0" marL="0">
              <a:buNone/>
            </a:pPr>
            <a:r>
              <a:rPr lang="en-US" sz="1400" b="1" dirty="0">
                <a:solidFill>
                  <a:srgbClr val="2D7A58"/>
                </a:solidFill>
                <a:latin typeface="Arial" pitchFamily="34" charset="0"/>
                <a:ea typeface="Arial" pitchFamily="34" charset="-122"/>
                <a:cs typeface="Arial" pitchFamily="34" charset="-120"/>
              </a:rPr>
              <a:t>Another person should be able to open the work and understand its status</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1B242B"/>
                </a:solidFill>
                <a:latin typeface="Arial" pitchFamily="34" charset="0"/>
                <a:ea typeface="Arial" pitchFamily="34" charset="-122"/>
                <a:cs typeface="Arial" pitchFamily="34" charset="-120"/>
              </a:rPr>
              <a:t>CLOSE</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How we’ll review the final result</a:t>
            </a:r>
            <a:endParaRPr lang="en-US" sz="3100" dirty="0"/>
          </a:p>
        </p:txBody>
      </p:sp>
      <p:sp>
        <p:nvSpPr>
          <p:cNvPr id="5" name="Shape 2"/>
          <p:cNvSpPr/>
          <p:nvPr/>
        </p:nvSpPr>
        <p:spPr>
          <a:xfrm>
            <a:off x="658368" y="1600200"/>
            <a:ext cx="5317236" cy="671170"/>
          </a:xfrm>
          <a:prstGeom prst="roundRect">
            <a:avLst>
              <a:gd name="adj" fmla="val 10899"/>
            </a:avLst>
          </a:prstGeom>
          <a:solidFill>
            <a:srgbClr val="FFFFFF"/>
          </a:solidFill>
          <a:ln w="12700">
            <a:solidFill>
              <a:srgbClr val="FFFFFF">
                <a:alpha val="0"/>
              </a:srgbClr>
            </a:solidFill>
            <a:prstDash val="solid"/>
          </a:ln>
        </p:spPr>
      </p:sp>
      <p:sp>
        <p:nvSpPr>
          <p:cNvPr id="6" name="Text 3"/>
          <p:cNvSpPr/>
          <p:nvPr/>
        </p:nvSpPr>
        <p:spPr>
          <a:xfrm>
            <a:off x="859536" y="1764792"/>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Problem framing</a:t>
            </a:r>
            <a:endParaRPr lang="en-US" sz="1800" dirty="0"/>
          </a:p>
        </p:txBody>
      </p:sp>
      <p:sp>
        <p:nvSpPr>
          <p:cNvPr id="7" name="Shape 4"/>
          <p:cNvSpPr/>
          <p:nvPr/>
        </p:nvSpPr>
        <p:spPr>
          <a:xfrm>
            <a:off x="6176772" y="1600200"/>
            <a:ext cx="5317236" cy="671170"/>
          </a:xfrm>
          <a:prstGeom prst="roundRect">
            <a:avLst>
              <a:gd name="adj" fmla="val 10899"/>
            </a:avLst>
          </a:prstGeom>
          <a:solidFill>
            <a:srgbClr val="FFFFFF"/>
          </a:solidFill>
          <a:ln w="12700">
            <a:solidFill>
              <a:srgbClr val="FFFFFF">
                <a:alpha val="0"/>
              </a:srgbClr>
            </a:solidFill>
            <a:prstDash val="solid"/>
          </a:ln>
        </p:spPr>
      </p:sp>
      <p:sp>
        <p:nvSpPr>
          <p:cNvPr id="8" name="Text 5"/>
          <p:cNvSpPr/>
          <p:nvPr/>
        </p:nvSpPr>
        <p:spPr>
          <a:xfrm>
            <a:off x="6377940" y="1764792"/>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Agent direction</a:t>
            </a:r>
            <a:endParaRPr lang="en-US" sz="1800" dirty="0"/>
          </a:p>
        </p:txBody>
      </p:sp>
      <p:sp>
        <p:nvSpPr>
          <p:cNvPr id="9" name="Shape 6"/>
          <p:cNvSpPr/>
          <p:nvPr/>
        </p:nvSpPr>
        <p:spPr>
          <a:xfrm>
            <a:off x="658368" y="2472538"/>
            <a:ext cx="5317236" cy="671170"/>
          </a:xfrm>
          <a:prstGeom prst="roundRect">
            <a:avLst>
              <a:gd name="adj" fmla="val 10899"/>
            </a:avLst>
          </a:prstGeom>
          <a:solidFill>
            <a:srgbClr val="FFFFFF"/>
          </a:solidFill>
          <a:ln w="12700">
            <a:solidFill>
              <a:srgbClr val="FFFFFF">
                <a:alpha val="0"/>
              </a:srgbClr>
            </a:solidFill>
            <a:prstDash val="solid"/>
          </a:ln>
        </p:spPr>
      </p:sp>
      <p:sp>
        <p:nvSpPr>
          <p:cNvPr id="10" name="Text 7"/>
          <p:cNvSpPr/>
          <p:nvPr/>
        </p:nvSpPr>
        <p:spPr>
          <a:xfrm>
            <a:off x="859536" y="2637130"/>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Functional states</a:t>
            </a:r>
            <a:endParaRPr lang="en-US" sz="1800" dirty="0"/>
          </a:p>
        </p:txBody>
      </p:sp>
      <p:sp>
        <p:nvSpPr>
          <p:cNvPr id="11" name="Shape 8"/>
          <p:cNvSpPr/>
          <p:nvPr/>
        </p:nvSpPr>
        <p:spPr>
          <a:xfrm>
            <a:off x="6176772" y="2472538"/>
            <a:ext cx="5317236" cy="671170"/>
          </a:xfrm>
          <a:prstGeom prst="roundRect">
            <a:avLst>
              <a:gd name="adj" fmla="val 10899"/>
            </a:avLst>
          </a:prstGeom>
          <a:solidFill>
            <a:srgbClr val="FFFFFF"/>
          </a:solidFill>
          <a:ln w="12700">
            <a:solidFill>
              <a:srgbClr val="FFFFFF">
                <a:alpha val="0"/>
              </a:srgbClr>
            </a:solidFill>
            <a:prstDash val="solid"/>
          </a:ln>
        </p:spPr>
      </p:sp>
      <p:sp>
        <p:nvSpPr>
          <p:cNvPr id="12" name="Text 9"/>
          <p:cNvSpPr/>
          <p:nvPr/>
        </p:nvSpPr>
        <p:spPr>
          <a:xfrm>
            <a:off x="6377940" y="2637130"/>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Product judgment</a:t>
            </a:r>
            <a:endParaRPr lang="en-US" sz="1800" dirty="0"/>
          </a:p>
        </p:txBody>
      </p:sp>
      <p:sp>
        <p:nvSpPr>
          <p:cNvPr id="13" name="Shape 10"/>
          <p:cNvSpPr/>
          <p:nvPr/>
        </p:nvSpPr>
        <p:spPr>
          <a:xfrm>
            <a:off x="658368" y="3344875"/>
            <a:ext cx="5317236" cy="671170"/>
          </a:xfrm>
          <a:prstGeom prst="roundRect">
            <a:avLst>
              <a:gd name="adj" fmla="val 10899"/>
            </a:avLst>
          </a:prstGeom>
          <a:solidFill>
            <a:srgbClr val="FFFFFF"/>
          </a:solidFill>
          <a:ln w="12700">
            <a:solidFill>
              <a:srgbClr val="FFFFFF">
                <a:alpha val="0"/>
              </a:srgbClr>
            </a:solidFill>
            <a:prstDash val="solid"/>
          </a:ln>
        </p:spPr>
      </p:sp>
      <p:sp>
        <p:nvSpPr>
          <p:cNvPr id="14" name="Text 11"/>
          <p:cNvSpPr/>
          <p:nvPr/>
        </p:nvSpPr>
        <p:spPr>
          <a:xfrm>
            <a:off x="859536" y="3509467"/>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Modus quality</a:t>
            </a:r>
            <a:endParaRPr lang="en-US" sz="1800" dirty="0"/>
          </a:p>
        </p:txBody>
      </p:sp>
      <p:sp>
        <p:nvSpPr>
          <p:cNvPr id="15" name="Shape 12"/>
          <p:cNvSpPr/>
          <p:nvPr/>
        </p:nvSpPr>
        <p:spPr>
          <a:xfrm>
            <a:off x="6176772" y="3344875"/>
            <a:ext cx="5317236" cy="671170"/>
          </a:xfrm>
          <a:prstGeom prst="roundRect">
            <a:avLst>
              <a:gd name="adj" fmla="val 10899"/>
            </a:avLst>
          </a:prstGeom>
          <a:solidFill>
            <a:srgbClr val="FFFFFF"/>
          </a:solidFill>
          <a:ln w="12700">
            <a:solidFill>
              <a:srgbClr val="FFFFFF">
                <a:alpha val="0"/>
              </a:srgbClr>
            </a:solidFill>
            <a:prstDash val="solid"/>
          </a:ln>
        </p:spPr>
      </p:sp>
      <p:sp>
        <p:nvSpPr>
          <p:cNvPr id="16" name="Text 13"/>
          <p:cNvSpPr/>
          <p:nvPr/>
        </p:nvSpPr>
        <p:spPr>
          <a:xfrm>
            <a:off x="6377940" y="3509467"/>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Responsive behavior</a:t>
            </a:r>
            <a:endParaRPr lang="en-US" sz="1800" dirty="0"/>
          </a:p>
        </p:txBody>
      </p:sp>
      <p:sp>
        <p:nvSpPr>
          <p:cNvPr id="17" name="Shape 14"/>
          <p:cNvSpPr/>
          <p:nvPr/>
        </p:nvSpPr>
        <p:spPr>
          <a:xfrm>
            <a:off x="658368" y="4217213"/>
            <a:ext cx="5317236" cy="671170"/>
          </a:xfrm>
          <a:prstGeom prst="roundRect">
            <a:avLst>
              <a:gd name="adj" fmla="val 10899"/>
            </a:avLst>
          </a:prstGeom>
          <a:solidFill>
            <a:srgbClr val="FFFFFF"/>
          </a:solidFill>
          <a:ln w="12700">
            <a:solidFill>
              <a:srgbClr val="FFFFFF">
                <a:alpha val="0"/>
              </a:srgbClr>
            </a:solidFill>
            <a:prstDash val="solid"/>
          </a:ln>
        </p:spPr>
      </p:sp>
      <p:sp>
        <p:nvSpPr>
          <p:cNvPr id="18" name="Text 15"/>
          <p:cNvSpPr/>
          <p:nvPr/>
        </p:nvSpPr>
        <p:spPr>
          <a:xfrm>
            <a:off x="859536" y="4381805"/>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Accessibility</a:t>
            </a:r>
            <a:endParaRPr lang="en-US" sz="1800" dirty="0"/>
          </a:p>
        </p:txBody>
      </p:sp>
      <p:sp>
        <p:nvSpPr>
          <p:cNvPr id="19" name="Shape 16"/>
          <p:cNvSpPr/>
          <p:nvPr/>
        </p:nvSpPr>
        <p:spPr>
          <a:xfrm>
            <a:off x="6176772" y="4217213"/>
            <a:ext cx="5317236" cy="671170"/>
          </a:xfrm>
          <a:prstGeom prst="roundRect">
            <a:avLst>
              <a:gd name="adj" fmla="val 10899"/>
            </a:avLst>
          </a:prstGeom>
          <a:solidFill>
            <a:srgbClr val="FFFFFF"/>
          </a:solidFill>
          <a:ln w="12700">
            <a:solidFill>
              <a:srgbClr val="FFFFFF">
                <a:alpha val="0"/>
              </a:srgbClr>
            </a:solidFill>
            <a:prstDash val="solid"/>
          </a:ln>
        </p:spPr>
      </p:sp>
      <p:sp>
        <p:nvSpPr>
          <p:cNvPr id="20" name="Text 17"/>
          <p:cNvSpPr/>
          <p:nvPr/>
        </p:nvSpPr>
        <p:spPr>
          <a:xfrm>
            <a:off x="6377940" y="4381805"/>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Diagnosis</a:t>
            </a:r>
            <a:endParaRPr lang="en-US" sz="1800" dirty="0"/>
          </a:p>
        </p:txBody>
      </p:sp>
      <p:sp>
        <p:nvSpPr>
          <p:cNvPr id="21" name="Shape 18"/>
          <p:cNvSpPr/>
          <p:nvPr/>
        </p:nvSpPr>
        <p:spPr>
          <a:xfrm>
            <a:off x="658368" y="5089550"/>
            <a:ext cx="5317236" cy="671170"/>
          </a:xfrm>
          <a:prstGeom prst="roundRect">
            <a:avLst>
              <a:gd name="adj" fmla="val 10899"/>
            </a:avLst>
          </a:prstGeom>
          <a:solidFill>
            <a:srgbClr val="FFFFFF"/>
          </a:solidFill>
          <a:ln w="12700">
            <a:solidFill>
              <a:srgbClr val="FFFFFF">
                <a:alpha val="0"/>
              </a:srgbClr>
            </a:solidFill>
            <a:prstDash val="solid"/>
          </a:ln>
        </p:spPr>
      </p:sp>
      <p:sp>
        <p:nvSpPr>
          <p:cNvPr id="22" name="Text 19"/>
          <p:cNvSpPr/>
          <p:nvPr/>
        </p:nvSpPr>
        <p:spPr>
          <a:xfrm>
            <a:off x="859536" y="5254142"/>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Safety</a:t>
            </a:r>
            <a:endParaRPr lang="en-US" sz="1800" dirty="0"/>
          </a:p>
        </p:txBody>
      </p:sp>
      <p:sp>
        <p:nvSpPr>
          <p:cNvPr id="23" name="Shape 20"/>
          <p:cNvSpPr/>
          <p:nvPr/>
        </p:nvSpPr>
        <p:spPr>
          <a:xfrm>
            <a:off x="6176772" y="5089550"/>
            <a:ext cx="5317236" cy="671170"/>
          </a:xfrm>
          <a:prstGeom prst="roundRect">
            <a:avLst>
              <a:gd name="adj" fmla="val 10899"/>
            </a:avLst>
          </a:prstGeom>
          <a:solidFill>
            <a:srgbClr val="FFFFFF"/>
          </a:solidFill>
          <a:ln w="12700">
            <a:solidFill>
              <a:srgbClr val="FFFFFF">
                <a:alpha val="0"/>
              </a:srgbClr>
            </a:solidFill>
            <a:prstDash val="solid"/>
          </a:ln>
        </p:spPr>
      </p:sp>
      <p:sp>
        <p:nvSpPr>
          <p:cNvPr id="24" name="Text 21"/>
          <p:cNvSpPr/>
          <p:nvPr/>
        </p:nvSpPr>
        <p:spPr>
          <a:xfrm>
            <a:off x="6377940" y="5254142"/>
            <a:ext cx="4914900" cy="341986"/>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Handoff</a:t>
            </a:r>
            <a:endParaRPr lang="en-US" sz="1800" dirty="0"/>
          </a:p>
        </p:txBody>
      </p:sp>
      <p:sp>
        <p:nvSpPr>
          <p:cNvPr id="25" name="Text 22"/>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We’ll score each area from 0–3. States, accessibility, safety, and handoff must each reach at least 2.</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1B242B"/>
                </a:solidFill>
                <a:latin typeface="Arial" pitchFamily="34" charset="0"/>
                <a:ea typeface="Arial" pitchFamily="34" charset="-122"/>
                <a:cs typeface="Arial" pitchFamily="34" charset="-120"/>
              </a:rPr>
              <a:t>CLOSE</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Three minutes to show the work</a:t>
            </a:r>
            <a:endParaRPr lang="en-US" sz="3100" dirty="0"/>
          </a:p>
        </p:txBody>
      </p:sp>
      <p:sp>
        <p:nvSpPr>
          <p:cNvPr id="5" name="Shape 2"/>
          <p:cNvSpPr/>
          <p:nvPr/>
        </p:nvSpPr>
        <p:spPr>
          <a:xfrm>
            <a:off x="658368"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6" name="Text 3"/>
          <p:cNvSpPr/>
          <p:nvPr/>
        </p:nvSpPr>
        <p:spPr>
          <a:xfrm>
            <a:off x="859536"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The user problem</a:t>
            </a:r>
            <a:endParaRPr lang="en-US" sz="1800" dirty="0"/>
          </a:p>
        </p:txBody>
      </p:sp>
      <p:sp>
        <p:nvSpPr>
          <p:cNvPr id="7" name="Shape 4"/>
          <p:cNvSpPr/>
          <p:nvPr/>
        </p:nvSpPr>
        <p:spPr>
          <a:xfrm>
            <a:off x="4337304"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8" name="Text 5"/>
          <p:cNvSpPr/>
          <p:nvPr/>
        </p:nvSpPr>
        <p:spPr>
          <a:xfrm>
            <a:off x="4538472"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The interaction and its states</a:t>
            </a:r>
            <a:endParaRPr lang="en-US" sz="1800" dirty="0"/>
          </a:p>
        </p:txBody>
      </p:sp>
      <p:sp>
        <p:nvSpPr>
          <p:cNvPr id="9" name="Shape 6"/>
          <p:cNvSpPr/>
          <p:nvPr/>
        </p:nvSpPr>
        <p:spPr>
          <a:xfrm>
            <a:off x="8016240" y="1691640"/>
            <a:ext cx="3477768" cy="1170432"/>
          </a:xfrm>
          <a:prstGeom prst="roundRect">
            <a:avLst>
              <a:gd name="adj" fmla="val 6250"/>
            </a:avLst>
          </a:prstGeom>
          <a:solidFill>
            <a:srgbClr val="FFFFFF"/>
          </a:solidFill>
          <a:ln w="12700">
            <a:solidFill>
              <a:srgbClr val="FFFFFF">
                <a:alpha val="0"/>
              </a:srgbClr>
            </a:solidFill>
            <a:prstDash val="solid"/>
          </a:ln>
        </p:spPr>
      </p:sp>
      <p:sp>
        <p:nvSpPr>
          <p:cNvPr id="10" name="Text 7"/>
          <p:cNvSpPr/>
          <p:nvPr/>
        </p:nvSpPr>
        <p:spPr>
          <a:xfrm>
            <a:off x="8217408" y="18562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The context and tools you connected</a:t>
            </a:r>
            <a:endParaRPr lang="en-US" sz="1800" dirty="0"/>
          </a:p>
        </p:txBody>
      </p:sp>
      <p:sp>
        <p:nvSpPr>
          <p:cNvPr id="11" name="Shape 8"/>
          <p:cNvSpPr/>
          <p:nvPr/>
        </p:nvSpPr>
        <p:spPr>
          <a:xfrm>
            <a:off x="658368"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2" name="Text 9"/>
          <p:cNvSpPr/>
          <p:nvPr/>
        </p:nvSpPr>
        <p:spPr>
          <a:xfrm>
            <a:off x="859536"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The live URL and repository</a:t>
            </a:r>
            <a:endParaRPr lang="en-US" sz="1800" dirty="0"/>
          </a:p>
        </p:txBody>
      </p:sp>
      <p:sp>
        <p:nvSpPr>
          <p:cNvPr id="13" name="Shape 10"/>
          <p:cNvSpPr/>
          <p:nvPr/>
        </p:nvSpPr>
        <p:spPr>
          <a:xfrm>
            <a:off x="4337304"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4" name="Text 11"/>
          <p:cNvSpPr/>
          <p:nvPr/>
        </p:nvSpPr>
        <p:spPr>
          <a:xfrm>
            <a:off x="4538472"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One Agent mistake and how you fixed it</a:t>
            </a:r>
            <a:endParaRPr lang="en-US" sz="1800" dirty="0"/>
          </a:p>
        </p:txBody>
      </p:sp>
      <p:sp>
        <p:nvSpPr>
          <p:cNvPr id="15" name="Shape 12"/>
          <p:cNvSpPr/>
          <p:nvPr/>
        </p:nvSpPr>
        <p:spPr>
          <a:xfrm>
            <a:off x="8016240" y="3063240"/>
            <a:ext cx="3477768" cy="1170432"/>
          </a:xfrm>
          <a:prstGeom prst="roundRect">
            <a:avLst>
              <a:gd name="adj" fmla="val 6250"/>
            </a:avLst>
          </a:prstGeom>
          <a:solidFill>
            <a:srgbClr val="FFFFFF"/>
          </a:solidFill>
          <a:ln w="12700">
            <a:solidFill>
              <a:srgbClr val="FFFFFF">
                <a:alpha val="0"/>
              </a:srgbClr>
            </a:solidFill>
            <a:prstDash val="solid"/>
          </a:ln>
        </p:spPr>
      </p:sp>
      <p:sp>
        <p:nvSpPr>
          <p:cNvPr id="16" name="Text 13"/>
          <p:cNvSpPr/>
          <p:nvPr/>
        </p:nvSpPr>
        <p:spPr>
          <a:xfrm>
            <a:off x="8217408" y="3227832"/>
            <a:ext cx="3075432" cy="841248"/>
          </a:xfrm>
          <a:prstGeom prst="rect">
            <a:avLst/>
          </a:prstGeom>
          <a:noFill/>
          <a:ln/>
        </p:spPr>
        <p:txBody>
          <a:bodyPr wrap="square" lIns="0" tIns="0" rIns="0" bIns="0" rtlCol="0" anchor="ctr">
            <a:normAutofit/>
          </a:bodyPr>
          <a:lstStyle/>
          <a:p>
            <a:pPr indent="0" marL="0">
              <a:buNone/>
            </a:pPr>
            <a:r>
              <a:rPr lang="en-US" sz="1800" b="1" dirty="0">
                <a:solidFill>
                  <a:srgbClr val="1B242B"/>
                </a:solidFill>
                <a:latin typeface="Arial" pitchFamily="34" charset="0"/>
                <a:ea typeface="Arial" pitchFamily="34" charset="-122"/>
                <a:cs typeface="Arial" pitchFamily="34" charset="-120"/>
              </a:rPr>
              <a:t>One decision you had to make yourself</a:t>
            </a:r>
            <a:endParaRPr lang="en-US" sz="18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1B242B"/>
                </a:solidFill>
                <a:latin typeface="Arial" pitchFamily="34" charset="0"/>
                <a:ea typeface="Arial" pitchFamily="34" charset="-122"/>
                <a:cs typeface="Arial" pitchFamily="34" charset="-120"/>
              </a:rPr>
              <a:t>CLOSE</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Keep using the workflow after the workshop.</a:t>
            </a:r>
            <a:endParaRPr lang="en-US" sz="3100" dirty="0"/>
          </a:p>
        </p:txBody>
      </p:sp>
      <p:sp>
        <p:nvSpPr>
          <p:cNvPr id="5" name="Shape 2"/>
          <p:cNvSpPr/>
          <p:nvPr/>
        </p:nvSpPr>
        <p:spPr>
          <a:xfrm>
            <a:off x="658368" y="1600200"/>
            <a:ext cx="10835640" cy="889254"/>
          </a:xfrm>
          <a:prstGeom prst="roundRect">
            <a:avLst>
              <a:gd name="adj" fmla="val 8226"/>
            </a:avLst>
          </a:prstGeom>
          <a:solidFill>
            <a:srgbClr val="FFFFFF"/>
          </a:solidFill>
          <a:ln w="12700">
            <a:solidFill>
              <a:srgbClr val="FFFFFF">
                <a:alpha val="0"/>
              </a:srgbClr>
            </a:solidFill>
            <a:prstDash val="solid"/>
          </a:ln>
        </p:spPr>
      </p:sp>
      <p:sp>
        <p:nvSpPr>
          <p:cNvPr id="6" name="Text 3"/>
          <p:cNvSpPr/>
          <p:nvPr/>
        </p:nvSpPr>
        <p:spPr>
          <a:xfrm>
            <a:off x="859536" y="1764792"/>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24 hours</a:t>
            </a:r>
            <a:endParaRPr lang="en-US" sz="1700" dirty="0"/>
          </a:p>
        </p:txBody>
      </p:sp>
      <p:sp>
        <p:nvSpPr>
          <p:cNvPr id="7" name="Text 4"/>
          <p:cNvSpPr/>
          <p:nvPr/>
        </p:nvSpPr>
        <p:spPr>
          <a:xfrm>
            <a:off x="859536" y="2112264"/>
            <a:ext cx="10433304" cy="230886"/>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Reconstruct the operating loop</a:t>
            </a:r>
            <a:endParaRPr lang="en-US" sz="1250" dirty="0"/>
          </a:p>
        </p:txBody>
      </p:sp>
      <p:sp>
        <p:nvSpPr>
          <p:cNvPr id="8" name="Shape 5"/>
          <p:cNvSpPr/>
          <p:nvPr/>
        </p:nvSpPr>
        <p:spPr>
          <a:xfrm>
            <a:off x="658368" y="2690622"/>
            <a:ext cx="10835640" cy="889254"/>
          </a:xfrm>
          <a:prstGeom prst="roundRect">
            <a:avLst>
              <a:gd name="adj" fmla="val 8226"/>
            </a:avLst>
          </a:prstGeom>
          <a:solidFill>
            <a:srgbClr val="FFFFFF"/>
          </a:solidFill>
          <a:ln w="12700">
            <a:solidFill>
              <a:srgbClr val="FFFFFF">
                <a:alpha val="0"/>
              </a:srgbClr>
            </a:solidFill>
            <a:prstDash val="solid"/>
          </a:ln>
        </p:spPr>
      </p:sp>
      <p:sp>
        <p:nvSpPr>
          <p:cNvPr id="9" name="Text 6"/>
          <p:cNvSpPr/>
          <p:nvPr/>
        </p:nvSpPr>
        <p:spPr>
          <a:xfrm>
            <a:off x="859536" y="2855214"/>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7 days</a:t>
            </a:r>
            <a:endParaRPr lang="en-US" sz="1700" dirty="0"/>
          </a:p>
        </p:txBody>
      </p:sp>
      <p:sp>
        <p:nvSpPr>
          <p:cNvPr id="10" name="Text 7"/>
          <p:cNvSpPr/>
          <p:nvPr/>
        </p:nvSpPr>
        <p:spPr>
          <a:xfrm>
            <a:off x="859536" y="3202686"/>
            <a:ext cx="10433304" cy="230886"/>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Repair a seeded defect</a:t>
            </a:r>
            <a:endParaRPr lang="en-US" sz="1250" dirty="0"/>
          </a:p>
        </p:txBody>
      </p:sp>
      <p:sp>
        <p:nvSpPr>
          <p:cNvPr id="11" name="Shape 8"/>
          <p:cNvSpPr/>
          <p:nvPr/>
        </p:nvSpPr>
        <p:spPr>
          <a:xfrm>
            <a:off x="658368" y="3781044"/>
            <a:ext cx="10835640" cy="889254"/>
          </a:xfrm>
          <a:prstGeom prst="roundRect">
            <a:avLst>
              <a:gd name="adj" fmla="val 8226"/>
            </a:avLst>
          </a:prstGeom>
          <a:solidFill>
            <a:srgbClr val="FFFFFF"/>
          </a:solidFill>
          <a:ln w="12700">
            <a:solidFill>
              <a:srgbClr val="FFFFFF">
                <a:alpha val="0"/>
              </a:srgbClr>
            </a:solidFill>
            <a:prstDash val="solid"/>
          </a:ln>
        </p:spPr>
      </p:sp>
      <p:sp>
        <p:nvSpPr>
          <p:cNvPr id="12" name="Text 9"/>
          <p:cNvSpPr/>
          <p:nvPr/>
        </p:nvSpPr>
        <p:spPr>
          <a:xfrm>
            <a:off x="859536" y="3945636"/>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21 days</a:t>
            </a:r>
            <a:endParaRPr lang="en-US" sz="1700" dirty="0"/>
          </a:p>
        </p:txBody>
      </p:sp>
      <p:sp>
        <p:nvSpPr>
          <p:cNvPr id="13" name="Text 10"/>
          <p:cNvSpPr/>
          <p:nvPr/>
        </p:nvSpPr>
        <p:spPr>
          <a:xfrm>
            <a:off x="859536" y="4293108"/>
            <a:ext cx="10433304" cy="230886"/>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Build a new-domain flow without a template</a:t>
            </a:r>
            <a:endParaRPr lang="en-US" sz="1250" dirty="0"/>
          </a:p>
        </p:txBody>
      </p:sp>
      <p:sp>
        <p:nvSpPr>
          <p:cNvPr id="14" name="Shape 11"/>
          <p:cNvSpPr/>
          <p:nvPr/>
        </p:nvSpPr>
        <p:spPr>
          <a:xfrm>
            <a:off x="658368" y="4871466"/>
            <a:ext cx="10835640" cy="889254"/>
          </a:xfrm>
          <a:prstGeom prst="roundRect">
            <a:avLst>
              <a:gd name="adj" fmla="val 8226"/>
            </a:avLst>
          </a:prstGeom>
          <a:solidFill>
            <a:srgbClr val="FFFFFF"/>
          </a:solidFill>
          <a:ln w="12700">
            <a:solidFill>
              <a:srgbClr val="FFFFFF">
                <a:alpha val="0"/>
              </a:srgbClr>
            </a:solidFill>
            <a:prstDash val="solid"/>
          </a:ln>
        </p:spPr>
      </p:sp>
      <p:sp>
        <p:nvSpPr>
          <p:cNvPr id="15" name="Text 12"/>
          <p:cNvSpPr/>
          <p:nvPr/>
        </p:nvSpPr>
        <p:spPr>
          <a:xfrm>
            <a:off x="859536" y="5036058"/>
            <a:ext cx="10433304" cy="310896"/>
          </a:xfrm>
          <a:prstGeom prst="rect">
            <a:avLst/>
          </a:prstGeom>
          <a:noFill/>
          <a:ln/>
        </p:spPr>
        <p:txBody>
          <a:bodyPr wrap="square" lIns="0" tIns="0" rIns="0" bIns="0" rtlCol="0" anchor="t">
            <a:normAutofit/>
          </a:bodyPr>
          <a:lstStyle/>
          <a:p>
            <a:pPr indent="0" marL="0">
              <a:buNone/>
            </a:pPr>
            <a:r>
              <a:rPr lang="en-US" sz="1700" b="1" dirty="0">
                <a:solidFill>
                  <a:srgbClr val="1B242B"/>
                </a:solidFill>
                <a:latin typeface="Arial" pitchFamily="34" charset="0"/>
                <a:ea typeface="Arial" pitchFamily="34" charset="-122"/>
                <a:cs typeface="Arial" pitchFamily="34" charset="-120"/>
              </a:rPr>
              <a:t>45 days</a:t>
            </a:r>
            <a:endParaRPr lang="en-US" sz="1700" dirty="0"/>
          </a:p>
        </p:txBody>
      </p:sp>
      <p:sp>
        <p:nvSpPr>
          <p:cNvPr id="16" name="Text 13"/>
          <p:cNvSpPr/>
          <p:nvPr/>
        </p:nvSpPr>
        <p:spPr>
          <a:xfrm>
            <a:off x="859536" y="5383530"/>
            <a:ext cx="10433304" cy="230886"/>
          </a:xfrm>
          <a:prstGeom prst="rect">
            <a:avLst/>
          </a:prstGeom>
          <a:noFill/>
          <a:ln/>
        </p:spPr>
        <p:txBody>
          <a:bodyPr wrap="square" lIns="0" tIns="0" rIns="0" bIns="0" rtlCol="0" anchor="t">
            <a:normAutofit/>
          </a:bodyPr>
          <a:lstStyle/>
          <a:p>
            <a:pPr indent="0" marL="0">
              <a:buNone/>
            </a:pPr>
            <a:r>
              <a:rPr lang="en-US" sz="1250" dirty="0">
                <a:solidFill>
                  <a:srgbClr val="53636F"/>
                </a:solidFill>
                <a:latin typeface="Arial" pitchFamily="34" charset="0"/>
                <a:ea typeface="Arial" pitchFamily="34" charset="-122"/>
                <a:cs typeface="Arial" pitchFamily="34" charset="-120"/>
              </a:rPr>
              <a:t>Peer critique with the same rubric</a:t>
            </a:r>
            <a:endParaRPr lang="en-US" sz="125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9FA"/>
        </a:solidFill>
      </p:bgPr>
    </p:bg>
    <p:spTree>
      <p:nvGrpSpPr>
        <p:cNvPr id="1" name=""/>
        <p:cNvGrpSpPr/>
        <p:nvPr/>
      </p:nvGrpSpPr>
      <p:grpSpPr>
        <a:xfrm>
          <a:off x="0" y="0"/>
          <a:ext cx="0" cy="0"/>
          <a:chOff x="0" y="0"/>
          <a:chExt cx="0" cy="0"/>
        </a:xfrm>
      </p:grpSpPr>
      <p:sp>
        <p:nvSpPr>
          <p:cNvPr id="3" name="Text 0"/>
          <p:cNvSpPr/>
          <p:nvPr/>
        </p:nvSpPr>
        <p:spPr>
          <a:xfrm>
            <a:off x="502920" y="320040"/>
            <a:ext cx="2194560" cy="256032"/>
          </a:xfrm>
          <a:prstGeom prst="rect">
            <a:avLst/>
          </a:prstGeom>
          <a:noFill/>
          <a:ln/>
        </p:spPr>
        <p:txBody>
          <a:bodyPr wrap="square" lIns="0" tIns="0" rIns="0" bIns="0" rtlCol="0" anchor="ctr">
            <a:normAutofit/>
          </a:bodyPr>
          <a:lstStyle/>
          <a:p>
            <a:pPr indent="0" marL="0">
              <a:buNone/>
            </a:pPr>
            <a:r>
              <a:rPr lang="en-US" sz="1000" b="1" spc="160" kern="0" dirty="0">
                <a:solidFill>
                  <a:srgbClr val="1B242B"/>
                </a:solidFill>
                <a:latin typeface="Arial" pitchFamily="34" charset="0"/>
                <a:ea typeface="Arial" pitchFamily="34" charset="-122"/>
                <a:cs typeface="Arial" pitchFamily="34" charset="-120"/>
              </a:rPr>
              <a:t>CLOSE</a:t>
            </a:r>
            <a:endParaRPr lang="en-US" sz="1000" dirty="0"/>
          </a:p>
        </p:txBody>
      </p:sp>
      <p:sp>
        <p:nvSpPr>
          <p:cNvPr id="4" name="Text 1"/>
          <p:cNvSpPr/>
          <p:nvPr/>
        </p:nvSpPr>
        <p:spPr>
          <a:xfrm>
            <a:off x="502920" y="713232"/>
            <a:ext cx="10789920" cy="713232"/>
          </a:xfrm>
          <a:prstGeom prst="rect">
            <a:avLst/>
          </a:prstGeom>
          <a:noFill/>
          <a:ln/>
        </p:spPr>
        <p:txBody>
          <a:bodyPr wrap="square" lIns="0" tIns="0" rIns="0" bIns="0" rtlCol="0" anchor="t">
            <a:normAutofit/>
          </a:bodyPr>
          <a:lstStyle/>
          <a:p>
            <a:pPr indent="0" marL="0">
              <a:buNone/>
            </a:pPr>
            <a:r>
              <a:rPr lang="en-US" sz="3100" b="1" dirty="0">
                <a:solidFill>
                  <a:srgbClr val="1B242B"/>
                </a:solidFill>
                <a:latin typeface="Arial" pitchFamily="34" charset="0"/>
                <a:ea typeface="Arial" pitchFamily="34" charset="-122"/>
                <a:cs typeface="Arial" pitchFamily="34" charset="-120"/>
              </a:rPr>
              <a:t>Start simple. Be specific. Check what changed.</a:t>
            </a:r>
            <a:endParaRPr lang="en-US" sz="3100" dirty="0"/>
          </a:p>
        </p:txBody>
      </p:sp>
      <p:sp>
        <p:nvSpPr>
          <p:cNvPr id="5" name="Text 2"/>
          <p:cNvSpPr/>
          <p:nvPr/>
        </p:nvSpPr>
        <p:spPr>
          <a:xfrm>
            <a:off x="685800" y="1965960"/>
            <a:ext cx="10789920" cy="1691640"/>
          </a:xfrm>
          <a:prstGeom prst="rect">
            <a:avLst/>
          </a:prstGeom>
          <a:noFill/>
          <a:ln/>
        </p:spPr>
        <p:txBody>
          <a:bodyPr wrap="square" lIns="0" tIns="0" rIns="0" bIns="0" rtlCol="0" anchor="ctr">
            <a:normAutofit/>
          </a:bodyPr>
          <a:lstStyle/>
          <a:p>
            <a:pPr algn="ctr" indent="0" marL="0">
              <a:buNone/>
            </a:pPr>
            <a:r>
              <a:rPr lang="en-US" sz="3800" b="1" dirty="0">
                <a:solidFill>
                  <a:srgbClr val="1B242B"/>
                </a:solidFill>
                <a:latin typeface="Arial" pitchFamily="34" charset="0"/>
                <a:ea typeface="Arial" pitchFamily="34" charset="-122"/>
                <a:cs typeface="Arial" pitchFamily="34" charset="-120"/>
              </a:rPr>
              <a:t>Describe it. Try it. Fix it. Check it again. Share it.</a:t>
            </a:r>
            <a:endParaRPr lang="en-US" sz="3800" dirty="0"/>
          </a:p>
        </p:txBody>
      </p:sp>
      <p:sp>
        <p:nvSpPr>
          <p:cNvPr id="6" name="Text 3"/>
          <p:cNvSpPr/>
          <p:nvPr/>
        </p:nvSpPr>
        <p:spPr>
          <a:xfrm>
            <a:off x="658368" y="6108192"/>
            <a:ext cx="10607040" cy="384048"/>
          </a:xfrm>
          <a:prstGeom prst="rect">
            <a:avLst/>
          </a:prstGeom>
          <a:noFill/>
          <a:ln/>
        </p:spPr>
        <p:txBody>
          <a:bodyPr wrap="square" lIns="0" tIns="0" rIns="0" bIns="0" rtlCol="0" anchor="ctr">
            <a:normAutofit/>
          </a:bodyPr>
          <a:lstStyle/>
          <a:p>
            <a:pPr indent="0" marL="0">
              <a:buNone/>
            </a:pPr>
            <a:r>
              <a:rPr lang="en-US" sz="1400" i="1" dirty="0">
                <a:solidFill>
                  <a:srgbClr val="53636F"/>
                </a:solidFill>
                <a:latin typeface="Arial" pitchFamily="34" charset="0"/>
                <a:ea typeface="Arial" pitchFamily="34" charset="-122"/>
                <a:cs typeface="Arial" pitchFamily="34" charset="-120"/>
              </a:rPr>
              <a:t>modus.trimble.com/modus-ai</a:t>
            </a:r>
            <a:endParaRPr lang="en-US" sz="1400" dirty="0"/>
          </a:p>
        </p:txBody>
      </p:sp>
      <p:sp>
        <p:nvSpPr>
          <p:cNvPr id="25" name="Slide Number Placeholder 0"/>
          <p:cNvSpPr>
            <a:spLocks noGrp="1"/>
          </p:cNvSpPr>
          <p:nvPr>
            <p:ph type="sldNum" sz="quarter" idx="4294967295"/>
          </p:nvPr>
        </p:nvSpPr>
        <p:spPr>
          <a:xfrm>
            <a:off x="11658600" y="6464808"/>
            <a:ext cx="22860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77848D"/>
                </a:solidFill>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Trimble Modus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an Idea to a Working Prototype</dc:title>
  <dc:subject>A hands-on Cursor and Modus workshop for designers</dc:subject>
  <dc:creator>Modus AI Design Workshop</dc:creator>
  <cp:lastModifiedBy>Modus AI Design Workshop</cp:lastModifiedBy>
  <cp:revision>1</cp:revision>
  <dcterms:created xsi:type="dcterms:W3CDTF">2026-08-15T14:21:40Z</dcterms:created>
  <dcterms:modified xsi:type="dcterms:W3CDTF">2026-08-15T14:21:40Z</dcterms:modified>
</cp:coreProperties>
</file>