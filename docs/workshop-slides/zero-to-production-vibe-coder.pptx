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room. Make the boundary explicit: nobody needs to read or write code. They will speak to Agent, inspect a running interface, and use design judgment to direct the next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confidence without overpromising. AI does not replace their judgment. It makes their decisions executable and testable.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boundary throughout. “Production quality” here means a credible, testable frontend prototype—not independently certified production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participants to predict the next step before revealing it. This loop is the one reusable behavior across all phases.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phase ends with an assessment and Q&amp;A. The first two are small. Phase 3 is the first large independence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from true zero. Avoid technical vocabulary until it solves a visible design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participants in the Agent window and browser preview. Do not use Cmd+K, the file explorer, or code as teaching surfaces.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two-pane layout: Agent and preview. If participants see code, tell them it is implementation detail—not their work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progressive frame one. Show anonymous boxes only. Do not show code or a finished product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Progressive frame two. Explain that HTML describes what things are. Designers do not need to author tags.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Progressive frame three. This is the visual “animation” in PowerPoint/Google Slides. Advance between slides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 only needs this functional mental model. Avoid syntax, tags, selectors, and file anatomy.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25–30 minutes. If someone freezes, ask: “What should one person be able to do on the first screen?” Do not give them a login mock.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self-check, peer glance, facilitator gate, then Q&amp;A. Score the running design and process—not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anonymous questions. Recurring questions become a 3-minute live micro-demo.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everything to the interface each participant already created.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this to Figma frames. Several frames may document states, but implementation is one product whose memory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Avoid teaching framework internals. They only need to understand why Agent needs a vehicle beyond static HTML/CSS.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wording matters: we are not training React developers. We are giving Agent a consistent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Progressive state frame one. Use the iPad/Figma only if it makes the open/closed concept easier.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Progressive state frame two. There is no need to show useState or any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state checklist becomes a persistent quality tool through the rest of the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25–30 minutes. Support is faded: they now fill in more of the prompt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Assessment is visual and behavioral. No one needs to identify a hook or read generated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retrieval: ask a participant to explain state without using technical terminology.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major independence gate. Participants install context rather than relying on a generic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 animated analogy: guardrails, recipes, connected tools. This is conceptual; the official one-step setup handles installation.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live setup route. Participants paste the official setup prompt into Agent. Do not make novices hand-edit configuration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live Modus Cursor Rules page. Explain the concept, not the .mdc syntax.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live Modus Cursor Skills page. Agent chooses relevant skills; designers need not invoke every file by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is not “more intelligence.” It is access. Keep databases and secret managers out of this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 terminology: Figma provides the Cursor plugin; Modus provides synchronized Figma libraries and implementation tooling. There is no verified standalone Modus Figma plugin.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awareness, not an installation race. Install only what the product team actually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60–75 minutes. Use the participant’s Figma work; golden Modus file is the recovery option. Follow with Q&amp;A and Day-1 reflection.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 a one-sentence reflection: “The most important change I made to my process was…”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spaced retrieval: participants reconstruct the operating loop and brain from memory before showing the 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Tour the live site map. Teach where to look—not the contents of every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the synchronized Atomic Design System, Palette, Icons, and Blueprint Figma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Phrase accessibility carefully: Modus is designed for accessibility, but every generated experience still needs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accept “tests pass” from Agent without observing the UI. Agent can silently regress previous behavior.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seeded flawed app: missing empty state, narrow-layout break, focus issue, long content overflow, or fabricated connected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 at least “Ready” or “Ready with support” for functional states, accessibility, safety, and handoff.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answers tied to observable evidence in Browser and references in the Modus Blueprint.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delivery literacy, not DevOps. Avoid secrets, environment variables, CI, and production infrastructure.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Cursor Source Control or Agent to perform the steps. They do not need to read a diff or use terminal Git.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teammate can view a shared Cursor Agent run only if they also have access to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a peer or facilitator open the links on a different account/device. Do not accept localhost.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average away a critical failure. Use the rubric for the workshop and the 45-day peer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Facilitator responds with one “keep” and one “improve,” not a code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managers to assign a real, low-risk prototype within two weeks. Store Agent conversations, failures, and evidence—not only screenshots.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with Q&amp;A. Re-state the boundary: Agent implements; designers direct and verify; engineering productionizes.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C74F"/>
          </a:solidFill>
          <a:ln w="12700">
            <a:solidFill>
              <a:srgbClr val="F9C7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235440" y="6473952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784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layout — editable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E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E6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1800000">
            <a:off x="7772400" y="-914400"/>
            <a:ext cx="5212080" cy="5212080"/>
          </a:xfrm>
          <a:prstGeom prst="arc">
            <a:avLst/>
          </a:prstGeom>
          <a:solidFill>
            <a:srgbClr val="F9C74F">
              <a:alpha val="9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6583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C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31520" y="1600200"/>
            <a:ext cx="8961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to production-quality vibe coder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49808" y="331012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+ design → Agent → Modus → a live product prototype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49808" y="54406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9C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Two-day workshop · Agent window only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have the two prerequisites.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685800" y="1965960"/>
            <a:ext cx="10789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English. Design judgment.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handles implementation. You own intent, interaction, quality, and the decision to accept or revise.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circle—and the engineering boundary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459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0" y="16459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190195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Designers own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382512" y="190195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owns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32688" y="2487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316736" y="246888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goal and flow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932688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316736" y="299008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States and behavior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932688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316736" y="3511296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Modus fidelity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932688" y="40507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316736" y="4032504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Prompts and context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932688" y="4572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316736" y="4553712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verification</a:t>
            </a:r>
            <a:endParaRPr lang="en-US" sz="1550" dirty="0"/>
          </a:p>
        </p:txBody>
      </p:sp>
      <p:sp>
        <p:nvSpPr>
          <p:cNvPr id="19" name="Text 16"/>
          <p:cNvSpPr/>
          <p:nvPr/>
        </p:nvSpPr>
        <p:spPr>
          <a:xfrm>
            <a:off x="932688" y="5093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316736" y="507492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and handoff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6400800" y="2487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784848" y="246888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data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6400800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784848" y="299008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640080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784848" y="3511296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 privacy</a:t>
            </a:r>
            <a:endParaRPr lang="en-US" sz="1550" dirty="0"/>
          </a:p>
        </p:txBody>
      </p:sp>
      <p:sp>
        <p:nvSpPr>
          <p:cNvPr id="27" name="Text 24"/>
          <p:cNvSpPr/>
          <p:nvPr/>
        </p:nvSpPr>
        <p:spPr>
          <a:xfrm>
            <a:off x="6400800" y="40507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784848" y="4032504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6400800" y="4572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784848" y="4553712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550" dirty="0"/>
          </a:p>
        </p:txBody>
      </p:sp>
      <p:sp>
        <p:nvSpPr>
          <p:cNvPr id="31" name="Text 28"/>
          <p:cNvSpPr/>
          <p:nvPr/>
        </p:nvSpPr>
        <p:spPr>
          <a:xfrm>
            <a:off x="6400800" y="5093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784848" y="507492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production review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operating loop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2148840"/>
            <a:ext cx="1106424" cy="960120"/>
          </a:xfrm>
          <a:prstGeom prst="roundRect">
            <a:avLst>
              <a:gd name="adj" fmla="val 7619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542032"/>
            <a:ext cx="886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5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</a:t>
            </a:r>
            <a:endParaRPr lang="en-US" sz="1285" dirty="0"/>
          </a:p>
        </p:txBody>
      </p:sp>
      <p:sp>
        <p:nvSpPr>
          <p:cNvPr id="8" name="Shape 5"/>
          <p:cNvSpPr/>
          <p:nvPr/>
        </p:nvSpPr>
        <p:spPr>
          <a:xfrm>
            <a:off x="1874520" y="2148840"/>
            <a:ext cx="1106424" cy="960120"/>
          </a:xfrm>
          <a:prstGeom prst="roundRect">
            <a:avLst>
              <a:gd name="adj" fmla="val 7619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84248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984248" y="2542032"/>
            <a:ext cx="886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5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</a:t>
            </a:r>
            <a:endParaRPr lang="en-US" sz="1285" dirty="0"/>
          </a:p>
        </p:txBody>
      </p:sp>
      <p:sp>
        <p:nvSpPr>
          <p:cNvPr id="11" name="Shape 8"/>
          <p:cNvSpPr/>
          <p:nvPr/>
        </p:nvSpPr>
        <p:spPr>
          <a:xfrm>
            <a:off x="3090672" y="2148840"/>
            <a:ext cx="1106424" cy="960120"/>
          </a:xfrm>
          <a:prstGeom prst="roundRect">
            <a:avLst>
              <a:gd name="adj" fmla="val 7619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0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200400" y="2542032"/>
            <a:ext cx="886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5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</a:t>
            </a:r>
            <a:endParaRPr lang="en-US" sz="1285" dirty="0"/>
          </a:p>
        </p:txBody>
      </p:sp>
      <p:sp>
        <p:nvSpPr>
          <p:cNvPr id="14" name="Shape 11"/>
          <p:cNvSpPr/>
          <p:nvPr/>
        </p:nvSpPr>
        <p:spPr>
          <a:xfrm>
            <a:off x="4306824" y="2148840"/>
            <a:ext cx="1106424" cy="960120"/>
          </a:xfrm>
          <a:prstGeom prst="roundRect">
            <a:avLst>
              <a:gd name="adj" fmla="val 7619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16552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416552" y="2542032"/>
            <a:ext cx="886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5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</a:t>
            </a:r>
            <a:endParaRPr lang="en-US" sz="1285" dirty="0"/>
          </a:p>
        </p:txBody>
      </p:sp>
      <p:sp>
        <p:nvSpPr>
          <p:cNvPr id="17" name="Shape 14"/>
          <p:cNvSpPr/>
          <p:nvPr/>
        </p:nvSpPr>
        <p:spPr>
          <a:xfrm>
            <a:off x="5522976" y="2148840"/>
            <a:ext cx="1106424" cy="960120"/>
          </a:xfrm>
          <a:prstGeom prst="roundRect">
            <a:avLst>
              <a:gd name="adj" fmla="val 7619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32704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632704" y="2542032"/>
            <a:ext cx="886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5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285" dirty="0"/>
          </a:p>
        </p:txBody>
      </p:sp>
      <p:sp>
        <p:nvSpPr>
          <p:cNvPr id="20" name="Shape 17"/>
          <p:cNvSpPr/>
          <p:nvPr/>
        </p:nvSpPr>
        <p:spPr>
          <a:xfrm>
            <a:off x="6739128" y="2148840"/>
            <a:ext cx="1106424" cy="960120"/>
          </a:xfrm>
          <a:prstGeom prst="roundRect">
            <a:avLst>
              <a:gd name="adj" fmla="val 7619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848856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848856" y="2542032"/>
            <a:ext cx="886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5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285" dirty="0"/>
          </a:p>
        </p:txBody>
      </p:sp>
      <p:sp>
        <p:nvSpPr>
          <p:cNvPr id="23" name="Shape 20"/>
          <p:cNvSpPr/>
          <p:nvPr/>
        </p:nvSpPr>
        <p:spPr>
          <a:xfrm>
            <a:off x="7955280" y="2148840"/>
            <a:ext cx="1106424" cy="960120"/>
          </a:xfrm>
          <a:prstGeom prst="roundRect">
            <a:avLst>
              <a:gd name="adj" fmla="val 7619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65008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065008" y="2542032"/>
            <a:ext cx="886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5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</a:t>
            </a:r>
            <a:endParaRPr lang="en-US" sz="1285" dirty="0"/>
          </a:p>
        </p:txBody>
      </p:sp>
      <p:sp>
        <p:nvSpPr>
          <p:cNvPr id="26" name="Shape 23"/>
          <p:cNvSpPr/>
          <p:nvPr/>
        </p:nvSpPr>
        <p:spPr>
          <a:xfrm>
            <a:off x="9171432" y="2148840"/>
            <a:ext cx="1106424" cy="960120"/>
          </a:xfrm>
          <a:prstGeom prst="roundRect">
            <a:avLst>
              <a:gd name="adj" fmla="val 7619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281160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9281160" y="2542032"/>
            <a:ext cx="886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5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Re-test</a:t>
            </a:r>
            <a:endParaRPr lang="en-US" sz="1285" dirty="0"/>
          </a:p>
        </p:txBody>
      </p:sp>
      <p:sp>
        <p:nvSpPr>
          <p:cNvPr id="29" name="Shape 26"/>
          <p:cNvSpPr/>
          <p:nvPr/>
        </p:nvSpPr>
        <p:spPr>
          <a:xfrm>
            <a:off x="10387584" y="2148840"/>
            <a:ext cx="1106424" cy="960120"/>
          </a:xfrm>
          <a:prstGeom prst="roundRect">
            <a:avLst>
              <a:gd name="adj" fmla="val 7619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497312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10497312" y="2542032"/>
            <a:ext cx="886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5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</a:t>
            </a:r>
            <a:endParaRPr lang="en-US" sz="1285" dirty="0"/>
          </a:p>
        </p:txBody>
      </p:sp>
      <p:sp>
        <p:nvSpPr>
          <p:cNvPr id="32" name="Text 29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cleverness is not the skill. Specification, observation, and verification are.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days, five phases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00200"/>
            <a:ext cx="10835640" cy="671170"/>
          </a:xfrm>
          <a:prstGeom prst="roundRect">
            <a:avLst>
              <a:gd name="adj" fmla="val 1089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764792"/>
            <a:ext cx="10433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· Phase 1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59536" y="2112264"/>
            <a:ext cx="10433304" cy="12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+ HTML/CSS basics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58368" y="2472538"/>
            <a:ext cx="10835640" cy="671170"/>
          </a:xfrm>
          <a:prstGeom prst="roundRect">
            <a:avLst>
              <a:gd name="adj" fmla="val 1089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" y="2637130"/>
            <a:ext cx="10433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· Phase 2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2984602"/>
            <a:ext cx="10433304" cy="12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 + light state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8368" y="3344875"/>
            <a:ext cx="10835640" cy="671170"/>
          </a:xfrm>
          <a:prstGeom prst="roundRect">
            <a:avLst>
              <a:gd name="adj" fmla="val 1089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509467"/>
            <a:ext cx="10433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· Phase 3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59536" y="3856939"/>
            <a:ext cx="10433304" cy="12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and Modus brain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58368" y="4217213"/>
            <a:ext cx="10835640" cy="671170"/>
          </a:xfrm>
          <a:prstGeom prst="roundRect">
            <a:avLst>
              <a:gd name="adj" fmla="val 1089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59536" y="4381805"/>
            <a:ext cx="10433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· Phase 4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59536" y="4729277"/>
            <a:ext cx="10433304" cy="12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Production-quality Modus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58368" y="5089550"/>
            <a:ext cx="10835640" cy="671170"/>
          </a:xfrm>
          <a:prstGeom prst="roundRect">
            <a:avLst>
              <a:gd name="adj" fmla="val 1089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59536" y="5254142"/>
            <a:ext cx="10433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· Phase 5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59536" y="5601614"/>
            <a:ext cx="10433304" cy="12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GitHub, access, and delivery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63A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3A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1800000">
            <a:off x="7772400" y="-914400"/>
            <a:ext cx="5212080" cy="5212080"/>
          </a:xfrm>
          <a:prstGeom prst="arc">
            <a:avLst/>
          </a:prstGeom>
          <a:solidFill>
            <a:srgbClr val="F9C74F">
              <a:alpha val="9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6583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C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31520" y="182880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749808" y="309067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AI, HTML, and CSS—without becoming a coder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49808" y="54406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9C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· Morning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is a design collaborator that can build.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685800" y="1965960"/>
            <a:ext cx="10789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describe an outcome. Agent creates and runs it.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job is to look, judge, and ask for the next bounded change.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workspace: Agent + Preview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459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0" y="16459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190195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382512" y="190195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Ignore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32688" y="2487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316736" y="246888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window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932688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316736" y="299008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prompts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932688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316736" y="3511296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preview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932688" y="40507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316736" y="4032504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and Figma links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932688" y="4572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316736" y="4553712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Checkpoints to undo</a:t>
            </a:r>
            <a:endParaRPr lang="en-US" sz="1550" dirty="0"/>
          </a:p>
        </p:txBody>
      </p:sp>
      <p:sp>
        <p:nvSpPr>
          <p:cNvPr id="19" name="Text 16"/>
          <p:cNvSpPr/>
          <p:nvPr/>
        </p:nvSpPr>
        <p:spPr>
          <a:xfrm>
            <a:off x="6400800" y="2487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784848" y="246888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Cmd+K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6400800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784848" y="299008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.tsx files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640080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784848" y="3511296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CSS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6400800" y="40507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784848" y="4032504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commands</a:t>
            </a:r>
            <a:endParaRPr lang="en-US" sz="1550" dirty="0"/>
          </a:p>
        </p:txBody>
      </p:sp>
      <p:sp>
        <p:nvSpPr>
          <p:cNvPr id="27" name="Text 24"/>
          <p:cNvSpPr/>
          <p:nvPr/>
        </p:nvSpPr>
        <p:spPr>
          <a:xfrm>
            <a:off x="6400800" y="4572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784848" y="4553712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gives a page structure.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1371600" y="1645920"/>
            <a:ext cx="9464040" cy="4114800"/>
          </a:xfrm>
          <a:prstGeom prst="roundRect">
            <a:avLst/>
          </a:prstGeom>
          <a:solidFill>
            <a:srgbClr val="F0F2F4"/>
          </a:solidFill>
          <a:ln w="12700">
            <a:solidFill>
              <a:srgbClr val="AAB5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783080" y="2011680"/>
            <a:ext cx="8641080" cy="566928"/>
          </a:xfrm>
          <a:prstGeom prst="roundRect">
            <a:avLst>
              <a:gd name="adj" fmla="val 12903"/>
            </a:avLst>
          </a:prstGeom>
          <a:solidFill>
            <a:srgbClr val="E1E5E8"/>
          </a:solidFill>
          <a:ln w="12700">
            <a:solidFill>
              <a:srgbClr val="E1E5E8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83080" y="2880360"/>
            <a:ext cx="1965960" cy="2240280"/>
          </a:xfrm>
          <a:prstGeom prst="roundRect">
            <a:avLst>
              <a:gd name="adj" fmla="val 3721"/>
            </a:avLst>
          </a:prstGeom>
          <a:solidFill>
            <a:srgbClr val="E1E5E8"/>
          </a:solidFill>
          <a:ln w="12700">
            <a:solidFill>
              <a:srgbClr val="E1E5E8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23360" y="2880360"/>
            <a:ext cx="6400800" cy="2240280"/>
          </a:xfrm>
          <a:prstGeom prst="roundRect">
            <a:avLst>
              <a:gd name="adj" fmla="val 3265"/>
            </a:avLst>
          </a:prstGeom>
          <a:solidFill>
            <a:srgbClr val="E1E5E8"/>
          </a:solidFill>
          <a:ln w="12700">
            <a:solidFill>
              <a:srgbClr val="E1E5E8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rooms in a building: regions exist, but they do not yet communicate a visual hierarchy.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gives structure meaning.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1371600" y="1645920"/>
            <a:ext cx="9464040" cy="4114800"/>
          </a:xfrm>
          <a:prstGeom prst="roundRect">
            <a:avLst/>
          </a:prstGeom>
          <a:solidFill>
            <a:srgbClr val="F0F2F4"/>
          </a:solidFill>
          <a:ln w="12700">
            <a:solidFill>
              <a:srgbClr val="AAB5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783080" y="2011680"/>
            <a:ext cx="8641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947672" y="2139696"/>
            <a:ext cx="8311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region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783080" y="2880360"/>
            <a:ext cx="1965960" cy="224028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47672" y="300837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023360" y="2880360"/>
            <a:ext cx="640080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87952" y="3008376"/>
            <a:ext cx="6071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heading, controls, content, and actions become understandable regions.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gives the structure art direction.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1371600" y="1645920"/>
            <a:ext cx="94640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3A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783080" y="2011680"/>
            <a:ext cx="8641080" cy="566928"/>
          </a:xfrm>
          <a:prstGeom prst="roundRect">
            <a:avLst>
              <a:gd name="adj" fmla="val 12903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947672" y="2139696"/>
            <a:ext cx="8311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region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783080" y="2880360"/>
            <a:ext cx="1965960" cy="2240280"/>
          </a:xfrm>
          <a:prstGeom prst="roundRect">
            <a:avLst>
              <a:gd name="adj" fmla="val 3721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47672" y="300837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023360" y="2880360"/>
            <a:ext cx="6400800" cy="2240280"/>
          </a:xfrm>
          <a:prstGeom prst="roundRect">
            <a:avLst>
              <a:gd name="adj" fmla="val 3265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87952" y="3008376"/>
            <a:ext cx="6071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43400" y="3566160"/>
            <a:ext cx="5760720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43400" y="4114800"/>
            <a:ext cx="3456432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43400" y="4617720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Type, spacing, color, scale, and alignment create hierarchy—without changing the underlying purpose.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and look solve different problems.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0020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7647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59536" y="2112264"/>
            <a:ext cx="49149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on the page?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76772" y="160020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77940" y="17647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377940" y="2112264"/>
            <a:ext cx="49149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it communicate?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8368" y="297180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1363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59536" y="3483864"/>
            <a:ext cx="49149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the user achieve?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76772" y="297180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77940" y="31363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377940" y="3483864"/>
            <a:ext cx="49149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is it implemented?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lab: make a small interface you want to exist.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822960" y="1783080"/>
            <a:ext cx="10561320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0063A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43000" y="2084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 AGENT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143000" y="2651760"/>
            <a:ext cx="9921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small front-end page for [a user] who needs to [achieve a goal]. Include [the minimum things they need]. Create the HTML and CSS, run it, and open it in the browser preview.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specimen. No expected visual. Start with a real design problem.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assessment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868680" y="1691640"/>
            <a:ext cx="1033272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33272" y="18745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490472" y="1828800"/>
            <a:ext cx="9509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page is running in Preview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868680" y="2560320"/>
            <a:ext cx="1033272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33272" y="274320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90472" y="2697480"/>
            <a:ext cx="9509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participant can explain the user goal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868680" y="3429000"/>
            <a:ext cx="1033272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33272" y="36118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490472" y="3566160"/>
            <a:ext cx="9509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made one revision through Agent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868680" y="4297680"/>
            <a:ext cx="1033272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33272" y="448056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490472" y="4434840"/>
            <a:ext cx="9509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can restore a Checkpoint if needed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68680" y="5806440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Ready · Ready with support · Not yet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clinic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73736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90195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337304" y="173736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38472" y="190195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016240" y="173736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17408" y="190195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58368" y="310896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27355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37304" y="310896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38472" y="327355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Parking lot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every answer with: “What pattern generalizes?”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7252A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252A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1800000">
            <a:off x="7772400" y="-914400"/>
            <a:ext cx="5212080" cy="5212080"/>
          </a:xfrm>
          <a:prstGeom prst="arc">
            <a:avLst/>
          </a:prstGeom>
          <a:solidFill>
            <a:srgbClr val="F9C74F">
              <a:alpha val="9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6583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C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31520" y="182880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749808" y="309067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frameworks exist—and just enough state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49808" y="54406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9C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· Midday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72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poster can look finished. A product must remember.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00200"/>
            <a:ext cx="108356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764792"/>
            <a:ext cx="10433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page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59536" y="2112264"/>
            <a:ext cx="104333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visual moment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58368" y="2971800"/>
            <a:ext cx="108356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" y="3136392"/>
            <a:ext cx="10433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static page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3483864"/>
            <a:ext cx="104333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visual moment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8368" y="4343400"/>
            <a:ext cx="108356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4507992"/>
            <a:ext cx="10433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Living interface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59536" y="4855464"/>
            <a:ext cx="104333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UI with memory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72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framework is reusable blocks + a living screen.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685800" y="1965960"/>
            <a:ext cx="10789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2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one interface respond, remember, and reuse.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vehicle under the design—not the design itself.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72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React, Angular, and Vue are different vehicles.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00200"/>
            <a:ext cx="108356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764792"/>
            <a:ext cx="10433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59536" y="2112264"/>
            <a:ext cx="104333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Agent output; strong Modus wrappers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58368" y="2971800"/>
            <a:ext cx="108356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" y="3136392"/>
            <a:ext cx="10433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Angular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3483864"/>
            <a:ext cx="104333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application framework; used in Trimble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8368" y="4343400"/>
            <a:ext cx="108356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4507992"/>
            <a:ext cx="10433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59536" y="4855464"/>
            <a:ext cx="104333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framework; Modus wrapper exists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choose React so one room follows one workflow—not because it is the only correct choice.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72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is the screen’s memory right now.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914400" y="1783080"/>
            <a:ext cx="10332720" cy="40233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E8ECE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34440" y="2148840"/>
            <a:ext cx="2834640" cy="3246120"/>
          </a:xfrm>
          <a:prstGeom prst="roundRect">
            <a:avLst>
              <a:gd name="adj" fmla="val 2581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508760" y="2514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living screen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508760" y="31272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open: false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1664208" y="4041648"/>
            <a:ext cx="1965960" cy="594360"/>
          </a:xfrm>
          <a:prstGeom prst="roundRect">
            <a:avLst>
              <a:gd name="adj" fmla="val 12308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64792" y="4151376"/>
            <a:ext cx="1764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 clicks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315968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4983480" y="2148840"/>
            <a:ext cx="5669280" cy="3246120"/>
          </a:xfrm>
          <a:prstGeom prst="roundRect">
            <a:avLst>
              <a:gd name="adj" fmla="val 2817"/>
            </a:avLst>
          </a:prstGeom>
          <a:solidFill>
            <a:srgbClr val="F8F9FA"/>
          </a:solidFill>
          <a:ln w="12700">
            <a:solidFill>
              <a:srgbClr val="E8ECE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49240" y="245059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349240" y="3017520"/>
            <a:ext cx="4526280" cy="411480"/>
          </a:xfrm>
          <a:prstGeom prst="roundRect">
            <a:avLst>
              <a:gd name="adj" fmla="val 17778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349240" y="370332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559552" y="4069080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/ default state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a panel is closed. Nothing needs to be duplicated.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72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event changes that memory.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914400" y="1783080"/>
            <a:ext cx="10332720" cy="40233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E8ECE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34440" y="2148840"/>
            <a:ext cx="2834640" cy="3246120"/>
          </a:xfrm>
          <a:prstGeom prst="roundRect">
            <a:avLst>
              <a:gd name="adj" fmla="val 2581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508760" y="2514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living screen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508760" y="31272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open: true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1664208" y="4041648"/>
            <a:ext cx="1965960" cy="594360"/>
          </a:xfrm>
          <a:prstGeom prst="roundRect">
            <a:avLst>
              <a:gd name="adj" fmla="val 12308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64792" y="4151376"/>
            <a:ext cx="1764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opened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315968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4983480" y="2148840"/>
            <a:ext cx="5669280" cy="3246120"/>
          </a:xfrm>
          <a:prstGeom prst="roundRect">
            <a:avLst>
              <a:gd name="adj" fmla="val 2817"/>
            </a:avLst>
          </a:prstGeom>
          <a:solidFill>
            <a:srgbClr val="F8F9FA"/>
          </a:solidFill>
          <a:ln w="12700">
            <a:solidFill>
              <a:srgbClr val="E8ECE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49240" y="245059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349240" y="3017520"/>
            <a:ext cx="4526280" cy="411480"/>
          </a:xfrm>
          <a:prstGeom prst="roundRect">
            <a:avLst>
              <a:gd name="adj" fmla="val 17778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349240" y="3703320"/>
            <a:ext cx="4526280" cy="1188720"/>
          </a:xfrm>
          <a:prstGeom prst="roundRect">
            <a:avLst>
              <a:gd name="adj" fmla="val 615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559552" y="4069080"/>
            <a:ext cx="4105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panel / modal / selection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person clicks. “Open” changes from false to true. The same screen responds.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72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the full experience—not only the happy screenshot.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916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8562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action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337304" y="16916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38472" y="18562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/ loading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016240" y="16916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17408" y="18562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58368" y="30632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2278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37304" y="30632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38472" y="32278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016240" y="30632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17408" y="32278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What can the person see and do in each moment?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72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 lab: add one piece of memory.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822960" y="1783080"/>
            <a:ext cx="10561320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0063A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43000" y="2084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2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 AGENT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143000" y="2651760"/>
            <a:ext cx="9921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one behavior to this interface. When the user [acts], the interface should [respond]. Include what happens before, during, if it fails, and after success. Run and verify it in Preview.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choose the behavior: toggle, reveal, select, filter, validate, or confirm.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72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assessment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868680" y="1691640"/>
            <a:ext cx="1033272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33272" y="18745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490472" y="1828800"/>
            <a:ext cx="9509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UI has a working interaction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868680" y="2560320"/>
            <a:ext cx="1033272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33272" y="274320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90472" y="2697480"/>
            <a:ext cx="9509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participant can describe its memory in English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868680" y="3429000"/>
            <a:ext cx="1033272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33272" y="36118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490472" y="3566160"/>
            <a:ext cx="9509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least two relevant states are visible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868680" y="4297680"/>
            <a:ext cx="1033272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33272" y="448056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490472" y="4434840"/>
            <a:ext cx="9509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peer can trigger and recover the flow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68680" y="5806440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Ready · Ready with support · Not yet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72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clinic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73736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90195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framework?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337304" y="173736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38472" y="190195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state?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016240" y="173736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17408" y="190195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React?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58368" y="310896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27355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Agent remember?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37304" y="310896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38472" y="327355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Parking lot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move from “understanding AI” to “giving AI a brain.”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7F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7F2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1800000">
            <a:off x="7772400" y="-914400"/>
            <a:ext cx="5212080" cy="5212080"/>
          </a:xfrm>
          <a:prstGeom prst="arc">
            <a:avLst/>
          </a:prstGeom>
          <a:solidFill>
            <a:srgbClr val="F9C74F">
              <a:alpha val="9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6583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C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31520" y="182880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749808" y="309067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Agent a Modus brain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49808" y="54406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9C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· Afternoon · First big assessment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blank Agent is capable—but it has amnesia.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0020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7647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59536" y="2112264"/>
            <a:ext cx="49149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guardrails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76772" y="160020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77940" y="17647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377940" y="2112264"/>
            <a:ext cx="49149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Focused recipes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8368" y="297180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1363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59536" y="3483864"/>
            <a:ext cx="49149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tools and facts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76772" y="297180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77940" y="31363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377940" y="3483864"/>
            <a:ext cx="49149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design context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58368" y="434340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59536" y="4507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59536" y="4855464"/>
            <a:ext cx="49149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evidence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official Modus one-step setup.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685800" y="1965960"/>
            <a:ext cx="10789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prompt installs the Docs MCP, user rules, and user skills.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modus.trimble.com/setup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are permanent guardrails.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9164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85623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Modus components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176772" y="169164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77940" y="185623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accessible patterns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58368" y="306324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9536" y="322783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semantic tokens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76772" y="306324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77940" y="322783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custom-CSS drift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58368" y="443484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9536" y="459943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Respect framework integration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are recipes for recurring work.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9164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85623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up component contracts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176772" y="169164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77940" y="185623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forms and tables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58368" y="306324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9536" y="322783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icons correctly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76772" y="306324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77940" y="322783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Blueprint patterns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58368" y="443484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9536" y="459943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 modal and navigation workflows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connects Agent to live tools and facts.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9164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85623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Modus Docs MCP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176772" y="169164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77940" y="185623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Figma MCP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58368" y="306324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9536" y="322783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Notion / Linear / GitHub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76772" y="306324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77940" y="322783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Version-aware component guidance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→ Agent → Modus-aware implementation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Modus 2.0 library</a:t>
            </a:r>
            <a:endParaRPr lang="en-US" sz="1390" dirty="0"/>
          </a:p>
        </p:txBody>
      </p:sp>
      <p:sp>
        <p:nvSpPr>
          <p:cNvPr id="8" name="Shape 5"/>
          <p:cNvSpPr/>
          <p:nvPr/>
        </p:nvSpPr>
        <p:spPr>
          <a:xfrm>
            <a:off x="2482596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592324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592324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link to selection</a:t>
            </a:r>
            <a:endParaRPr lang="en-US" sz="1390" dirty="0"/>
          </a:p>
        </p:txBody>
      </p:sp>
      <p:sp>
        <p:nvSpPr>
          <p:cNvPr id="11" name="Shape 8"/>
          <p:cNvSpPr/>
          <p:nvPr/>
        </p:nvSpPr>
        <p:spPr>
          <a:xfrm>
            <a:off x="4306824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16552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416552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into Agent</a:t>
            </a:r>
            <a:endParaRPr lang="en-US" sz="1390" dirty="0"/>
          </a:p>
        </p:txBody>
      </p:sp>
      <p:sp>
        <p:nvSpPr>
          <p:cNvPr id="14" name="Shape 11"/>
          <p:cNvSpPr/>
          <p:nvPr/>
        </p:nvSpPr>
        <p:spPr>
          <a:xfrm>
            <a:off x="6131052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40780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240780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user goal + states</a:t>
            </a:r>
            <a:endParaRPr lang="en-US" sz="1390" dirty="0"/>
          </a:p>
        </p:txBody>
      </p:sp>
      <p:sp>
        <p:nvSpPr>
          <p:cNvPr id="17" name="Shape 14"/>
          <p:cNvSpPr/>
          <p:nvPr/>
        </p:nvSpPr>
        <p:spPr>
          <a:xfrm>
            <a:off x="7955280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065008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065008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in Browser</a:t>
            </a:r>
            <a:endParaRPr lang="en-US" sz="1390" dirty="0"/>
          </a:p>
        </p:txBody>
      </p:sp>
      <p:sp>
        <p:nvSpPr>
          <p:cNvPr id="20" name="Shape 17"/>
          <p:cNvSpPr/>
          <p:nvPr/>
        </p:nvSpPr>
        <p:spPr>
          <a:xfrm>
            <a:off x="9779508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889236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9889236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and revise</a:t>
            </a:r>
            <a:endParaRPr lang="en-US" sz="1390" dirty="0"/>
          </a:p>
        </p:txBody>
      </p:sp>
      <p:sp>
        <p:nvSpPr>
          <p:cNvPr id="23" name="Text 20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the official Figma plugin in Agent: /add-plugin figma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additions—only when they match the work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0020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7647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Notion MCP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59536" y="2112264"/>
            <a:ext cx="49149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requirements into Agent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76772" y="160020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77940" y="17647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/ Jira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377940" y="2112264"/>
            <a:ext cx="49149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tickets as the brief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8368" y="297180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1363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MCP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59536" y="3483864"/>
            <a:ext cx="49149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project work and later delivery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76772" y="297180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77940" y="31363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generation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377940" y="3483864"/>
            <a:ext cx="49149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Temporary concept assets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58368" y="434340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59536" y="4507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marketplace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59536" y="4855464"/>
            <a:ext cx="49149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shared plugins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big assessment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868680" y="169164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33272" y="18745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490472" y="182880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Modus setup completed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355080" y="169164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19672" y="18745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976872" y="182880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plugin/MCP is connected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868680" y="284988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33272" y="303276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490472" y="298704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Figma selection—not only a screenshot—was used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355080" y="284988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19672" y="303276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976872" y="298704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verifies the app in Browser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868680" y="400812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33272" y="419100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490472" y="414528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Participant restores one Checkpoint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6355080" y="400812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19100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976872" y="414528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 still works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68680" y="5806440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this gate: ready to do AI independently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reflection + Q&amp;A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73736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90195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did the brain change?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176772" y="173736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77940" y="190195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did Agent guess?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58368" y="310896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9536" y="327355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did Browser prove?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76772" y="3108960"/>
            <a:ext cx="5317236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77940" y="3273552"/>
            <a:ext cx="49149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remains a designer decision?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Tomorrow: use the company vehicle and raise the quality bar.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D7A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D7A5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1800000">
            <a:off x="7772400" y="-914400"/>
            <a:ext cx="5212080" cy="5212080"/>
          </a:xfrm>
          <a:prstGeom prst="arc">
            <a:avLst/>
          </a:prstGeom>
          <a:solidFill>
            <a:srgbClr val="F9C74F">
              <a:alpha val="9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6583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C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31520" y="182880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749808" y="309067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production-quality Modus version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49808" y="54406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9C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· Morning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Modus already built the road.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0020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764792"/>
            <a:ext cx="3075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59536" y="2112264"/>
            <a:ext cx="3075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Type, color, space, breakpoints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37304" y="160020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38472" y="1764792"/>
            <a:ext cx="3075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538472" y="2112264"/>
            <a:ext cx="3075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controls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016240" y="160020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17408" y="1764792"/>
            <a:ext cx="3075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217408" y="2112264"/>
            <a:ext cx="3075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Composable interactions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58368" y="297180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59536" y="3136392"/>
            <a:ext cx="3075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59536" y="3483864"/>
            <a:ext cx="3075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structures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337304" y="297180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38472" y="3136392"/>
            <a:ext cx="3075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libraries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538472" y="3483864"/>
            <a:ext cx="3075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assets that match delivery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016240" y="297180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17408" y="3136392"/>
            <a:ext cx="3075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tooling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8217408" y="3483864"/>
            <a:ext cx="3075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skills, MCP, CLI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progressively larger building blocks.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5093208" y="539496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202936" y="548640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384548" y="4681728"/>
            <a:ext cx="3429000" cy="548640"/>
          </a:xfrm>
          <a:prstGeom prst="roundRect">
            <a:avLst>
              <a:gd name="adj" fmla="val 13333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494276" y="4773168"/>
            <a:ext cx="3209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675888" y="3968496"/>
            <a:ext cx="4846320" cy="548640"/>
          </a:xfrm>
          <a:prstGeom prst="roundRect">
            <a:avLst>
              <a:gd name="adj" fmla="val 13333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85616" y="4059936"/>
            <a:ext cx="4626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967228" y="3255264"/>
            <a:ext cx="6263640" cy="548640"/>
          </a:xfrm>
          <a:prstGeom prst="roundRect">
            <a:avLst>
              <a:gd name="adj" fmla="val 13333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76956" y="3346704"/>
            <a:ext cx="6044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258568" y="2542032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368296" y="2633472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product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 existing language. Do not ask Agent to invent a parallel design system.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quality is more than visual fidelity.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916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8562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Intentional task flow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337304" y="16916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38472" y="18562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states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016240" y="16916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17408" y="18562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Modus components and tokens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58368" y="30632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2278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layout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37304" y="30632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38472" y="32278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Keyboard and visible focus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016240" y="30632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17408" y="32278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Truthful data assumptions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58368" y="44348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59536" y="45994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Shareable evidence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builds. Browser provides evidence.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the task</a:t>
            </a:r>
            <a:endParaRPr lang="en-US" sz="1390" dirty="0"/>
          </a:p>
        </p:txBody>
      </p:sp>
      <p:sp>
        <p:nvSpPr>
          <p:cNvPr id="8" name="Shape 5"/>
          <p:cNvSpPr/>
          <p:nvPr/>
        </p:nvSpPr>
        <p:spPr>
          <a:xfrm>
            <a:off x="2482596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592324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592324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empty/loading/error/success</a:t>
            </a:r>
            <a:endParaRPr lang="en-US" sz="1390" dirty="0"/>
          </a:p>
        </p:txBody>
      </p:sp>
      <p:sp>
        <p:nvSpPr>
          <p:cNvPr id="11" name="Shape 8"/>
          <p:cNvSpPr/>
          <p:nvPr/>
        </p:nvSpPr>
        <p:spPr>
          <a:xfrm>
            <a:off x="4306824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16552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416552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keyboard only</a:t>
            </a:r>
            <a:endParaRPr lang="en-US" sz="1390" dirty="0"/>
          </a:p>
        </p:txBody>
      </p:sp>
      <p:sp>
        <p:nvSpPr>
          <p:cNvPr id="14" name="Shape 11"/>
          <p:cNvSpPr/>
          <p:nvPr/>
        </p:nvSpPr>
        <p:spPr>
          <a:xfrm>
            <a:off x="6131052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40780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240780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narrow + wide</a:t>
            </a:r>
            <a:endParaRPr lang="en-US" sz="1390" dirty="0"/>
          </a:p>
        </p:txBody>
      </p:sp>
      <p:sp>
        <p:nvSpPr>
          <p:cNvPr id="17" name="Shape 14"/>
          <p:cNvSpPr/>
          <p:nvPr/>
        </p:nvSpPr>
        <p:spPr>
          <a:xfrm>
            <a:off x="7955280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065008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065008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long content</a:t>
            </a:r>
            <a:endParaRPr lang="en-US" sz="1390" dirty="0"/>
          </a:p>
        </p:txBody>
      </p:sp>
      <p:sp>
        <p:nvSpPr>
          <p:cNvPr id="20" name="Shape 17"/>
          <p:cNvSpPr/>
          <p:nvPr/>
        </p:nvSpPr>
        <p:spPr>
          <a:xfrm>
            <a:off x="9779508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889236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9889236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Re-test earlier behavior</a:t>
            </a:r>
            <a:endParaRPr lang="en-US" sz="139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drill: evidence before instruction.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2148840"/>
            <a:ext cx="2079346" cy="960120"/>
          </a:xfrm>
          <a:prstGeom prst="roundRect">
            <a:avLst>
              <a:gd name="adj" fmla="val 7619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542032"/>
            <a:ext cx="18598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25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symptom</a:t>
            </a:r>
            <a:endParaRPr lang="en-US" sz="1425" dirty="0"/>
          </a:p>
        </p:txBody>
      </p:sp>
      <p:sp>
        <p:nvSpPr>
          <p:cNvPr id="8" name="Shape 5"/>
          <p:cNvSpPr/>
          <p:nvPr/>
        </p:nvSpPr>
        <p:spPr>
          <a:xfrm>
            <a:off x="2847442" y="2148840"/>
            <a:ext cx="2079346" cy="960120"/>
          </a:xfrm>
          <a:prstGeom prst="roundRect">
            <a:avLst>
              <a:gd name="adj" fmla="val 7619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57170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957170" y="2542032"/>
            <a:ext cx="18598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25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a hypothesis</a:t>
            </a:r>
            <a:endParaRPr lang="en-US" sz="1425" dirty="0"/>
          </a:p>
        </p:txBody>
      </p:sp>
      <p:sp>
        <p:nvSpPr>
          <p:cNvPr id="11" name="Shape 8"/>
          <p:cNvSpPr/>
          <p:nvPr/>
        </p:nvSpPr>
        <p:spPr>
          <a:xfrm>
            <a:off x="5036515" y="2148840"/>
            <a:ext cx="2079346" cy="960120"/>
          </a:xfrm>
          <a:prstGeom prst="roundRect">
            <a:avLst>
              <a:gd name="adj" fmla="val 7619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46243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146243" y="2542032"/>
            <a:ext cx="18598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25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one bounded correction</a:t>
            </a:r>
            <a:endParaRPr lang="en-US" sz="1425" dirty="0"/>
          </a:p>
        </p:txBody>
      </p:sp>
      <p:sp>
        <p:nvSpPr>
          <p:cNvPr id="14" name="Shape 11"/>
          <p:cNvSpPr/>
          <p:nvPr/>
        </p:nvSpPr>
        <p:spPr>
          <a:xfrm>
            <a:off x="7225589" y="2148840"/>
            <a:ext cx="2079346" cy="960120"/>
          </a:xfrm>
          <a:prstGeom prst="roundRect">
            <a:avLst>
              <a:gd name="adj" fmla="val 7619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35317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35317" y="2542032"/>
            <a:ext cx="18598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25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the fix</a:t>
            </a:r>
            <a:endParaRPr lang="en-US" sz="1425" dirty="0"/>
          </a:p>
        </p:txBody>
      </p:sp>
      <p:sp>
        <p:nvSpPr>
          <p:cNvPr id="17" name="Shape 14"/>
          <p:cNvSpPr/>
          <p:nvPr/>
        </p:nvSpPr>
        <p:spPr>
          <a:xfrm>
            <a:off x="9414662" y="2148840"/>
            <a:ext cx="2079346" cy="960120"/>
          </a:xfrm>
          <a:prstGeom prst="roundRect">
            <a:avLst>
              <a:gd name="adj" fmla="val 7619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524390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524390" y="2542032"/>
            <a:ext cx="18598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25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Regression-check the flow</a:t>
            </a:r>
            <a:endParaRPr lang="en-US" sz="1425" dirty="0"/>
          </a:p>
        </p:txBody>
      </p:sp>
      <p:sp>
        <p:nvSpPr>
          <p:cNvPr id="20" name="Text 17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say “make it better.” Say what failed, where, and what acceptance looks like.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assessment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868680" y="169164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33272" y="18745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490472" y="182880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Looks and behaves like Modus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355080" y="169164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19672" y="18745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976872" y="182880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Relevant states work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868680" y="284988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33272" y="303276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490472" y="298704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completes task without explanation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355080" y="284988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19672" y="303276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976872" y="298704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Narrow and wide layouts pass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868680" y="400812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33272" y="419100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490472" y="414528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Keyboard/focus/labels are checked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6355080" y="400812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19100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976872" y="414528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limits are stated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68680" y="5806440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gate: product quality, not code knowledge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clinic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73736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90195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Modus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337304" y="173736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38472" y="190195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016240" y="173736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17408" y="190195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58368" y="310896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27355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37304" y="310896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38472" y="327355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make the work available to other people.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03E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E6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1800000">
            <a:off x="7772400" y="-914400"/>
            <a:ext cx="5212080" cy="5212080"/>
          </a:xfrm>
          <a:prstGeom prst="arc">
            <a:avLst/>
          </a:prstGeom>
          <a:solidFill>
            <a:srgbClr val="F9C74F">
              <a:alpha val="9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6583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C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31520" y="182880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749808" y="309067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GitHub, access, and delivery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49808" y="54406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9C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· Afternoon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prototype is not delivered while it lives only on your Mac.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GitHub account</a:t>
            </a:r>
            <a:endParaRPr lang="en-US" sz="1390" dirty="0"/>
          </a:p>
        </p:txBody>
      </p:sp>
      <p:sp>
        <p:nvSpPr>
          <p:cNvPr id="8" name="Shape 5"/>
          <p:cNvSpPr/>
          <p:nvPr/>
        </p:nvSpPr>
        <p:spPr>
          <a:xfrm>
            <a:off x="2482596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592324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592324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repository</a:t>
            </a:r>
            <a:endParaRPr lang="en-US" sz="1390" dirty="0"/>
          </a:p>
        </p:txBody>
      </p:sp>
      <p:sp>
        <p:nvSpPr>
          <p:cNvPr id="11" name="Shape 8"/>
          <p:cNvSpPr/>
          <p:nvPr/>
        </p:nvSpPr>
        <p:spPr>
          <a:xfrm>
            <a:off x="4306824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16552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416552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a named snapshot</a:t>
            </a:r>
            <a:endParaRPr lang="en-US" sz="1390" dirty="0"/>
          </a:p>
        </p:txBody>
      </p:sp>
      <p:sp>
        <p:nvSpPr>
          <p:cNvPr id="14" name="Shape 11"/>
          <p:cNvSpPr/>
          <p:nvPr/>
        </p:nvSpPr>
        <p:spPr>
          <a:xfrm>
            <a:off x="6131052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40780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240780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</a:t>
            </a:r>
            <a:endParaRPr lang="en-US" sz="1390" dirty="0"/>
          </a:p>
        </p:txBody>
      </p:sp>
      <p:sp>
        <p:nvSpPr>
          <p:cNvPr id="17" name="Shape 14"/>
          <p:cNvSpPr/>
          <p:nvPr/>
        </p:nvSpPr>
        <p:spPr>
          <a:xfrm>
            <a:off x="7955280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065008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065008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live preview</a:t>
            </a:r>
            <a:endParaRPr lang="en-US" sz="1390" dirty="0"/>
          </a:p>
        </p:txBody>
      </p:sp>
      <p:sp>
        <p:nvSpPr>
          <p:cNvPr id="20" name="Shape 17"/>
          <p:cNvSpPr/>
          <p:nvPr/>
        </p:nvSpPr>
        <p:spPr>
          <a:xfrm>
            <a:off x="9779508" y="2148840"/>
            <a:ext cx="1714500" cy="960120"/>
          </a:xfrm>
          <a:prstGeom prst="roundRect">
            <a:avLst>
              <a:gd name="adj" fmla="val 7619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889236" y="227685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9889236" y="2542032"/>
            <a:ext cx="1495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links</a:t>
            </a:r>
            <a:endParaRPr lang="en-US" sz="1390" dirty="0"/>
          </a:p>
        </p:txBody>
      </p:sp>
      <p:sp>
        <p:nvSpPr>
          <p:cNvPr id="23" name="Text 20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Modus AI PDLC Playbook documents the path through Netlify deployment.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access—not secrets.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459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0" y="16459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190195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382512" y="190195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B8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teach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32688" y="2487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316736" y="246888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vs public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932688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316736" y="299008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collaborator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932688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316736" y="3511296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vs push access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932688" y="40507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316736" y="4032504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vs personal repo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932688" y="4572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316736" y="4553712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link + live link</a:t>
            </a:r>
            <a:endParaRPr lang="en-US" sz="1550" dirty="0"/>
          </a:p>
        </p:txBody>
      </p:sp>
      <p:sp>
        <p:nvSpPr>
          <p:cNvPr id="19" name="Text 16"/>
          <p:cNvSpPr/>
          <p:nvPr/>
        </p:nvSpPr>
        <p:spPr>
          <a:xfrm>
            <a:off x="6400800" y="2487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784848" y="246888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6400800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784848" y="299008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.env files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640080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784848" y="3511296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secrets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6400800" y="40507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784848" y="4032504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credentials</a:t>
            </a:r>
            <a:endParaRPr lang="en-US" sz="1550" dirty="0"/>
          </a:p>
        </p:txBody>
      </p:sp>
      <p:sp>
        <p:nvSpPr>
          <p:cNvPr id="27" name="Text 24"/>
          <p:cNvSpPr/>
          <p:nvPr/>
        </p:nvSpPr>
        <p:spPr>
          <a:xfrm>
            <a:off x="6400800" y="4572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784848" y="4553712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data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 assessment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868680" y="169164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33272" y="18745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490472" y="182880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is under their GitHub account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355080" y="169164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19672" y="18745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976872" y="182880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named commit exists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868680" y="284988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33272" y="303276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490472" y="298704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URL opens for another person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355080" y="284988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19672" y="303276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976872" y="298704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Collaborator access is added or demonstrated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868680" y="400812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33272" y="419100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490472" y="414528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+ repo + preview links are recorded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6355080" y="400812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19100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976872" y="414528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limitations are documented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68680" y="5806440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gate: another person can access and understand the work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quality rubric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00200"/>
            <a:ext cx="5317236" cy="671170"/>
          </a:xfrm>
          <a:prstGeom prst="roundRect">
            <a:avLst>
              <a:gd name="adj" fmla="val 1089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764792"/>
            <a:ext cx="4914900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framing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176772" y="1600200"/>
            <a:ext cx="5317236" cy="671170"/>
          </a:xfrm>
          <a:prstGeom prst="roundRect">
            <a:avLst>
              <a:gd name="adj" fmla="val 1089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77940" y="1764792"/>
            <a:ext cx="4914900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direction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58368" y="2472538"/>
            <a:ext cx="5317236" cy="671170"/>
          </a:xfrm>
          <a:prstGeom prst="roundRect">
            <a:avLst>
              <a:gd name="adj" fmla="val 1089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9536" y="2637130"/>
            <a:ext cx="4914900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states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76772" y="2472538"/>
            <a:ext cx="5317236" cy="671170"/>
          </a:xfrm>
          <a:prstGeom prst="roundRect">
            <a:avLst>
              <a:gd name="adj" fmla="val 1089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77940" y="2637130"/>
            <a:ext cx="4914900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judgment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58368" y="3344875"/>
            <a:ext cx="5317236" cy="671170"/>
          </a:xfrm>
          <a:prstGeom prst="roundRect">
            <a:avLst>
              <a:gd name="adj" fmla="val 1089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9536" y="3509467"/>
            <a:ext cx="4914900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Modus quality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176772" y="3344875"/>
            <a:ext cx="5317236" cy="671170"/>
          </a:xfrm>
          <a:prstGeom prst="roundRect">
            <a:avLst>
              <a:gd name="adj" fmla="val 1089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77940" y="3509467"/>
            <a:ext cx="4914900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behavior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58368" y="4217213"/>
            <a:ext cx="5317236" cy="671170"/>
          </a:xfrm>
          <a:prstGeom prst="roundRect">
            <a:avLst>
              <a:gd name="adj" fmla="val 1089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59536" y="4381805"/>
            <a:ext cx="4914900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176772" y="4217213"/>
            <a:ext cx="5317236" cy="671170"/>
          </a:xfrm>
          <a:prstGeom prst="roundRect">
            <a:avLst>
              <a:gd name="adj" fmla="val 1089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77940" y="4381805"/>
            <a:ext cx="4914900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58368" y="5089550"/>
            <a:ext cx="5317236" cy="671170"/>
          </a:xfrm>
          <a:prstGeom prst="roundRect">
            <a:avLst>
              <a:gd name="adj" fmla="val 1089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59536" y="5254142"/>
            <a:ext cx="4914900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6176772" y="5089550"/>
            <a:ext cx="5317236" cy="671170"/>
          </a:xfrm>
          <a:prstGeom prst="roundRect">
            <a:avLst>
              <a:gd name="adj" fmla="val 1089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77940" y="5254142"/>
            <a:ext cx="4914900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Handoff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0–3 each. Require at least 2 in states, accessibility, safety, and handoff.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Three-minute final showcase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916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8562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problem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337304" y="16916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38472" y="18562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 and states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016240" y="16916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17408" y="18562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 inputs used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58368" y="30632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2278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URL + repo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37304" y="30632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38472" y="32278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AI failure and repair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016240" y="3063240"/>
            <a:ext cx="347776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17408" y="3227832"/>
            <a:ext cx="3075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judgment AI could not make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workshop is the start—not the finish.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58368" y="1600200"/>
            <a:ext cx="10835640" cy="889254"/>
          </a:xfrm>
          <a:prstGeom prst="roundRect">
            <a:avLst>
              <a:gd name="adj" fmla="val 82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1764792"/>
            <a:ext cx="10433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hours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59536" y="2112264"/>
            <a:ext cx="10433304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 the operating loop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58368" y="2690622"/>
            <a:ext cx="10835640" cy="889254"/>
          </a:xfrm>
          <a:prstGeom prst="roundRect">
            <a:avLst>
              <a:gd name="adj" fmla="val 82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" y="2855214"/>
            <a:ext cx="10433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days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3202686"/>
            <a:ext cx="10433304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a seeded defect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8368" y="3781044"/>
            <a:ext cx="10835640" cy="889254"/>
          </a:xfrm>
          <a:prstGeom prst="roundRect">
            <a:avLst>
              <a:gd name="adj" fmla="val 82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945636"/>
            <a:ext cx="10433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days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59536" y="4293108"/>
            <a:ext cx="10433304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new-domain flow without a template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58368" y="4871466"/>
            <a:ext cx="10835640" cy="889254"/>
          </a:xfrm>
          <a:prstGeom prst="roundRect">
            <a:avLst>
              <a:gd name="adj" fmla="val 82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59536" y="5036058"/>
            <a:ext cx="10433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days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59536" y="5383530"/>
            <a:ext cx="10433304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critique with the same rubric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20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starts the work. Design judgment makes it good.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685800" y="1965960"/>
            <a:ext cx="10789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Frame. Generate. Inspect. Verify. Ship.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658368" y="6108192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modus.trimble.com/modus-ai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64808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Trimble Modus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 to Production-Quality Vibe Coder</dc:title>
  <dc:subject>A two-day, Agent-only workshop for product designers</dc:subject>
  <dc:creator>Modus AI Design Workshop</dc:creator>
  <cp:lastModifiedBy>Modus AI Design Workshop</cp:lastModifiedBy>
  <cp:revision>1</cp:revision>
  <dcterms:created xsi:type="dcterms:W3CDTF">2026-08-15T14:02:52Z</dcterms:created>
  <dcterms:modified xsi:type="dcterms:W3CDTF">2026-08-15T14:02:52Z</dcterms:modified>
</cp:coreProperties>
</file>