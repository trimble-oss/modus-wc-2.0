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</p:sldIdLst>
  <p:notesMasterIdLst>
    <p:notesMasterId r:id="rId5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notesMaster" Target="notesMasters/notesMaster1.xml"/><Relationship Id="rId54" Type="http://schemas.openxmlformats.org/officeDocument/2006/relationships/presProps" Target="presProps.xml"/><Relationship Id="rId55" Type="http://schemas.openxmlformats.org/officeDocument/2006/relationships/viewProps" Target="viewProps.xml"/><Relationship Id="rId56" Type="http://schemas.openxmlformats.org/officeDocument/2006/relationships/theme" Target="theme/theme1.xml"/><Relationship Id="rId5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 the room. Make the boundary explicit: nobody needs to read or write code. They will speak to Agent, inspect a running interface, and use design judgment to direct the next change.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Build confidence without overpromising. AI does not replace their judgment. It makes their decisions executable and testable.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this boundary throughout. “Production quality” here means a credible, testable frontend prototype—not independently certified production software.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Ask participants to predict the next step before revealing it. This loop is the one reusable behavior across all phases.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 phase ends with an assessment and Q&amp;A. The first two are small. Phase 3 is the first large independence gate.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Start from true zero. Avoid technical vocabulary until it solves a visible design problem.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Keep participants in the Agent window and browser preview. Do not use Cmd+K, the file explorer, or code as teaching surfaces.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the two-pane layout: Agent and preview. If participants see code, tell them it is implementation detail—not their work surface.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progressive frame one. Show anonymous boxes only. Do not show code or a finished product example.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Progressive frame two. Explain that HTML describes what things are. Designers do not need to author tags.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Progressive frame three. This is the visual “animation” in PowerPoint/Google Slides. Advance between slides slowly.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audience only needs this functional mental model. Avoid syntax, tags, selectors, and file anatomy.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Give 25–30 minutes. If someone freezes, ask: “What should one person be able to do on the first screen?” Do not give them a login mock.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self-check, peer glance, facilitator gate, then Q&amp;A. Score the running design and process—not code.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Allow anonymous questions. Recurring questions become a 3-minute live micro-demo.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Apply everything to the interface each participant already created.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Connect this to Figma frames. Several frames may document states, but implementation is one product whose memory changes.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Avoid teaching framework internals. They only need to understand why Agent needs a vehicle beyond static HTML/CSS.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wording matters: we are not training React developers. We are giving Agent a consistent target.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Progressive state frame one. Use the iPad/Figma only if it makes the open/closed concept easier.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Progressive state frame two. There is no need to show useState or any code.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state checklist becomes a persistent quality tool through the rest of the workshop.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Give 25–30 minutes. Support is faded: they now fill in more of the prompt themselves.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Assessment is visual and behavioral. No one needs to identify a hook or read generated code.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retrieval: ask a participant to explain state without using technical terminology.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major independence gate. Participants install context rather than relying on a generic model.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an animated analogy: guardrails, recipes, connected tools. This is conceptual; the official one-step setup handles installation.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the live setup route. Participants paste the official setup prompt into Agent. Do not make novices hand-edit configuration files.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the live Modus Cursor Rules page. Explain the concept, not the .mdc syntax.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the live Modus Cursor Skills page. Agent chooses relevant skills; designers need not invoke every file by name.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MCP is not “more intelligence.” It is access. Keep databases and secret managers out of this workshop.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Correct terminology: Figma provides the Cursor plugin; Modus provides synchronized Figma libraries and implementation tooling. There is no verified standalone Modus Figma plugin.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awareness, not an installation race. Install only what the product team actually uses.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Give 60–75 minutes. Use the participant’s Figma work; golden Modus file is the recovery option. Follow with Q&amp;A and Day-1 reflection.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Collect a one-sentence reflection: “The most important change I made to my process was…”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Start with spaced retrieval: participants reconstruct the operating loop and brain from memory before showing the reference.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Tour the live site map. Teach where to look—not the contents of every page.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Reference the synchronized Atomic Design System, Palette, Icons, and Blueprint Figma files.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Phrase accessibility carefully: Modus is designed for accessibility, but every generated experience still needs verification.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Never accept “tests pass” from Agent without observing the UI. Agent can silently regress previous behavior.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the seeded flawed app: missing empty state, narrow-layout break, focus issue, long content overflow, or fabricated connected data.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Require at least “Ready” or “Ready with support” for functional states, accessibility, safety, and handoff.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Keep answers tied to observable evidence in Browser and references in the Modus Blueprint.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delivery literacy, not DevOps. Avoid secrets, environment variables, CI, and production infrastructure.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Cursor Source Control or Agent to perform the steps. They do not need to read a diff or use terminal Git.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teammate can view a shared Cursor Agent run only if they also have access to the repository.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Have a peer or facilitator open the links on a different account/device. Do not accept localhost.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 not average away a critical failure. Use the rubric for the workshop and the 45-day peer review.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Facilitator responds with one “keep” and one “improve,” not a code review.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Ask managers to assign a real, low-risk prototype within two weeks. Store Agent conversations, failures, and evidence—not only screenshots.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End with Q&amp;A. Re-state the boundary: Agent implements; designers direct and verify; engineering productionizes.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ASE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F9C74F"/>
          </a:solidFill>
          <a:ln w="12700">
            <a:solidFill>
              <a:srgbClr val="F9C74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235440" y="6473952"/>
            <a:ext cx="2468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7784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 layout — editable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64808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7848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64808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7848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3E6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3E63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 rot="1800000">
            <a:off x="7772400" y="-914400"/>
            <a:ext cx="5212080" cy="5212080"/>
          </a:xfrm>
          <a:prstGeom prst="arc">
            <a:avLst/>
          </a:prstGeom>
          <a:solidFill>
            <a:srgbClr val="F9C74F">
              <a:alpha val="98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731520" y="65836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9C7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731520" y="1600200"/>
            <a:ext cx="89611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 to production-quality vibe coder</a:t>
            </a:r>
            <a:endParaRPr lang="en-US" sz="4400" dirty="0"/>
          </a:p>
        </p:txBody>
      </p:sp>
      <p:sp>
        <p:nvSpPr>
          <p:cNvPr id="7" name="Text 4"/>
          <p:cNvSpPr/>
          <p:nvPr/>
        </p:nvSpPr>
        <p:spPr>
          <a:xfrm>
            <a:off x="749808" y="3310128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English + design → Agent → Modus → a live product prototype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749808" y="5440680"/>
            <a:ext cx="5486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9C7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Two-day workshop · Agent window only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64808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7848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02920" y="320040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160" kern="0" dirty="0">
                <a:solidFill>
                  <a:srgbClr val="003E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</a:t>
            </a:r>
            <a:endParaRPr lang="en-US" sz="1000" dirty="0"/>
          </a:p>
        </p:txBody>
      </p:sp>
      <p:sp>
        <p:nvSpPr>
          <p:cNvPr id="4" name="Text 1"/>
          <p:cNvSpPr/>
          <p:nvPr/>
        </p:nvSpPr>
        <p:spPr>
          <a:xfrm>
            <a:off x="502920" y="713232"/>
            <a:ext cx="10789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1B2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already have the two prerequisites.</a:t>
            </a:r>
            <a:endParaRPr lang="en-US" sz="3100" dirty="0"/>
          </a:p>
        </p:txBody>
      </p:sp>
      <p:sp>
        <p:nvSpPr>
          <p:cNvPr id="5" name="Text 2"/>
          <p:cNvSpPr/>
          <p:nvPr/>
        </p:nvSpPr>
        <p:spPr>
          <a:xfrm>
            <a:off x="685800" y="1965960"/>
            <a:ext cx="1078992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003E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English. Design judgment.</a:t>
            </a:r>
            <a:endParaRPr lang="en-US" sz="3800" dirty="0"/>
          </a:p>
        </p:txBody>
      </p:sp>
      <p:sp>
        <p:nvSpPr>
          <p:cNvPr id="6" name="Text 3"/>
          <p:cNvSpPr/>
          <p:nvPr/>
        </p:nvSpPr>
        <p:spPr>
          <a:xfrm>
            <a:off x="658368" y="6108192"/>
            <a:ext cx="10607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i="1" dirty="0">
                <a:solidFill>
                  <a:srgbClr val="5363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handles implementation. You own intent, interaction, quality, and the decision to accept or revise.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64808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7848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02920" y="320040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160" kern="0" dirty="0">
                <a:solidFill>
                  <a:srgbClr val="003E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</a:t>
            </a:r>
            <a:endParaRPr lang="en-US" sz="1000" dirty="0"/>
          </a:p>
        </p:txBody>
      </p:sp>
      <p:sp>
        <p:nvSpPr>
          <p:cNvPr id="4" name="Text 1"/>
          <p:cNvSpPr/>
          <p:nvPr/>
        </p:nvSpPr>
        <p:spPr>
          <a:xfrm>
            <a:off x="502920" y="713232"/>
            <a:ext cx="10789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1B2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circle—and the engineering boundary</a:t>
            </a:r>
            <a:endParaRPr lang="en-US" sz="3100" dirty="0"/>
          </a:p>
        </p:txBody>
      </p:sp>
      <p:sp>
        <p:nvSpPr>
          <p:cNvPr id="5" name="Shape 2"/>
          <p:cNvSpPr/>
          <p:nvPr/>
        </p:nvSpPr>
        <p:spPr>
          <a:xfrm>
            <a:off x="658368" y="1645920"/>
            <a:ext cx="5257800" cy="4251960"/>
          </a:xfrm>
          <a:prstGeom prst="roundRect">
            <a:avLst>
              <a:gd name="adj" fmla="val 1720"/>
            </a:avLst>
          </a:prstGeom>
          <a:solidFill>
            <a:srgbClr val="D9EBF7"/>
          </a:solidFill>
          <a:ln w="12700">
            <a:solidFill>
              <a:srgbClr val="D9EBF7">
                <a:alpha val="0"/>
              </a:srgbClr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6126480" y="1645920"/>
            <a:ext cx="5257800" cy="4251960"/>
          </a:xfrm>
          <a:prstGeom prst="roundRect">
            <a:avLst>
              <a:gd name="adj" fmla="val 1720"/>
            </a:avLst>
          </a:prstGeom>
          <a:solidFill>
            <a:srgbClr val="E8ECEF"/>
          </a:solidFill>
          <a:ln w="12700">
            <a:solidFill>
              <a:srgbClr val="E8ECEF">
                <a:alpha val="0"/>
              </a:srgbClr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914400" y="1901952"/>
            <a:ext cx="4709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2D7A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Designers own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6382512" y="1901952"/>
            <a:ext cx="4709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5363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 owns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932688" y="248716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D7A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1316736" y="2468880"/>
            <a:ext cx="4251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1B2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goal and flow</a:t>
            </a:r>
            <a:endParaRPr lang="en-US" sz="1550" dirty="0"/>
          </a:p>
        </p:txBody>
      </p:sp>
      <p:sp>
        <p:nvSpPr>
          <p:cNvPr id="11" name="Text 8"/>
          <p:cNvSpPr/>
          <p:nvPr/>
        </p:nvSpPr>
        <p:spPr>
          <a:xfrm>
            <a:off x="932688" y="300837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D7A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1316736" y="2990088"/>
            <a:ext cx="4251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1B2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States and behavior</a:t>
            </a:r>
            <a:endParaRPr lang="en-US" sz="1550" dirty="0"/>
          </a:p>
        </p:txBody>
      </p:sp>
      <p:sp>
        <p:nvSpPr>
          <p:cNvPr id="13" name="Text 10"/>
          <p:cNvSpPr/>
          <p:nvPr/>
        </p:nvSpPr>
        <p:spPr>
          <a:xfrm>
            <a:off x="932688" y="352958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D7A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1316736" y="3511296"/>
            <a:ext cx="4251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1B2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Modus fidelity</a:t>
            </a:r>
            <a:endParaRPr lang="en-US" sz="1550" dirty="0"/>
          </a:p>
        </p:txBody>
      </p:sp>
      <p:sp>
        <p:nvSpPr>
          <p:cNvPr id="15" name="Text 12"/>
          <p:cNvSpPr/>
          <p:nvPr/>
        </p:nvSpPr>
        <p:spPr>
          <a:xfrm>
            <a:off x="932688" y="405079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D7A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1316736" y="4032504"/>
            <a:ext cx="4251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1B2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Prompts and context</a:t>
            </a:r>
            <a:endParaRPr lang="en-US" sz="1550" dirty="0"/>
          </a:p>
        </p:txBody>
      </p:sp>
      <p:sp>
        <p:nvSpPr>
          <p:cNvPr id="17" name="Text 14"/>
          <p:cNvSpPr/>
          <p:nvPr/>
        </p:nvSpPr>
        <p:spPr>
          <a:xfrm>
            <a:off x="932688" y="45720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D7A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1316736" y="4553712"/>
            <a:ext cx="4251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1B2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Visual verification</a:t>
            </a:r>
            <a:endParaRPr lang="en-US" sz="1550" dirty="0"/>
          </a:p>
        </p:txBody>
      </p:sp>
      <p:sp>
        <p:nvSpPr>
          <p:cNvPr id="19" name="Text 16"/>
          <p:cNvSpPr/>
          <p:nvPr/>
        </p:nvSpPr>
        <p:spPr>
          <a:xfrm>
            <a:off x="932688" y="50932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D7A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1316736" y="5074920"/>
            <a:ext cx="4251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1B2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Prototype and handoff</a:t>
            </a:r>
            <a:endParaRPr lang="en-US" sz="1550" dirty="0"/>
          </a:p>
        </p:txBody>
      </p:sp>
      <p:sp>
        <p:nvSpPr>
          <p:cNvPr id="21" name="Text 18"/>
          <p:cNvSpPr/>
          <p:nvPr/>
        </p:nvSpPr>
        <p:spPr>
          <a:xfrm>
            <a:off x="6400800" y="248716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363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6784848" y="2468880"/>
            <a:ext cx="4251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1B2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Production data</a:t>
            </a:r>
            <a:endParaRPr lang="en-US" sz="1550" dirty="0"/>
          </a:p>
        </p:txBody>
      </p:sp>
      <p:sp>
        <p:nvSpPr>
          <p:cNvPr id="23" name="Text 20"/>
          <p:cNvSpPr/>
          <p:nvPr/>
        </p:nvSpPr>
        <p:spPr>
          <a:xfrm>
            <a:off x="6400800" y="300837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363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1300" dirty="0"/>
          </a:p>
        </p:txBody>
      </p:sp>
      <p:sp>
        <p:nvSpPr>
          <p:cNvPr id="24" name="Text 21"/>
          <p:cNvSpPr/>
          <p:nvPr/>
        </p:nvSpPr>
        <p:spPr>
          <a:xfrm>
            <a:off x="6784848" y="2990088"/>
            <a:ext cx="4251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1B2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Authentication</a:t>
            </a:r>
            <a:endParaRPr lang="en-US" sz="1550" dirty="0"/>
          </a:p>
        </p:txBody>
      </p:sp>
      <p:sp>
        <p:nvSpPr>
          <p:cNvPr id="25" name="Text 22"/>
          <p:cNvSpPr/>
          <p:nvPr/>
        </p:nvSpPr>
        <p:spPr>
          <a:xfrm>
            <a:off x="6400800" y="352958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363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1300" dirty="0"/>
          </a:p>
        </p:txBody>
      </p:sp>
      <p:sp>
        <p:nvSpPr>
          <p:cNvPr id="26" name="Text 23"/>
          <p:cNvSpPr/>
          <p:nvPr/>
        </p:nvSpPr>
        <p:spPr>
          <a:xfrm>
            <a:off x="6784848" y="3511296"/>
            <a:ext cx="4251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1B2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 and privacy</a:t>
            </a:r>
            <a:endParaRPr lang="en-US" sz="1550" dirty="0"/>
          </a:p>
        </p:txBody>
      </p:sp>
      <p:sp>
        <p:nvSpPr>
          <p:cNvPr id="27" name="Text 24"/>
          <p:cNvSpPr/>
          <p:nvPr/>
        </p:nvSpPr>
        <p:spPr>
          <a:xfrm>
            <a:off x="6400800" y="405079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363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1300" dirty="0"/>
          </a:p>
        </p:txBody>
      </p:sp>
      <p:sp>
        <p:nvSpPr>
          <p:cNvPr id="28" name="Text 25"/>
          <p:cNvSpPr/>
          <p:nvPr/>
        </p:nvSpPr>
        <p:spPr>
          <a:xfrm>
            <a:off x="6784848" y="4032504"/>
            <a:ext cx="4251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1B2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Performance</a:t>
            </a:r>
            <a:endParaRPr lang="en-US" sz="1550" dirty="0"/>
          </a:p>
        </p:txBody>
      </p:sp>
      <p:sp>
        <p:nvSpPr>
          <p:cNvPr id="29" name="Text 26"/>
          <p:cNvSpPr/>
          <p:nvPr/>
        </p:nvSpPr>
        <p:spPr>
          <a:xfrm>
            <a:off x="6400800" y="45720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363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1300" dirty="0"/>
          </a:p>
        </p:txBody>
      </p:sp>
      <p:sp>
        <p:nvSpPr>
          <p:cNvPr id="30" name="Text 27"/>
          <p:cNvSpPr/>
          <p:nvPr/>
        </p:nvSpPr>
        <p:spPr>
          <a:xfrm>
            <a:off x="6784848" y="4553712"/>
            <a:ext cx="4251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1B2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</a:t>
            </a:r>
            <a:endParaRPr lang="en-US" sz="1550" dirty="0"/>
          </a:p>
        </p:txBody>
      </p:sp>
      <p:sp>
        <p:nvSpPr>
          <p:cNvPr id="31" name="Text 28"/>
          <p:cNvSpPr/>
          <p:nvPr/>
        </p:nvSpPr>
        <p:spPr>
          <a:xfrm>
            <a:off x="6400800" y="50932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363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1300" dirty="0"/>
          </a:p>
        </p:txBody>
      </p:sp>
      <p:sp>
        <p:nvSpPr>
          <p:cNvPr id="32" name="Text 29"/>
          <p:cNvSpPr/>
          <p:nvPr/>
        </p:nvSpPr>
        <p:spPr>
          <a:xfrm>
            <a:off x="6784848" y="5074920"/>
            <a:ext cx="4251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1B2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Final production review</a:t>
            </a:r>
            <a:endParaRPr lang="en-US" sz="15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64808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7848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02920" y="320040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160" kern="0" dirty="0">
                <a:solidFill>
                  <a:srgbClr val="003E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</a:t>
            </a:r>
            <a:endParaRPr lang="en-US" sz="1000" dirty="0"/>
          </a:p>
        </p:txBody>
      </p:sp>
      <p:sp>
        <p:nvSpPr>
          <p:cNvPr id="4" name="Text 1"/>
          <p:cNvSpPr/>
          <p:nvPr/>
        </p:nvSpPr>
        <p:spPr>
          <a:xfrm>
            <a:off x="502920" y="713232"/>
            <a:ext cx="10789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1B2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operating loop</a:t>
            </a:r>
            <a:endParaRPr lang="en-US" sz="3100" dirty="0"/>
          </a:p>
        </p:txBody>
      </p:sp>
      <p:sp>
        <p:nvSpPr>
          <p:cNvPr id="5" name="Shape 2"/>
          <p:cNvSpPr/>
          <p:nvPr/>
        </p:nvSpPr>
        <p:spPr>
          <a:xfrm>
            <a:off x="658368" y="2148840"/>
            <a:ext cx="1106424" cy="960120"/>
          </a:xfrm>
          <a:prstGeom prst="roundRect">
            <a:avLst>
              <a:gd name="adj" fmla="val 7619"/>
            </a:avLst>
          </a:prstGeom>
          <a:solidFill>
            <a:srgbClr val="DDEFE6"/>
          </a:solidFill>
          <a:ln w="12700">
            <a:solidFill>
              <a:srgbClr val="DDEFE6">
                <a:alpha val="0"/>
              </a:srgbClr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68096" y="2276856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3E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768096" y="2542032"/>
            <a:ext cx="8869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85" b="1" dirty="0">
                <a:solidFill>
                  <a:srgbClr val="1B2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Frame</a:t>
            </a:r>
            <a:endParaRPr lang="en-US" sz="1285" dirty="0"/>
          </a:p>
        </p:txBody>
      </p:sp>
      <p:sp>
        <p:nvSpPr>
          <p:cNvPr id="8" name="Shape 5"/>
          <p:cNvSpPr/>
          <p:nvPr/>
        </p:nvSpPr>
        <p:spPr>
          <a:xfrm>
            <a:off x="1874520" y="2148840"/>
            <a:ext cx="1106424" cy="960120"/>
          </a:xfrm>
          <a:prstGeom prst="roundRect">
            <a:avLst>
              <a:gd name="adj" fmla="val 7619"/>
            </a:avLst>
          </a:prstGeom>
          <a:solidFill>
            <a:srgbClr val="D9EBF7"/>
          </a:solidFill>
          <a:ln w="12700">
            <a:solidFill>
              <a:srgbClr val="D9EBF7">
                <a:alpha val="0"/>
              </a:srgbClr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984248" y="2276856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3E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1984248" y="2542032"/>
            <a:ext cx="8869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85" b="1" dirty="0">
                <a:solidFill>
                  <a:srgbClr val="1B2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Constrain</a:t>
            </a:r>
            <a:endParaRPr lang="en-US" sz="1285" dirty="0"/>
          </a:p>
        </p:txBody>
      </p:sp>
      <p:sp>
        <p:nvSpPr>
          <p:cNvPr id="11" name="Shape 8"/>
          <p:cNvSpPr/>
          <p:nvPr/>
        </p:nvSpPr>
        <p:spPr>
          <a:xfrm>
            <a:off x="3090672" y="2148840"/>
            <a:ext cx="1106424" cy="960120"/>
          </a:xfrm>
          <a:prstGeom prst="roundRect">
            <a:avLst>
              <a:gd name="adj" fmla="val 7619"/>
            </a:avLst>
          </a:prstGeom>
          <a:solidFill>
            <a:srgbClr val="DDEFE6"/>
          </a:solidFill>
          <a:ln w="12700">
            <a:solidFill>
              <a:srgbClr val="DDEFE6">
                <a:alpha val="0"/>
              </a:srgbClr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3200400" y="2276856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3E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3200400" y="2542032"/>
            <a:ext cx="8869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85" b="1" dirty="0">
                <a:solidFill>
                  <a:srgbClr val="1B2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Generate</a:t>
            </a:r>
            <a:endParaRPr lang="en-US" sz="1285" dirty="0"/>
          </a:p>
        </p:txBody>
      </p:sp>
      <p:sp>
        <p:nvSpPr>
          <p:cNvPr id="14" name="Shape 11"/>
          <p:cNvSpPr/>
          <p:nvPr/>
        </p:nvSpPr>
        <p:spPr>
          <a:xfrm>
            <a:off x="4306824" y="2148840"/>
            <a:ext cx="1106424" cy="960120"/>
          </a:xfrm>
          <a:prstGeom prst="roundRect">
            <a:avLst>
              <a:gd name="adj" fmla="val 7619"/>
            </a:avLst>
          </a:prstGeom>
          <a:solidFill>
            <a:srgbClr val="D9EBF7"/>
          </a:solidFill>
          <a:ln w="12700">
            <a:solidFill>
              <a:srgbClr val="D9EBF7">
                <a:alpha val="0"/>
              </a:srgbClr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416552" y="2276856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3E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4416552" y="2542032"/>
            <a:ext cx="8869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85" b="1" dirty="0">
                <a:solidFill>
                  <a:srgbClr val="1B2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Inspect</a:t>
            </a:r>
            <a:endParaRPr lang="en-US" sz="1285" dirty="0"/>
          </a:p>
        </p:txBody>
      </p:sp>
      <p:sp>
        <p:nvSpPr>
          <p:cNvPr id="17" name="Shape 14"/>
          <p:cNvSpPr/>
          <p:nvPr/>
        </p:nvSpPr>
        <p:spPr>
          <a:xfrm>
            <a:off x="5522976" y="2148840"/>
            <a:ext cx="1106424" cy="960120"/>
          </a:xfrm>
          <a:prstGeom prst="roundRect">
            <a:avLst>
              <a:gd name="adj" fmla="val 7619"/>
            </a:avLst>
          </a:prstGeom>
          <a:solidFill>
            <a:srgbClr val="DDEFE6"/>
          </a:solidFill>
          <a:ln w="12700">
            <a:solidFill>
              <a:srgbClr val="DDEFE6">
                <a:alpha val="0"/>
              </a:srgbClr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632704" y="2276856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3E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5632704" y="2542032"/>
            <a:ext cx="8869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85" b="1" dirty="0">
                <a:solidFill>
                  <a:srgbClr val="1B2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</a:t>
            </a:r>
            <a:endParaRPr lang="en-US" sz="1285" dirty="0"/>
          </a:p>
        </p:txBody>
      </p:sp>
      <p:sp>
        <p:nvSpPr>
          <p:cNvPr id="20" name="Shape 17"/>
          <p:cNvSpPr/>
          <p:nvPr/>
        </p:nvSpPr>
        <p:spPr>
          <a:xfrm>
            <a:off x="6739128" y="2148840"/>
            <a:ext cx="1106424" cy="960120"/>
          </a:xfrm>
          <a:prstGeom prst="roundRect">
            <a:avLst>
              <a:gd name="adj" fmla="val 7619"/>
            </a:avLst>
          </a:prstGeom>
          <a:solidFill>
            <a:srgbClr val="D9EBF7"/>
          </a:solidFill>
          <a:ln w="12700">
            <a:solidFill>
              <a:srgbClr val="D9EBF7">
                <a:alpha val="0"/>
              </a:srgbClr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6848856" y="2276856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3E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6848856" y="2542032"/>
            <a:ext cx="8869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85" b="1" dirty="0">
                <a:solidFill>
                  <a:srgbClr val="1B2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Diagnose</a:t>
            </a:r>
            <a:endParaRPr lang="en-US" sz="1285" dirty="0"/>
          </a:p>
        </p:txBody>
      </p:sp>
      <p:sp>
        <p:nvSpPr>
          <p:cNvPr id="23" name="Shape 20"/>
          <p:cNvSpPr/>
          <p:nvPr/>
        </p:nvSpPr>
        <p:spPr>
          <a:xfrm>
            <a:off x="7955280" y="2148840"/>
            <a:ext cx="1106424" cy="960120"/>
          </a:xfrm>
          <a:prstGeom prst="roundRect">
            <a:avLst>
              <a:gd name="adj" fmla="val 7619"/>
            </a:avLst>
          </a:prstGeom>
          <a:solidFill>
            <a:srgbClr val="DDEFE6"/>
          </a:solidFill>
          <a:ln w="12700">
            <a:solidFill>
              <a:srgbClr val="DDEFE6">
                <a:alpha val="0"/>
              </a:srgbClr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8065008" y="2276856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3E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000" dirty="0"/>
          </a:p>
        </p:txBody>
      </p:sp>
      <p:sp>
        <p:nvSpPr>
          <p:cNvPr id="25" name="Text 22"/>
          <p:cNvSpPr/>
          <p:nvPr/>
        </p:nvSpPr>
        <p:spPr>
          <a:xfrm>
            <a:off x="8065008" y="2542032"/>
            <a:ext cx="8869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85" b="1" dirty="0">
                <a:solidFill>
                  <a:srgbClr val="1B2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Revise</a:t>
            </a:r>
            <a:endParaRPr lang="en-US" sz="1285" dirty="0"/>
          </a:p>
        </p:txBody>
      </p:sp>
      <p:sp>
        <p:nvSpPr>
          <p:cNvPr id="26" name="Shape 23"/>
          <p:cNvSpPr/>
          <p:nvPr/>
        </p:nvSpPr>
        <p:spPr>
          <a:xfrm>
            <a:off x="9171432" y="2148840"/>
            <a:ext cx="1106424" cy="960120"/>
          </a:xfrm>
          <a:prstGeom prst="roundRect">
            <a:avLst>
              <a:gd name="adj" fmla="val 7619"/>
            </a:avLst>
          </a:prstGeom>
          <a:solidFill>
            <a:srgbClr val="D9EBF7"/>
          </a:solidFill>
          <a:ln w="12700">
            <a:solidFill>
              <a:srgbClr val="D9EBF7">
                <a:alpha val="0"/>
              </a:srgbClr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9281160" y="2276856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3E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000" dirty="0"/>
          </a:p>
        </p:txBody>
      </p:sp>
      <p:sp>
        <p:nvSpPr>
          <p:cNvPr id="28" name="Text 25"/>
          <p:cNvSpPr/>
          <p:nvPr/>
        </p:nvSpPr>
        <p:spPr>
          <a:xfrm>
            <a:off x="9281160" y="2542032"/>
            <a:ext cx="8869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85" b="1" dirty="0">
                <a:solidFill>
                  <a:srgbClr val="1B2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Re-test</a:t>
            </a:r>
            <a:endParaRPr lang="en-US" sz="1285" dirty="0"/>
          </a:p>
        </p:txBody>
      </p:sp>
      <p:sp>
        <p:nvSpPr>
          <p:cNvPr id="29" name="Shape 26"/>
          <p:cNvSpPr/>
          <p:nvPr/>
        </p:nvSpPr>
        <p:spPr>
          <a:xfrm>
            <a:off x="10387584" y="2148840"/>
            <a:ext cx="1106424" cy="960120"/>
          </a:xfrm>
          <a:prstGeom prst="roundRect">
            <a:avLst>
              <a:gd name="adj" fmla="val 7619"/>
            </a:avLst>
          </a:prstGeom>
          <a:solidFill>
            <a:srgbClr val="DDEFE6"/>
          </a:solidFill>
          <a:ln w="12700">
            <a:solidFill>
              <a:srgbClr val="DDEFE6">
                <a:alpha val="0"/>
              </a:srgbClr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10497312" y="2276856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3E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000" dirty="0"/>
          </a:p>
        </p:txBody>
      </p:sp>
      <p:sp>
        <p:nvSpPr>
          <p:cNvPr id="31" name="Text 28"/>
          <p:cNvSpPr/>
          <p:nvPr/>
        </p:nvSpPr>
        <p:spPr>
          <a:xfrm>
            <a:off x="10497312" y="2542032"/>
            <a:ext cx="8869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85" b="1" dirty="0">
                <a:solidFill>
                  <a:srgbClr val="1B2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</a:t>
            </a:r>
            <a:endParaRPr lang="en-US" sz="1285" dirty="0"/>
          </a:p>
        </p:txBody>
      </p:sp>
      <p:sp>
        <p:nvSpPr>
          <p:cNvPr id="32" name="Text 29"/>
          <p:cNvSpPr/>
          <p:nvPr/>
        </p:nvSpPr>
        <p:spPr>
          <a:xfrm>
            <a:off x="658368" y="6108192"/>
            <a:ext cx="10607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i="1" dirty="0">
                <a:solidFill>
                  <a:srgbClr val="5363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 cleverness is not the skill. Specification, observation, and verification are.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64808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7848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02920" y="320040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160" kern="0" dirty="0">
                <a:solidFill>
                  <a:srgbClr val="003E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</a:t>
            </a:r>
            <a:endParaRPr lang="en-US" sz="1000" dirty="0"/>
          </a:p>
        </p:txBody>
      </p:sp>
      <p:sp>
        <p:nvSpPr>
          <p:cNvPr id="4" name="Text 1"/>
          <p:cNvSpPr/>
          <p:nvPr/>
        </p:nvSpPr>
        <p:spPr>
          <a:xfrm>
            <a:off x="502920" y="713232"/>
            <a:ext cx="10789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1B2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days, five phases</a:t>
            </a:r>
            <a:endParaRPr lang="en-US" sz="3100" dirty="0"/>
          </a:p>
        </p:txBody>
      </p:sp>
      <p:sp>
        <p:nvSpPr>
          <p:cNvPr id="5" name="Shape 2"/>
          <p:cNvSpPr/>
          <p:nvPr/>
        </p:nvSpPr>
        <p:spPr>
          <a:xfrm>
            <a:off x="658368" y="1600200"/>
            <a:ext cx="10835640" cy="671170"/>
          </a:xfrm>
          <a:prstGeom prst="roundRect">
            <a:avLst>
              <a:gd name="adj" fmla="val 10899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59536" y="1764792"/>
            <a:ext cx="104333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B2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1 · Phase 1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859536" y="2112264"/>
            <a:ext cx="10433304" cy="128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5363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+ HTML/CSS basics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658368" y="2472538"/>
            <a:ext cx="10835640" cy="671170"/>
          </a:xfrm>
          <a:prstGeom prst="roundRect">
            <a:avLst>
              <a:gd name="adj" fmla="val 10899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59536" y="2637130"/>
            <a:ext cx="104333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B2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1 · Phase 2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859536" y="2984602"/>
            <a:ext cx="10433304" cy="128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5363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Frameworks + light state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658368" y="3344875"/>
            <a:ext cx="10835640" cy="671170"/>
          </a:xfrm>
          <a:prstGeom prst="roundRect">
            <a:avLst>
              <a:gd name="adj" fmla="val 10899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59536" y="3509467"/>
            <a:ext cx="104333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B2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1 · Phase 3</a:t>
            </a:r>
            <a:endParaRPr lang="en-US" sz="1700" dirty="0"/>
          </a:p>
        </p:txBody>
      </p:sp>
      <p:sp>
        <p:nvSpPr>
          <p:cNvPr id="13" name="Text 10"/>
          <p:cNvSpPr/>
          <p:nvPr/>
        </p:nvSpPr>
        <p:spPr>
          <a:xfrm>
            <a:off x="859536" y="3856939"/>
            <a:ext cx="10433304" cy="128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5363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Cursor and Modus brain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658368" y="4217213"/>
            <a:ext cx="10835640" cy="671170"/>
          </a:xfrm>
          <a:prstGeom prst="roundRect">
            <a:avLst>
              <a:gd name="adj" fmla="val 10899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59536" y="4381805"/>
            <a:ext cx="104333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B2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2 · Phase 4</a:t>
            </a:r>
            <a:endParaRPr lang="en-US" sz="1700" dirty="0"/>
          </a:p>
        </p:txBody>
      </p:sp>
      <p:sp>
        <p:nvSpPr>
          <p:cNvPr id="16" name="Text 13"/>
          <p:cNvSpPr/>
          <p:nvPr/>
        </p:nvSpPr>
        <p:spPr>
          <a:xfrm>
            <a:off x="859536" y="4729277"/>
            <a:ext cx="10433304" cy="128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5363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Production-quality Modus</a:t>
            </a:r>
            <a:endParaRPr lang="en-US" sz="1250" dirty="0"/>
          </a:p>
        </p:txBody>
      </p:sp>
      <p:sp>
        <p:nvSpPr>
          <p:cNvPr id="17" name="Shape 14"/>
          <p:cNvSpPr/>
          <p:nvPr/>
        </p:nvSpPr>
        <p:spPr>
          <a:xfrm>
            <a:off x="658368" y="5089550"/>
            <a:ext cx="10835640" cy="671170"/>
          </a:xfrm>
          <a:prstGeom prst="roundRect">
            <a:avLst>
              <a:gd name="adj" fmla="val 10899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59536" y="5254142"/>
            <a:ext cx="104333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B2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2 · Phase 5</a:t>
            </a:r>
            <a:endParaRPr lang="en-US" sz="1700" dirty="0"/>
          </a:p>
        </p:txBody>
      </p:sp>
      <p:sp>
        <p:nvSpPr>
          <p:cNvPr id="19" name="Text 16"/>
          <p:cNvSpPr/>
          <p:nvPr/>
        </p:nvSpPr>
        <p:spPr>
          <a:xfrm>
            <a:off x="859536" y="5601614"/>
            <a:ext cx="10433304" cy="128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5363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GitHub, access, and delivery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64808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7848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63A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63A3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 rot="1800000">
            <a:off x="7772400" y="-914400"/>
            <a:ext cx="5212080" cy="5212080"/>
          </a:xfrm>
          <a:prstGeom prst="arc">
            <a:avLst/>
          </a:prstGeom>
          <a:solidFill>
            <a:srgbClr val="F9C74F">
              <a:alpha val="98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731520" y="65836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9C7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1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731520" y="1828800"/>
            <a:ext cx="8961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1</a:t>
            </a:r>
            <a:endParaRPr lang="en-US" sz="4200" dirty="0"/>
          </a:p>
        </p:txBody>
      </p:sp>
      <p:sp>
        <p:nvSpPr>
          <p:cNvPr id="7" name="Text 4"/>
          <p:cNvSpPr/>
          <p:nvPr/>
        </p:nvSpPr>
        <p:spPr>
          <a:xfrm>
            <a:off x="749808" y="3090672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AI, HTML, and CSS—without becoming a coder</a:t>
            </a:r>
            <a:endParaRPr lang="en-US" sz="2400" dirty="0"/>
          </a:p>
        </p:txBody>
      </p:sp>
      <p:sp>
        <p:nvSpPr>
          <p:cNvPr id="8" name="Text 5"/>
          <p:cNvSpPr/>
          <p:nvPr/>
        </p:nvSpPr>
        <p:spPr>
          <a:xfrm>
            <a:off x="749808" y="5440680"/>
            <a:ext cx="5486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9C7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1 · Morning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64808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7848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02920" y="320040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160" kern="0" dirty="0">
                <a:solidFill>
                  <a:srgbClr val="0063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1</a:t>
            </a:r>
            <a:endParaRPr lang="en-US" sz="1000" dirty="0"/>
          </a:p>
        </p:txBody>
      </p:sp>
      <p:sp>
        <p:nvSpPr>
          <p:cNvPr id="4" name="Text 1"/>
          <p:cNvSpPr/>
          <p:nvPr/>
        </p:nvSpPr>
        <p:spPr>
          <a:xfrm>
            <a:off x="502920" y="713232"/>
            <a:ext cx="10789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1B2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is a design collaborator that can build.</a:t>
            </a:r>
            <a:endParaRPr lang="en-US" sz="3100" dirty="0"/>
          </a:p>
        </p:txBody>
      </p:sp>
      <p:sp>
        <p:nvSpPr>
          <p:cNvPr id="5" name="Text 2"/>
          <p:cNvSpPr/>
          <p:nvPr/>
        </p:nvSpPr>
        <p:spPr>
          <a:xfrm>
            <a:off x="685800" y="1965960"/>
            <a:ext cx="1078992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0063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describe an outcome. Agent creates and runs it.</a:t>
            </a:r>
            <a:endParaRPr lang="en-US" sz="3800" dirty="0"/>
          </a:p>
        </p:txBody>
      </p:sp>
      <p:sp>
        <p:nvSpPr>
          <p:cNvPr id="6" name="Text 3"/>
          <p:cNvSpPr/>
          <p:nvPr/>
        </p:nvSpPr>
        <p:spPr>
          <a:xfrm>
            <a:off x="658368" y="6108192"/>
            <a:ext cx="10607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i="1" dirty="0">
                <a:solidFill>
                  <a:srgbClr val="5363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job is to look, judge, and ask for the next bounded change.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64808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7848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02920" y="320040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160" kern="0" dirty="0">
                <a:solidFill>
                  <a:srgbClr val="0063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1</a:t>
            </a:r>
            <a:endParaRPr lang="en-US" sz="1000" dirty="0"/>
          </a:p>
        </p:txBody>
      </p:sp>
      <p:sp>
        <p:nvSpPr>
          <p:cNvPr id="4" name="Text 1"/>
          <p:cNvSpPr/>
          <p:nvPr/>
        </p:nvSpPr>
        <p:spPr>
          <a:xfrm>
            <a:off x="502920" y="713232"/>
            <a:ext cx="10789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1B2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workspace: Agent + Preview</a:t>
            </a:r>
            <a:endParaRPr lang="en-US" sz="3100" dirty="0"/>
          </a:p>
        </p:txBody>
      </p:sp>
      <p:sp>
        <p:nvSpPr>
          <p:cNvPr id="5" name="Shape 2"/>
          <p:cNvSpPr/>
          <p:nvPr/>
        </p:nvSpPr>
        <p:spPr>
          <a:xfrm>
            <a:off x="658368" y="1645920"/>
            <a:ext cx="5257800" cy="4251960"/>
          </a:xfrm>
          <a:prstGeom prst="roundRect">
            <a:avLst>
              <a:gd name="adj" fmla="val 1720"/>
            </a:avLst>
          </a:prstGeom>
          <a:solidFill>
            <a:srgbClr val="D9EBF7"/>
          </a:solidFill>
          <a:ln w="12700">
            <a:solidFill>
              <a:srgbClr val="D9EBF7">
                <a:alpha val="0"/>
              </a:srgbClr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6126480" y="1645920"/>
            <a:ext cx="5257800" cy="4251960"/>
          </a:xfrm>
          <a:prstGeom prst="roundRect">
            <a:avLst>
              <a:gd name="adj" fmla="val 1720"/>
            </a:avLst>
          </a:prstGeom>
          <a:solidFill>
            <a:srgbClr val="E8ECEF"/>
          </a:solidFill>
          <a:ln w="12700">
            <a:solidFill>
              <a:srgbClr val="E8ECEF">
                <a:alpha val="0"/>
              </a:srgbClr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914400" y="1901952"/>
            <a:ext cx="4709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2D7A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6382512" y="1901952"/>
            <a:ext cx="4709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5363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Ignore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932688" y="248716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D7A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1316736" y="2468880"/>
            <a:ext cx="4251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1B2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window</a:t>
            </a:r>
            <a:endParaRPr lang="en-US" sz="1550" dirty="0"/>
          </a:p>
        </p:txBody>
      </p:sp>
      <p:sp>
        <p:nvSpPr>
          <p:cNvPr id="11" name="Text 8"/>
          <p:cNvSpPr/>
          <p:nvPr/>
        </p:nvSpPr>
        <p:spPr>
          <a:xfrm>
            <a:off x="932688" y="300837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D7A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1316736" y="2990088"/>
            <a:ext cx="4251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1B2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English prompts</a:t>
            </a:r>
            <a:endParaRPr lang="en-US" sz="1550" dirty="0"/>
          </a:p>
        </p:txBody>
      </p:sp>
      <p:sp>
        <p:nvSpPr>
          <p:cNvPr id="13" name="Text 10"/>
          <p:cNvSpPr/>
          <p:nvPr/>
        </p:nvSpPr>
        <p:spPr>
          <a:xfrm>
            <a:off x="932688" y="352958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D7A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1316736" y="3511296"/>
            <a:ext cx="4251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1B2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Browser preview</a:t>
            </a:r>
            <a:endParaRPr lang="en-US" sz="1550" dirty="0"/>
          </a:p>
        </p:txBody>
      </p:sp>
      <p:sp>
        <p:nvSpPr>
          <p:cNvPr id="15" name="Text 12"/>
          <p:cNvSpPr/>
          <p:nvPr/>
        </p:nvSpPr>
        <p:spPr>
          <a:xfrm>
            <a:off x="932688" y="405079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D7A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1316736" y="4032504"/>
            <a:ext cx="4251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1B2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Screenshots and Figma links</a:t>
            </a:r>
            <a:endParaRPr lang="en-US" sz="1550" dirty="0"/>
          </a:p>
        </p:txBody>
      </p:sp>
      <p:sp>
        <p:nvSpPr>
          <p:cNvPr id="17" name="Text 14"/>
          <p:cNvSpPr/>
          <p:nvPr/>
        </p:nvSpPr>
        <p:spPr>
          <a:xfrm>
            <a:off x="932688" y="45720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D7A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1316736" y="4553712"/>
            <a:ext cx="4251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1B2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Checkpoints to undo</a:t>
            </a:r>
            <a:endParaRPr lang="en-US" sz="1550" dirty="0"/>
          </a:p>
        </p:txBody>
      </p:sp>
      <p:sp>
        <p:nvSpPr>
          <p:cNvPr id="19" name="Text 16"/>
          <p:cNvSpPr/>
          <p:nvPr/>
        </p:nvSpPr>
        <p:spPr>
          <a:xfrm>
            <a:off x="6400800" y="248716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363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6784848" y="2468880"/>
            <a:ext cx="4251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1B2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Cmd+K</a:t>
            </a:r>
            <a:endParaRPr lang="en-US" sz="1550" dirty="0"/>
          </a:p>
        </p:txBody>
      </p:sp>
      <p:sp>
        <p:nvSpPr>
          <p:cNvPr id="21" name="Text 18"/>
          <p:cNvSpPr/>
          <p:nvPr/>
        </p:nvSpPr>
        <p:spPr>
          <a:xfrm>
            <a:off x="6400800" y="300837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363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6784848" y="2990088"/>
            <a:ext cx="4251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1B2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Reading .tsx files</a:t>
            </a:r>
            <a:endParaRPr lang="en-US" sz="1550" dirty="0"/>
          </a:p>
        </p:txBody>
      </p:sp>
      <p:sp>
        <p:nvSpPr>
          <p:cNvPr id="23" name="Text 20"/>
          <p:cNvSpPr/>
          <p:nvPr/>
        </p:nvSpPr>
        <p:spPr>
          <a:xfrm>
            <a:off x="6400800" y="352958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363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1300" dirty="0"/>
          </a:p>
        </p:txBody>
      </p:sp>
      <p:sp>
        <p:nvSpPr>
          <p:cNvPr id="24" name="Text 21"/>
          <p:cNvSpPr/>
          <p:nvPr/>
        </p:nvSpPr>
        <p:spPr>
          <a:xfrm>
            <a:off x="6784848" y="3511296"/>
            <a:ext cx="4251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1B2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Writing CSS</a:t>
            </a:r>
            <a:endParaRPr lang="en-US" sz="1550" dirty="0"/>
          </a:p>
        </p:txBody>
      </p:sp>
      <p:sp>
        <p:nvSpPr>
          <p:cNvPr id="25" name="Text 22"/>
          <p:cNvSpPr/>
          <p:nvPr/>
        </p:nvSpPr>
        <p:spPr>
          <a:xfrm>
            <a:off x="6400800" y="405079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363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1300" dirty="0"/>
          </a:p>
        </p:txBody>
      </p:sp>
      <p:sp>
        <p:nvSpPr>
          <p:cNvPr id="26" name="Text 23"/>
          <p:cNvSpPr/>
          <p:nvPr/>
        </p:nvSpPr>
        <p:spPr>
          <a:xfrm>
            <a:off x="6784848" y="4032504"/>
            <a:ext cx="4251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1B2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Terminal commands</a:t>
            </a:r>
            <a:endParaRPr lang="en-US" sz="1550" dirty="0"/>
          </a:p>
        </p:txBody>
      </p:sp>
      <p:sp>
        <p:nvSpPr>
          <p:cNvPr id="27" name="Text 24"/>
          <p:cNvSpPr/>
          <p:nvPr/>
        </p:nvSpPr>
        <p:spPr>
          <a:xfrm>
            <a:off x="6400800" y="45720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363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1300" dirty="0"/>
          </a:p>
        </p:txBody>
      </p:sp>
      <p:sp>
        <p:nvSpPr>
          <p:cNvPr id="28" name="Text 25"/>
          <p:cNvSpPr/>
          <p:nvPr/>
        </p:nvSpPr>
        <p:spPr>
          <a:xfrm>
            <a:off x="6784848" y="4553712"/>
            <a:ext cx="4251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1B2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 review</a:t>
            </a:r>
            <a:endParaRPr lang="en-US" sz="15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64808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7848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02920" y="320040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160" kern="0" dirty="0">
                <a:solidFill>
                  <a:srgbClr val="0063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1</a:t>
            </a:r>
            <a:endParaRPr lang="en-US" sz="1000" dirty="0"/>
          </a:p>
        </p:txBody>
      </p:sp>
      <p:sp>
        <p:nvSpPr>
          <p:cNvPr id="4" name="Text 1"/>
          <p:cNvSpPr/>
          <p:nvPr/>
        </p:nvSpPr>
        <p:spPr>
          <a:xfrm>
            <a:off x="502920" y="713232"/>
            <a:ext cx="10789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1B2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HTML gives a page structure.</a:t>
            </a:r>
            <a:endParaRPr lang="en-US" sz="3100" dirty="0"/>
          </a:p>
        </p:txBody>
      </p:sp>
      <p:sp>
        <p:nvSpPr>
          <p:cNvPr id="5" name="Shape 2"/>
          <p:cNvSpPr/>
          <p:nvPr/>
        </p:nvSpPr>
        <p:spPr>
          <a:xfrm>
            <a:off x="1371600" y="1645920"/>
            <a:ext cx="9464040" cy="4114800"/>
          </a:xfrm>
          <a:prstGeom prst="roundRect">
            <a:avLst/>
          </a:prstGeom>
          <a:solidFill>
            <a:srgbClr val="F0F2F4"/>
          </a:solidFill>
          <a:ln w="12700">
            <a:solidFill>
              <a:srgbClr val="AAB5BC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1783080" y="2011680"/>
            <a:ext cx="8641080" cy="566928"/>
          </a:xfrm>
          <a:prstGeom prst="roundRect">
            <a:avLst>
              <a:gd name="adj" fmla="val 12903"/>
            </a:avLst>
          </a:prstGeom>
          <a:solidFill>
            <a:srgbClr val="E1E5E8"/>
          </a:solidFill>
          <a:ln w="12700">
            <a:solidFill>
              <a:srgbClr val="E1E5E8">
                <a:alpha val="0"/>
              </a:srgbClr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1783080" y="2880360"/>
            <a:ext cx="1965960" cy="2240280"/>
          </a:xfrm>
          <a:prstGeom prst="roundRect">
            <a:avLst>
              <a:gd name="adj" fmla="val 3721"/>
            </a:avLst>
          </a:prstGeom>
          <a:solidFill>
            <a:srgbClr val="E1E5E8"/>
          </a:solidFill>
          <a:ln w="12700">
            <a:solidFill>
              <a:srgbClr val="E1E5E8">
                <a:alpha val="0"/>
              </a:srgbClr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4023360" y="2880360"/>
            <a:ext cx="6400800" cy="2240280"/>
          </a:xfrm>
          <a:prstGeom prst="roundRect">
            <a:avLst>
              <a:gd name="adj" fmla="val 3265"/>
            </a:avLst>
          </a:prstGeom>
          <a:solidFill>
            <a:srgbClr val="E1E5E8"/>
          </a:solidFill>
          <a:ln w="12700">
            <a:solidFill>
              <a:srgbClr val="E1E5E8">
                <a:alpha val="0"/>
              </a:srgbClr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58368" y="6108192"/>
            <a:ext cx="10607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i="1" dirty="0">
                <a:solidFill>
                  <a:srgbClr val="5363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Think rooms in a building: regions exist, but they do not yet communicate a visual hierarchy.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64808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7848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02920" y="320040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160" kern="0" dirty="0">
                <a:solidFill>
                  <a:srgbClr val="0063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1</a:t>
            </a:r>
            <a:endParaRPr lang="en-US" sz="1000" dirty="0"/>
          </a:p>
        </p:txBody>
      </p:sp>
      <p:sp>
        <p:nvSpPr>
          <p:cNvPr id="4" name="Text 1"/>
          <p:cNvSpPr/>
          <p:nvPr/>
        </p:nvSpPr>
        <p:spPr>
          <a:xfrm>
            <a:off x="502920" y="713232"/>
            <a:ext cx="10789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1B2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HTML gives structure meaning.</a:t>
            </a:r>
            <a:endParaRPr lang="en-US" sz="3100" dirty="0"/>
          </a:p>
        </p:txBody>
      </p:sp>
      <p:sp>
        <p:nvSpPr>
          <p:cNvPr id="5" name="Shape 2"/>
          <p:cNvSpPr/>
          <p:nvPr/>
        </p:nvSpPr>
        <p:spPr>
          <a:xfrm>
            <a:off x="1371600" y="1645920"/>
            <a:ext cx="9464040" cy="4114800"/>
          </a:xfrm>
          <a:prstGeom prst="roundRect">
            <a:avLst/>
          </a:prstGeom>
          <a:solidFill>
            <a:srgbClr val="F0F2F4"/>
          </a:solidFill>
          <a:ln w="12700">
            <a:solidFill>
              <a:srgbClr val="AAB5BC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1783080" y="2011680"/>
            <a:ext cx="864108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947672" y="2139696"/>
            <a:ext cx="8311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B2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Title region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1783080" y="2880360"/>
            <a:ext cx="1965960" cy="224028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947672" y="3008376"/>
            <a:ext cx="16367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2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Controls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4023360" y="2880360"/>
            <a:ext cx="6400800" cy="2240280"/>
          </a:xfrm>
          <a:prstGeom prst="roundRect">
            <a:avLst>
              <a:gd name="adj" fmla="val 3265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187952" y="3008376"/>
            <a:ext cx="60716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2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Content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658368" y="6108192"/>
            <a:ext cx="10607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i="1" dirty="0">
                <a:solidFill>
                  <a:srgbClr val="5363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heading, controls, content, and actions become understandable regions.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64808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7848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02920" y="320040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160" kern="0" dirty="0">
                <a:solidFill>
                  <a:srgbClr val="0063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1</a:t>
            </a:r>
            <a:endParaRPr lang="en-US" sz="1000" dirty="0"/>
          </a:p>
        </p:txBody>
      </p:sp>
      <p:sp>
        <p:nvSpPr>
          <p:cNvPr id="4" name="Text 1"/>
          <p:cNvSpPr/>
          <p:nvPr/>
        </p:nvSpPr>
        <p:spPr>
          <a:xfrm>
            <a:off x="502920" y="713232"/>
            <a:ext cx="10789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1B2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CSS gives the structure art direction.</a:t>
            </a:r>
            <a:endParaRPr lang="en-US" sz="3100" dirty="0"/>
          </a:p>
        </p:txBody>
      </p:sp>
      <p:sp>
        <p:nvSpPr>
          <p:cNvPr id="5" name="Shape 2"/>
          <p:cNvSpPr/>
          <p:nvPr/>
        </p:nvSpPr>
        <p:spPr>
          <a:xfrm>
            <a:off x="1371600" y="1645920"/>
            <a:ext cx="9464040" cy="4114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63A3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1783080" y="2011680"/>
            <a:ext cx="8641080" cy="566928"/>
          </a:xfrm>
          <a:prstGeom prst="roundRect">
            <a:avLst>
              <a:gd name="adj" fmla="val 12903"/>
            </a:avLst>
          </a:prstGeom>
          <a:solidFill>
            <a:srgbClr val="003E63"/>
          </a:solidFill>
          <a:ln w="12700">
            <a:solidFill>
              <a:srgbClr val="003E63">
                <a:alpha val="0"/>
              </a:srgbClr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947672" y="2139696"/>
            <a:ext cx="8311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Title region</a:t>
            </a:r>
            <a:endParaRPr lang="en-US" sz="2200" dirty="0"/>
          </a:p>
        </p:txBody>
      </p:sp>
      <p:sp>
        <p:nvSpPr>
          <p:cNvPr id="8" name="Shape 5"/>
          <p:cNvSpPr/>
          <p:nvPr/>
        </p:nvSpPr>
        <p:spPr>
          <a:xfrm>
            <a:off x="1783080" y="2880360"/>
            <a:ext cx="1965960" cy="2240280"/>
          </a:xfrm>
          <a:prstGeom prst="roundRect">
            <a:avLst>
              <a:gd name="adj" fmla="val 3721"/>
            </a:avLst>
          </a:prstGeom>
          <a:solidFill>
            <a:srgbClr val="D9EBF7"/>
          </a:solidFill>
          <a:ln w="12700">
            <a:solidFill>
              <a:srgbClr val="D9EBF7">
                <a:alpha val="0"/>
              </a:srgbClr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947672" y="3008376"/>
            <a:ext cx="16367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2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Controls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4023360" y="2880360"/>
            <a:ext cx="6400800" cy="2240280"/>
          </a:xfrm>
          <a:prstGeom prst="roundRect">
            <a:avLst>
              <a:gd name="adj" fmla="val 3265"/>
            </a:avLst>
          </a:prstGeom>
          <a:solidFill>
            <a:srgbClr val="DDEFE6"/>
          </a:solidFill>
          <a:ln w="12700">
            <a:solidFill>
              <a:srgbClr val="DDEFE6">
                <a:alpha val="0"/>
              </a:srgbClr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187952" y="3008376"/>
            <a:ext cx="60716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2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Content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4343400" y="3566160"/>
            <a:ext cx="5760720" cy="329184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4343400" y="4114800"/>
            <a:ext cx="3456432" cy="329184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4343400" y="4617720"/>
            <a:ext cx="1325880" cy="384048"/>
          </a:xfrm>
          <a:prstGeom prst="roundRect">
            <a:avLst>
              <a:gd name="adj" fmla="val 19048"/>
            </a:avLst>
          </a:prstGeom>
          <a:solidFill>
            <a:srgbClr val="F9C74F"/>
          </a:solidFill>
          <a:ln w="12700">
            <a:solidFill>
              <a:srgbClr val="F9C74F">
                <a:alpha val="0"/>
              </a:srgbClr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58368" y="6108192"/>
            <a:ext cx="10607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i="1" dirty="0">
                <a:solidFill>
                  <a:srgbClr val="5363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Type, spacing, color, scale, and alignment create hierarchy—without changing the underlying purpose.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64808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7848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02920" y="320040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160" kern="0" dirty="0">
                <a:solidFill>
                  <a:srgbClr val="0063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1</a:t>
            </a:r>
            <a:endParaRPr lang="en-US" sz="1000" dirty="0"/>
          </a:p>
        </p:txBody>
      </p:sp>
      <p:sp>
        <p:nvSpPr>
          <p:cNvPr id="4" name="Text 1"/>
          <p:cNvSpPr/>
          <p:nvPr/>
        </p:nvSpPr>
        <p:spPr>
          <a:xfrm>
            <a:off x="502920" y="713232"/>
            <a:ext cx="10789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1B2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Structure and look solve different problems.</a:t>
            </a:r>
            <a:endParaRPr lang="en-US" sz="3100" dirty="0"/>
          </a:p>
        </p:txBody>
      </p:sp>
      <p:sp>
        <p:nvSpPr>
          <p:cNvPr id="5" name="Shape 2"/>
          <p:cNvSpPr/>
          <p:nvPr/>
        </p:nvSpPr>
        <p:spPr>
          <a:xfrm>
            <a:off x="658368" y="1600200"/>
            <a:ext cx="5317236" cy="117043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59536" y="1764792"/>
            <a:ext cx="49149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B2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HTML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859536" y="2112264"/>
            <a:ext cx="49149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5363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on the page?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6176772" y="1600200"/>
            <a:ext cx="5317236" cy="117043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377940" y="1764792"/>
            <a:ext cx="49149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B2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CSS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6377940" y="2112264"/>
            <a:ext cx="49149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5363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does it communicate?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658368" y="2971800"/>
            <a:ext cx="5317236" cy="117043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59536" y="3136392"/>
            <a:ext cx="49149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B2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</a:t>
            </a:r>
            <a:endParaRPr lang="en-US" sz="1700" dirty="0"/>
          </a:p>
        </p:txBody>
      </p:sp>
      <p:sp>
        <p:nvSpPr>
          <p:cNvPr id="13" name="Text 10"/>
          <p:cNvSpPr/>
          <p:nvPr/>
        </p:nvSpPr>
        <p:spPr>
          <a:xfrm>
            <a:off x="859536" y="3483864"/>
            <a:ext cx="49149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5363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should the user achieve?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6176772" y="2971800"/>
            <a:ext cx="5317236" cy="117043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377940" y="3136392"/>
            <a:ext cx="49149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B2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</a:t>
            </a:r>
            <a:endParaRPr lang="en-US" sz="1700" dirty="0"/>
          </a:p>
        </p:txBody>
      </p:sp>
      <p:sp>
        <p:nvSpPr>
          <p:cNvPr id="16" name="Text 13"/>
          <p:cNvSpPr/>
          <p:nvPr/>
        </p:nvSpPr>
        <p:spPr>
          <a:xfrm>
            <a:off x="6377940" y="3483864"/>
            <a:ext cx="49149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5363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is it implemented?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64808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7848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02920" y="320040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160" kern="0" dirty="0">
                <a:solidFill>
                  <a:srgbClr val="0063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1</a:t>
            </a:r>
            <a:endParaRPr lang="en-US" sz="1000" dirty="0"/>
          </a:p>
        </p:txBody>
      </p:sp>
      <p:sp>
        <p:nvSpPr>
          <p:cNvPr id="4" name="Text 1"/>
          <p:cNvSpPr/>
          <p:nvPr/>
        </p:nvSpPr>
        <p:spPr>
          <a:xfrm>
            <a:off x="502920" y="713232"/>
            <a:ext cx="10789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1B2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Creative lab: make a small interface you want to exist.</a:t>
            </a:r>
            <a:endParaRPr lang="en-US" sz="3100" dirty="0"/>
          </a:p>
        </p:txBody>
      </p:sp>
      <p:sp>
        <p:nvSpPr>
          <p:cNvPr id="5" name="Shape 2"/>
          <p:cNvSpPr/>
          <p:nvPr/>
        </p:nvSpPr>
        <p:spPr>
          <a:xfrm>
            <a:off x="822960" y="1783080"/>
            <a:ext cx="10561320" cy="3154680"/>
          </a:xfrm>
          <a:prstGeom prst="roundRect">
            <a:avLst>
              <a:gd name="adj" fmla="val 2899"/>
            </a:avLst>
          </a:prstGeom>
          <a:solidFill>
            <a:srgbClr val="FFFFFF"/>
          </a:solidFill>
          <a:ln w="12700">
            <a:solidFill>
              <a:srgbClr val="0063A3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1143000" y="208483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063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 IN AGENT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1143000" y="2651760"/>
            <a:ext cx="99212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1B2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a small front-end page for [a user] who needs to [achieve a goal]. Include [the minimum things they need]. Create the HTML and CSS, run it, and open it in the browser preview.</a:t>
            </a:r>
            <a:endParaRPr lang="en-US" sz="2100" dirty="0"/>
          </a:p>
        </p:txBody>
      </p:sp>
      <p:sp>
        <p:nvSpPr>
          <p:cNvPr id="8" name="Text 5"/>
          <p:cNvSpPr/>
          <p:nvPr/>
        </p:nvSpPr>
        <p:spPr>
          <a:xfrm>
            <a:off x="658368" y="6108192"/>
            <a:ext cx="10607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i="1" dirty="0">
                <a:solidFill>
                  <a:srgbClr val="5363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specimen. No expected visual. Start with a real design problem.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64808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7848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02920" y="320040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160" kern="0" dirty="0">
                <a:solidFill>
                  <a:srgbClr val="0063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1</a:t>
            </a:r>
            <a:endParaRPr lang="en-US" sz="1000" dirty="0"/>
          </a:p>
        </p:txBody>
      </p:sp>
      <p:sp>
        <p:nvSpPr>
          <p:cNvPr id="4" name="Text 1"/>
          <p:cNvSpPr/>
          <p:nvPr/>
        </p:nvSpPr>
        <p:spPr>
          <a:xfrm>
            <a:off x="502920" y="713232"/>
            <a:ext cx="10789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1B2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1 assessment</a:t>
            </a:r>
            <a:endParaRPr lang="en-US" sz="3100" dirty="0"/>
          </a:p>
        </p:txBody>
      </p:sp>
      <p:sp>
        <p:nvSpPr>
          <p:cNvPr id="5" name="Shape 2"/>
          <p:cNvSpPr/>
          <p:nvPr/>
        </p:nvSpPr>
        <p:spPr>
          <a:xfrm>
            <a:off x="868680" y="1691640"/>
            <a:ext cx="10332720" cy="749808"/>
          </a:xfrm>
          <a:prstGeom prst="roundRect">
            <a:avLst>
              <a:gd name="adj" fmla="val 9756"/>
            </a:avLst>
          </a:prstGeom>
          <a:solidFill>
            <a:srgbClr val="DDEFE6"/>
          </a:solidFill>
          <a:ln w="12700">
            <a:solidFill>
              <a:srgbClr val="DDEFE6">
                <a:alpha val="0"/>
              </a:srgbClr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1033272" y="1874520"/>
            <a:ext cx="310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D7A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1490472" y="1828800"/>
            <a:ext cx="9509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1B2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page is running in Preview</a:t>
            </a:r>
            <a:endParaRPr lang="en-US" sz="1450" dirty="0"/>
          </a:p>
        </p:txBody>
      </p:sp>
      <p:sp>
        <p:nvSpPr>
          <p:cNvPr id="8" name="Shape 5"/>
          <p:cNvSpPr/>
          <p:nvPr/>
        </p:nvSpPr>
        <p:spPr>
          <a:xfrm>
            <a:off x="868680" y="2560320"/>
            <a:ext cx="10332720" cy="749808"/>
          </a:xfrm>
          <a:prstGeom prst="roundRect">
            <a:avLst>
              <a:gd name="adj" fmla="val 9756"/>
            </a:avLst>
          </a:prstGeom>
          <a:solidFill>
            <a:srgbClr val="DDEFE6"/>
          </a:solidFill>
          <a:ln w="12700">
            <a:solidFill>
              <a:srgbClr val="DDEFE6">
                <a:alpha val="0"/>
              </a:srgbClr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033272" y="2743200"/>
            <a:ext cx="310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D7A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1490472" y="2697480"/>
            <a:ext cx="9509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1B2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participant can explain the user goal</a:t>
            </a:r>
            <a:endParaRPr lang="en-US" sz="1450" dirty="0"/>
          </a:p>
        </p:txBody>
      </p:sp>
      <p:sp>
        <p:nvSpPr>
          <p:cNvPr id="11" name="Shape 8"/>
          <p:cNvSpPr/>
          <p:nvPr/>
        </p:nvSpPr>
        <p:spPr>
          <a:xfrm>
            <a:off x="868680" y="3429000"/>
            <a:ext cx="10332720" cy="749808"/>
          </a:xfrm>
          <a:prstGeom prst="roundRect">
            <a:avLst>
              <a:gd name="adj" fmla="val 9756"/>
            </a:avLst>
          </a:prstGeom>
          <a:solidFill>
            <a:srgbClr val="DDEFE6"/>
          </a:solidFill>
          <a:ln w="12700">
            <a:solidFill>
              <a:srgbClr val="DDEFE6">
                <a:alpha val="0"/>
              </a:srgbClr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033272" y="3611880"/>
            <a:ext cx="310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D7A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1490472" y="3566160"/>
            <a:ext cx="9509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1B2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They made one revision through Agent</a:t>
            </a:r>
            <a:endParaRPr lang="en-US" sz="1450" dirty="0"/>
          </a:p>
        </p:txBody>
      </p:sp>
      <p:sp>
        <p:nvSpPr>
          <p:cNvPr id="14" name="Shape 11"/>
          <p:cNvSpPr/>
          <p:nvPr/>
        </p:nvSpPr>
        <p:spPr>
          <a:xfrm>
            <a:off x="868680" y="4297680"/>
            <a:ext cx="10332720" cy="749808"/>
          </a:xfrm>
          <a:prstGeom prst="roundRect">
            <a:avLst>
              <a:gd name="adj" fmla="val 9756"/>
            </a:avLst>
          </a:prstGeom>
          <a:solidFill>
            <a:srgbClr val="DDEFE6"/>
          </a:solidFill>
          <a:ln w="12700">
            <a:solidFill>
              <a:srgbClr val="DDEFE6">
                <a:alpha val="0"/>
              </a:srgbClr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1033272" y="4480560"/>
            <a:ext cx="310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D7A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1490472" y="4434840"/>
            <a:ext cx="9509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1B2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They can restore a Checkpoint if needed</a:t>
            </a:r>
            <a:endParaRPr lang="en-US" sz="1450" dirty="0"/>
          </a:p>
        </p:txBody>
      </p:sp>
      <p:sp>
        <p:nvSpPr>
          <p:cNvPr id="17" name="Text 14"/>
          <p:cNvSpPr/>
          <p:nvPr/>
        </p:nvSpPr>
        <p:spPr>
          <a:xfrm>
            <a:off x="868680" y="5806440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D7A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Gate: Ready · Ready with support · Not yet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64808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7848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02920" y="320040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160" kern="0" dirty="0">
                <a:solidFill>
                  <a:srgbClr val="0063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1</a:t>
            </a:r>
            <a:endParaRPr lang="en-US" sz="1000" dirty="0"/>
          </a:p>
        </p:txBody>
      </p:sp>
      <p:sp>
        <p:nvSpPr>
          <p:cNvPr id="4" name="Text 1"/>
          <p:cNvSpPr/>
          <p:nvPr/>
        </p:nvSpPr>
        <p:spPr>
          <a:xfrm>
            <a:off x="502920" y="713232"/>
            <a:ext cx="10789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1B2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Q&amp;A clinic</a:t>
            </a:r>
            <a:endParaRPr lang="en-US" sz="3100" dirty="0"/>
          </a:p>
        </p:txBody>
      </p:sp>
      <p:sp>
        <p:nvSpPr>
          <p:cNvPr id="5" name="Shape 2"/>
          <p:cNvSpPr/>
          <p:nvPr/>
        </p:nvSpPr>
        <p:spPr>
          <a:xfrm>
            <a:off x="658368" y="1737360"/>
            <a:ext cx="3477768" cy="117043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59536" y="1901952"/>
            <a:ext cx="307543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B2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Blocked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4337304" y="1737360"/>
            <a:ext cx="3477768" cy="117043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538472" y="1901952"/>
            <a:ext cx="307543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B2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Concept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8016240" y="1737360"/>
            <a:ext cx="3477768" cy="117043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217408" y="1901952"/>
            <a:ext cx="307543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B2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Quality</a:t>
            </a:r>
            <a:endParaRPr lang="en-US" sz="1800" dirty="0"/>
          </a:p>
        </p:txBody>
      </p:sp>
      <p:sp>
        <p:nvSpPr>
          <p:cNvPr id="11" name="Shape 8"/>
          <p:cNvSpPr/>
          <p:nvPr/>
        </p:nvSpPr>
        <p:spPr>
          <a:xfrm>
            <a:off x="658368" y="3108960"/>
            <a:ext cx="3477768" cy="117043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59536" y="3273552"/>
            <a:ext cx="307543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B2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Safety</a:t>
            </a:r>
            <a:endParaRPr lang="en-US" sz="1800" dirty="0"/>
          </a:p>
        </p:txBody>
      </p:sp>
      <p:sp>
        <p:nvSpPr>
          <p:cNvPr id="13" name="Shape 10"/>
          <p:cNvSpPr/>
          <p:nvPr/>
        </p:nvSpPr>
        <p:spPr>
          <a:xfrm>
            <a:off x="4337304" y="3108960"/>
            <a:ext cx="3477768" cy="117043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538472" y="3273552"/>
            <a:ext cx="307543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B2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Parking lot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658368" y="6108192"/>
            <a:ext cx="10607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i="1" dirty="0">
                <a:solidFill>
                  <a:srgbClr val="5363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Close every answer with: “What pattern generalizes?”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64808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7848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7252A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7252A3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 rot="1800000">
            <a:off x="7772400" y="-914400"/>
            <a:ext cx="5212080" cy="5212080"/>
          </a:xfrm>
          <a:prstGeom prst="arc">
            <a:avLst/>
          </a:prstGeom>
          <a:solidFill>
            <a:srgbClr val="F9C74F">
              <a:alpha val="98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731520" y="65836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9C7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2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731520" y="1828800"/>
            <a:ext cx="8961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2</a:t>
            </a:r>
            <a:endParaRPr lang="en-US" sz="4200" dirty="0"/>
          </a:p>
        </p:txBody>
      </p:sp>
      <p:sp>
        <p:nvSpPr>
          <p:cNvPr id="7" name="Text 4"/>
          <p:cNvSpPr/>
          <p:nvPr/>
        </p:nvSpPr>
        <p:spPr>
          <a:xfrm>
            <a:off x="749808" y="3090672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frameworks exist—and just enough state</a:t>
            </a:r>
            <a:endParaRPr lang="en-US" sz="2400" dirty="0"/>
          </a:p>
        </p:txBody>
      </p:sp>
      <p:sp>
        <p:nvSpPr>
          <p:cNvPr id="8" name="Text 5"/>
          <p:cNvSpPr/>
          <p:nvPr/>
        </p:nvSpPr>
        <p:spPr>
          <a:xfrm>
            <a:off x="749808" y="5440680"/>
            <a:ext cx="5486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9C7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1 · Midday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64808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7848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02920" y="320040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160" kern="0" dirty="0">
                <a:solidFill>
                  <a:srgbClr val="7252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2</a:t>
            </a:r>
            <a:endParaRPr lang="en-US" sz="1000" dirty="0"/>
          </a:p>
        </p:txBody>
      </p:sp>
      <p:sp>
        <p:nvSpPr>
          <p:cNvPr id="4" name="Text 1"/>
          <p:cNvSpPr/>
          <p:nvPr/>
        </p:nvSpPr>
        <p:spPr>
          <a:xfrm>
            <a:off x="502920" y="713232"/>
            <a:ext cx="10789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1B2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poster can look finished. A product must remember.</a:t>
            </a:r>
            <a:endParaRPr lang="en-US" sz="3100" dirty="0"/>
          </a:p>
        </p:txBody>
      </p:sp>
      <p:sp>
        <p:nvSpPr>
          <p:cNvPr id="5" name="Shape 2"/>
          <p:cNvSpPr/>
          <p:nvPr/>
        </p:nvSpPr>
        <p:spPr>
          <a:xfrm>
            <a:off x="658368" y="1600200"/>
            <a:ext cx="10835640" cy="117043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59536" y="1764792"/>
            <a:ext cx="104333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B2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Static page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859536" y="2112264"/>
            <a:ext cx="1043330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5363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visual moment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658368" y="2971800"/>
            <a:ext cx="10835640" cy="117043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59536" y="3136392"/>
            <a:ext cx="104333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B2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Second static page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859536" y="3483864"/>
            <a:ext cx="1043330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5363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Another visual moment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658368" y="4343400"/>
            <a:ext cx="10835640" cy="117043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59536" y="4507992"/>
            <a:ext cx="104333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B2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Living interface</a:t>
            </a:r>
            <a:endParaRPr lang="en-US" sz="1700" dirty="0"/>
          </a:p>
        </p:txBody>
      </p:sp>
      <p:sp>
        <p:nvSpPr>
          <p:cNvPr id="13" name="Text 10"/>
          <p:cNvSpPr/>
          <p:nvPr/>
        </p:nvSpPr>
        <p:spPr>
          <a:xfrm>
            <a:off x="859536" y="4855464"/>
            <a:ext cx="1043330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5363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UI with memory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64808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7848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02920" y="320040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160" kern="0" dirty="0">
                <a:solidFill>
                  <a:srgbClr val="7252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2</a:t>
            </a:r>
            <a:endParaRPr lang="en-US" sz="1000" dirty="0"/>
          </a:p>
        </p:txBody>
      </p:sp>
      <p:sp>
        <p:nvSpPr>
          <p:cNvPr id="4" name="Text 1"/>
          <p:cNvSpPr/>
          <p:nvPr/>
        </p:nvSpPr>
        <p:spPr>
          <a:xfrm>
            <a:off x="502920" y="713232"/>
            <a:ext cx="10789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1B2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framework is reusable blocks + a living screen.</a:t>
            </a:r>
            <a:endParaRPr lang="en-US" sz="3100" dirty="0"/>
          </a:p>
        </p:txBody>
      </p:sp>
      <p:sp>
        <p:nvSpPr>
          <p:cNvPr id="5" name="Text 2"/>
          <p:cNvSpPr/>
          <p:nvPr/>
        </p:nvSpPr>
        <p:spPr>
          <a:xfrm>
            <a:off x="685800" y="1965960"/>
            <a:ext cx="1078992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7252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helps one interface respond, remember, and reuse.</a:t>
            </a:r>
            <a:endParaRPr lang="en-US" sz="3800" dirty="0"/>
          </a:p>
        </p:txBody>
      </p:sp>
      <p:sp>
        <p:nvSpPr>
          <p:cNvPr id="6" name="Text 3"/>
          <p:cNvSpPr/>
          <p:nvPr/>
        </p:nvSpPr>
        <p:spPr>
          <a:xfrm>
            <a:off x="658368" y="6108192"/>
            <a:ext cx="10607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i="1" dirty="0">
                <a:solidFill>
                  <a:srgbClr val="5363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is the vehicle under the design—not the design itself.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64808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7848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02920" y="320040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160" kern="0" dirty="0">
                <a:solidFill>
                  <a:srgbClr val="7252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2</a:t>
            </a:r>
            <a:endParaRPr lang="en-US" sz="1000" dirty="0"/>
          </a:p>
        </p:txBody>
      </p:sp>
      <p:sp>
        <p:nvSpPr>
          <p:cNvPr id="4" name="Text 1"/>
          <p:cNvSpPr/>
          <p:nvPr/>
        </p:nvSpPr>
        <p:spPr>
          <a:xfrm>
            <a:off x="502920" y="713232"/>
            <a:ext cx="10789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1B2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React, Angular, and Vue are different vehicles.</a:t>
            </a:r>
            <a:endParaRPr lang="en-US" sz="3100" dirty="0"/>
          </a:p>
        </p:txBody>
      </p:sp>
      <p:sp>
        <p:nvSpPr>
          <p:cNvPr id="5" name="Shape 2"/>
          <p:cNvSpPr/>
          <p:nvPr/>
        </p:nvSpPr>
        <p:spPr>
          <a:xfrm>
            <a:off x="658368" y="1600200"/>
            <a:ext cx="10835640" cy="117043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59536" y="1764792"/>
            <a:ext cx="104333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B2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859536" y="2112264"/>
            <a:ext cx="1043330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5363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Agent output; strong Modus wrappers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658368" y="2971800"/>
            <a:ext cx="10835640" cy="117043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59536" y="3136392"/>
            <a:ext cx="104333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B2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Angular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859536" y="3483864"/>
            <a:ext cx="1043330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5363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Structured application framework; used in Trimble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658368" y="4343400"/>
            <a:ext cx="10835640" cy="117043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59536" y="4507992"/>
            <a:ext cx="104333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B2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Vue</a:t>
            </a:r>
            <a:endParaRPr lang="en-US" sz="1700" dirty="0"/>
          </a:p>
        </p:txBody>
      </p:sp>
      <p:sp>
        <p:nvSpPr>
          <p:cNvPr id="13" name="Text 10"/>
          <p:cNvSpPr/>
          <p:nvPr/>
        </p:nvSpPr>
        <p:spPr>
          <a:xfrm>
            <a:off x="859536" y="4855464"/>
            <a:ext cx="1043330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5363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Progressive framework; Modus wrapper exists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658368" y="6108192"/>
            <a:ext cx="10607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i="1" dirty="0">
                <a:solidFill>
                  <a:srgbClr val="5363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choose React so one room follows one workflow—not because it is the only correct choice.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64808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7848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02920" y="320040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160" kern="0" dirty="0">
                <a:solidFill>
                  <a:srgbClr val="7252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2</a:t>
            </a:r>
            <a:endParaRPr lang="en-US" sz="1000" dirty="0"/>
          </a:p>
        </p:txBody>
      </p:sp>
      <p:sp>
        <p:nvSpPr>
          <p:cNvPr id="4" name="Text 1"/>
          <p:cNvSpPr/>
          <p:nvPr/>
        </p:nvSpPr>
        <p:spPr>
          <a:xfrm>
            <a:off x="502920" y="713232"/>
            <a:ext cx="10789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1B2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State is the screen’s memory right now.</a:t>
            </a:r>
            <a:endParaRPr lang="en-US" sz="3100" dirty="0"/>
          </a:p>
        </p:txBody>
      </p:sp>
      <p:sp>
        <p:nvSpPr>
          <p:cNvPr id="5" name="Shape 2"/>
          <p:cNvSpPr/>
          <p:nvPr/>
        </p:nvSpPr>
        <p:spPr>
          <a:xfrm>
            <a:off x="914400" y="1783080"/>
            <a:ext cx="10332720" cy="4023360"/>
          </a:xfrm>
          <a:prstGeom prst="roundRect">
            <a:avLst>
              <a:gd name="adj" fmla="val 2273"/>
            </a:avLst>
          </a:prstGeom>
          <a:solidFill>
            <a:srgbClr val="FFFFFF"/>
          </a:solidFill>
          <a:ln w="12700">
            <a:solidFill>
              <a:srgbClr val="E8ECEF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1234440" y="2148840"/>
            <a:ext cx="2834640" cy="3246120"/>
          </a:xfrm>
          <a:prstGeom prst="roundRect">
            <a:avLst>
              <a:gd name="adj" fmla="val 2581"/>
            </a:avLst>
          </a:prstGeom>
          <a:solidFill>
            <a:srgbClr val="D9EBF7"/>
          </a:solidFill>
          <a:ln w="12700">
            <a:solidFill>
              <a:srgbClr val="D9EBF7">
                <a:alpha val="0"/>
              </a:srgbClr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508760" y="251460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B2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living screen</a:t>
            </a:r>
            <a:endParaRPr lang="en-US" sz="1900" dirty="0"/>
          </a:p>
        </p:txBody>
      </p:sp>
      <p:sp>
        <p:nvSpPr>
          <p:cNvPr id="8" name="Text 5"/>
          <p:cNvSpPr/>
          <p:nvPr/>
        </p:nvSpPr>
        <p:spPr>
          <a:xfrm>
            <a:off x="1508760" y="3127248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5363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open: false</a:t>
            </a:r>
            <a:endParaRPr lang="en-US" sz="2100" dirty="0"/>
          </a:p>
        </p:txBody>
      </p:sp>
      <p:sp>
        <p:nvSpPr>
          <p:cNvPr id="9" name="Shape 6"/>
          <p:cNvSpPr/>
          <p:nvPr/>
        </p:nvSpPr>
        <p:spPr>
          <a:xfrm>
            <a:off x="1664208" y="4041648"/>
            <a:ext cx="1965960" cy="594360"/>
          </a:xfrm>
          <a:prstGeom prst="roundRect">
            <a:avLst>
              <a:gd name="adj" fmla="val 12308"/>
            </a:avLst>
          </a:prstGeom>
          <a:solidFill>
            <a:srgbClr val="F9C74F"/>
          </a:solidFill>
          <a:ln w="12700">
            <a:solidFill>
              <a:srgbClr val="F9C74F">
                <a:alpha val="0"/>
              </a:srgbClr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764792" y="4151376"/>
            <a:ext cx="17647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2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 clicks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4315968" y="32461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47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3000" dirty="0"/>
          </a:p>
        </p:txBody>
      </p:sp>
      <p:sp>
        <p:nvSpPr>
          <p:cNvPr id="12" name="Shape 9"/>
          <p:cNvSpPr/>
          <p:nvPr/>
        </p:nvSpPr>
        <p:spPr>
          <a:xfrm>
            <a:off x="4983480" y="2148840"/>
            <a:ext cx="5669280" cy="3246120"/>
          </a:xfrm>
          <a:prstGeom prst="roundRect">
            <a:avLst>
              <a:gd name="adj" fmla="val 2817"/>
            </a:avLst>
          </a:prstGeom>
          <a:solidFill>
            <a:srgbClr val="F8F9FA"/>
          </a:solidFill>
          <a:ln w="12700">
            <a:solidFill>
              <a:srgbClr val="E8ECEF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349240" y="2450592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B2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Interface</a:t>
            </a:r>
            <a:endParaRPr lang="en-US" sz="1700" dirty="0"/>
          </a:p>
        </p:txBody>
      </p:sp>
      <p:sp>
        <p:nvSpPr>
          <p:cNvPr id="14" name="Shape 11"/>
          <p:cNvSpPr/>
          <p:nvPr/>
        </p:nvSpPr>
        <p:spPr>
          <a:xfrm>
            <a:off x="5349240" y="3017520"/>
            <a:ext cx="4526280" cy="411480"/>
          </a:xfrm>
          <a:prstGeom prst="roundRect">
            <a:avLst>
              <a:gd name="adj" fmla="val 17778"/>
            </a:avLst>
          </a:prstGeom>
          <a:solidFill>
            <a:srgbClr val="E8ECEF"/>
          </a:solidFill>
          <a:ln w="12700">
            <a:solidFill>
              <a:srgbClr val="E8ECEF">
                <a:alpha val="0"/>
              </a:srgbClr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5349240" y="3703320"/>
            <a:ext cx="1920240" cy="1188720"/>
          </a:xfrm>
          <a:prstGeom prst="roundRect">
            <a:avLst>
              <a:gd name="adj" fmla="val 6154"/>
            </a:avLst>
          </a:prstGeom>
          <a:solidFill>
            <a:srgbClr val="D9EBF7"/>
          </a:solidFill>
          <a:ln w="12700">
            <a:solidFill>
              <a:srgbClr val="D9EBF7">
                <a:alpha val="0"/>
              </a:srgbClr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559552" y="4069080"/>
            <a:ext cx="1499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63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Closed / default state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658368" y="6108192"/>
            <a:ext cx="10607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i="1" dirty="0">
                <a:solidFill>
                  <a:srgbClr val="5363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Example: a panel is closed. Nothing needs to be duplicated.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64808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7848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02920" y="320040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160" kern="0" dirty="0">
                <a:solidFill>
                  <a:srgbClr val="7252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2</a:t>
            </a:r>
            <a:endParaRPr lang="en-US" sz="1000" dirty="0"/>
          </a:p>
        </p:txBody>
      </p:sp>
      <p:sp>
        <p:nvSpPr>
          <p:cNvPr id="4" name="Text 1"/>
          <p:cNvSpPr/>
          <p:nvPr/>
        </p:nvSpPr>
        <p:spPr>
          <a:xfrm>
            <a:off x="502920" y="713232"/>
            <a:ext cx="10789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1B2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event changes that memory.</a:t>
            </a:r>
            <a:endParaRPr lang="en-US" sz="3100" dirty="0"/>
          </a:p>
        </p:txBody>
      </p:sp>
      <p:sp>
        <p:nvSpPr>
          <p:cNvPr id="5" name="Shape 2"/>
          <p:cNvSpPr/>
          <p:nvPr/>
        </p:nvSpPr>
        <p:spPr>
          <a:xfrm>
            <a:off x="914400" y="1783080"/>
            <a:ext cx="10332720" cy="4023360"/>
          </a:xfrm>
          <a:prstGeom prst="roundRect">
            <a:avLst>
              <a:gd name="adj" fmla="val 2273"/>
            </a:avLst>
          </a:prstGeom>
          <a:solidFill>
            <a:srgbClr val="FFFFFF"/>
          </a:solidFill>
          <a:ln w="12700">
            <a:solidFill>
              <a:srgbClr val="E8ECEF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1234440" y="2148840"/>
            <a:ext cx="2834640" cy="3246120"/>
          </a:xfrm>
          <a:prstGeom prst="roundRect">
            <a:avLst>
              <a:gd name="adj" fmla="val 2581"/>
            </a:avLst>
          </a:prstGeom>
          <a:solidFill>
            <a:srgbClr val="D9EBF7"/>
          </a:solidFill>
          <a:ln w="12700">
            <a:solidFill>
              <a:srgbClr val="D9EBF7">
                <a:alpha val="0"/>
              </a:srgbClr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508760" y="251460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B2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living screen</a:t>
            </a:r>
            <a:endParaRPr lang="en-US" sz="1900" dirty="0"/>
          </a:p>
        </p:txBody>
      </p:sp>
      <p:sp>
        <p:nvSpPr>
          <p:cNvPr id="8" name="Text 5"/>
          <p:cNvSpPr/>
          <p:nvPr/>
        </p:nvSpPr>
        <p:spPr>
          <a:xfrm>
            <a:off x="1508760" y="3127248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2D7A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open: true</a:t>
            </a:r>
            <a:endParaRPr lang="en-US" sz="2100" dirty="0"/>
          </a:p>
        </p:txBody>
      </p:sp>
      <p:sp>
        <p:nvSpPr>
          <p:cNvPr id="9" name="Shape 6"/>
          <p:cNvSpPr/>
          <p:nvPr/>
        </p:nvSpPr>
        <p:spPr>
          <a:xfrm>
            <a:off x="1664208" y="4041648"/>
            <a:ext cx="1965960" cy="594360"/>
          </a:xfrm>
          <a:prstGeom prst="roundRect">
            <a:avLst>
              <a:gd name="adj" fmla="val 12308"/>
            </a:avLst>
          </a:prstGeom>
          <a:solidFill>
            <a:srgbClr val="E8ECEF"/>
          </a:solidFill>
          <a:ln w="12700">
            <a:solidFill>
              <a:srgbClr val="E8ECEF">
                <a:alpha val="0"/>
              </a:srgbClr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764792" y="4151376"/>
            <a:ext cx="17647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2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Panel opened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4315968" y="32461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47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3000" dirty="0"/>
          </a:p>
        </p:txBody>
      </p:sp>
      <p:sp>
        <p:nvSpPr>
          <p:cNvPr id="12" name="Shape 9"/>
          <p:cNvSpPr/>
          <p:nvPr/>
        </p:nvSpPr>
        <p:spPr>
          <a:xfrm>
            <a:off x="4983480" y="2148840"/>
            <a:ext cx="5669280" cy="3246120"/>
          </a:xfrm>
          <a:prstGeom prst="roundRect">
            <a:avLst>
              <a:gd name="adj" fmla="val 2817"/>
            </a:avLst>
          </a:prstGeom>
          <a:solidFill>
            <a:srgbClr val="F8F9FA"/>
          </a:solidFill>
          <a:ln w="12700">
            <a:solidFill>
              <a:srgbClr val="E8ECEF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349240" y="2450592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B2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Interface</a:t>
            </a:r>
            <a:endParaRPr lang="en-US" sz="1700" dirty="0"/>
          </a:p>
        </p:txBody>
      </p:sp>
      <p:sp>
        <p:nvSpPr>
          <p:cNvPr id="14" name="Shape 11"/>
          <p:cNvSpPr/>
          <p:nvPr/>
        </p:nvSpPr>
        <p:spPr>
          <a:xfrm>
            <a:off x="5349240" y="3017520"/>
            <a:ext cx="4526280" cy="411480"/>
          </a:xfrm>
          <a:prstGeom prst="roundRect">
            <a:avLst>
              <a:gd name="adj" fmla="val 17778"/>
            </a:avLst>
          </a:prstGeom>
          <a:solidFill>
            <a:srgbClr val="E8ECEF"/>
          </a:solidFill>
          <a:ln w="12700">
            <a:solidFill>
              <a:srgbClr val="E8ECEF">
                <a:alpha val="0"/>
              </a:srgbClr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5349240" y="3703320"/>
            <a:ext cx="4526280" cy="1188720"/>
          </a:xfrm>
          <a:prstGeom prst="roundRect">
            <a:avLst>
              <a:gd name="adj" fmla="val 6154"/>
            </a:avLst>
          </a:prstGeom>
          <a:solidFill>
            <a:srgbClr val="DDEFE6"/>
          </a:solidFill>
          <a:ln w="12700">
            <a:solidFill>
              <a:srgbClr val="DDEFE6">
                <a:alpha val="0"/>
              </a:srgbClr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559552" y="4069080"/>
            <a:ext cx="41056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D7A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panel / modal / selection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658368" y="6108192"/>
            <a:ext cx="10607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i="1" dirty="0">
                <a:solidFill>
                  <a:srgbClr val="5363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person clicks. “Open” changes from false to true. The same screen responds.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64808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7848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02920" y="320040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160" kern="0" dirty="0">
                <a:solidFill>
                  <a:srgbClr val="7252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2</a:t>
            </a:r>
            <a:endParaRPr lang="en-US" sz="1000" dirty="0"/>
          </a:p>
        </p:txBody>
      </p:sp>
      <p:sp>
        <p:nvSpPr>
          <p:cNvPr id="4" name="Text 1"/>
          <p:cNvSpPr/>
          <p:nvPr/>
        </p:nvSpPr>
        <p:spPr>
          <a:xfrm>
            <a:off x="502920" y="713232"/>
            <a:ext cx="10789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1B2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 the full experience—not only the happy screenshot.</a:t>
            </a:r>
            <a:endParaRPr lang="en-US" sz="3100" dirty="0"/>
          </a:p>
        </p:txBody>
      </p:sp>
      <p:sp>
        <p:nvSpPr>
          <p:cNvPr id="5" name="Shape 2"/>
          <p:cNvSpPr/>
          <p:nvPr/>
        </p:nvSpPr>
        <p:spPr>
          <a:xfrm>
            <a:off x="658368" y="1691640"/>
            <a:ext cx="3477768" cy="117043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59536" y="1856232"/>
            <a:ext cx="307543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B2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 action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4337304" y="1691640"/>
            <a:ext cx="3477768" cy="117043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538472" y="1856232"/>
            <a:ext cx="307543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B2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During / loading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8016240" y="1691640"/>
            <a:ext cx="3477768" cy="117043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217408" y="1856232"/>
            <a:ext cx="307543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B2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Empty</a:t>
            </a:r>
            <a:endParaRPr lang="en-US" sz="1800" dirty="0"/>
          </a:p>
        </p:txBody>
      </p:sp>
      <p:sp>
        <p:nvSpPr>
          <p:cNvPr id="11" name="Shape 8"/>
          <p:cNvSpPr/>
          <p:nvPr/>
        </p:nvSpPr>
        <p:spPr>
          <a:xfrm>
            <a:off x="658368" y="3063240"/>
            <a:ext cx="3477768" cy="117043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59536" y="3227832"/>
            <a:ext cx="307543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B2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Error</a:t>
            </a:r>
            <a:endParaRPr lang="en-US" sz="1800" dirty="0"/>
          </a:p>
        </p:txBody>
      </p:sp>
      <p:sp>
        <p:nvSpPr>
          <p:cNvPr id="13" name="Shape 10"/>
          <p:cNvSpPr/>
          <p:nvPr/>
        </p:nvSpPr>
        <p:spPr>
          <a:xfrm>
            <a:off x="4337304" y="3063240"/>
            <a:ext cx="3477768" cy="117043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538472" y="3227832"/>
            <a:ext cx="307543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B2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Success</a:t>
            </a:r>
            <a:endParaRPr lang="en-US" sz="1800" dirty="0"/>
          </a:p>
        </p:txBody>
      </p:sp>
      <p:sp>
        <p:nvSpPr>
          <p:cNvPr id="15" name="Shape 12"/>
          <p:cNvSpPr/>
          <p:nvPr/>
        </p:nvSpPr>
        <p:spPr>
          <a:xfrm>
            <a:off x="8016240" y="3063240"/>
            <a:ext cx="3477768" cy="117043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8217408" y="3227832"/>
            <a:ext cx="307543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B2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Recovery</a:t>
            </a:r>
            <a:endParaRPr lang="en-US" sz="1800" dirty="0"/>
          </a:p>
        </p:txBody>
      </p:sp>
      <p:sp>
        <p:nvSpPr>
          <p:cNvPr id="17" name="Text 14"/>
          <p:cNvSpPr/>
          <p:nvPr/>
        </p:nvSpPr>
        <p:spPr>
          <a:xfrm>
            <a:off x="658368" y="6108192"/>
            <a:ext cx="10607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i="1" dirty="0">
                <a:solidFill>
                  <a:srgbClr val="5363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Ask: What can the person see and do in each moment?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64808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7848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02920" y="320040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160" kern="0" dirty="0">
                <a:solidFill>
                  <a:srgbClr val="7252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2</a:t>
            </a:r>
            <a:endParaRPr lang="en-US" sz="1000" dirty="0"/>
          </a:p>
        </p:txBody>
      </p:sp>
      <p:sp>
        <p:nvSpPr>
          <p:cNvPr id="4" name="Text 1"/>
          <p:cNvSpPr/>
          <p:nvPr/>
        </p:nvSpPr>
        <p:spPr>
          <a:xfrm>
            <a:off x="502920" y="713232"/>
            <a:ext cx="10789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1B2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Interaction lab: add one piece of memory.</a:t>
            </a:r>
            <a:endParaRPr lang="en-US" sz="3100" dirty="0"/>
          </a:p>
        </p:txBody>
      </p:sp>
      <p:sp>
        <p:nvSpPr>
          <p:cNvPr id="5" name="Shape 2"/>
          <p:cNvSpPr/>
          <p:nvPr/>
        </p:nvSpPr>
        <p:spPr>
          <a:xfrm>
            <a:off x="822960" y="1783080"/>
            <a:ext cx="10561320" cy="3154680"/>
          </a:xfrm>
          <a:prstGeom prst="roundRect">
            <a:avLst>
              <a:gd name="adj" fmla="val 2899"/>
            </a:avLst>
          </a:prstGeom>
          <a:solidFill>
            <a:srgbClr val="FFFFFF"/>
          </a:solidFill>
          <a:ln w="12700">
            <a:solidFill>
              <a:srgbClr val="0063A3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1143000" y="208483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7252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 IN AGENT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1143000" y="2651760"/>
            <a:ext cx="99212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1B2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one behavior to this interface. When the user [acts], the interface should [respond]. Include what happens before, during, if it fails, and after success. Run and verify it in Preview.</a:t>
            </a:r>
            <a:endParaRPr lang="en-US" sz="2100" dirty="0"/>
          </a:p>
        </p:txBody>
      </p:sp>
      <p:sp>
        <p:nvSpPr>
          <p:cNvPr id="8" name="Text 5"/>
          <p:cNvSpPr/>
          <p:nvPr/>
        </p:nvSpPr>
        <p:spPr>
          <a:xfrm>
            <a:off x="658368" y="6108192"/>
            <a:ext cx="10607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i="1" dirty="0">
                <a:solidFill>
                  <a:srgbClr val="5363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They choose the behavior: toggle, reveal, select, filter, validate, or confirm.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64808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7848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02920" y="320040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160" kern="0" dirty="0">
                <a:solidFill>
                  <a:srgbClr val="7252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2</a:t>
            </a:r>
            <a:endParaRPr lang="en-US" sz="1000" dirty="0"/>
          </a:p>
        </p:txBody>
      </p:sp>
      <p:sp>
        <p:nvSpPr>
          <p:cNvPr id="4" name="Text 1"/>
          <p:cNvSpPr/>
          <p:nvPr/>
        </p:nvSpPr>
        <p:spPr>
          <a:xfrm>
            <a:off x="502920" y="713232"/>
            <a:ext cx="10789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1B2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2 assessment</a:t>
            </a:r>
            <a:endParaRPr lang="en-US" sz="3100" dirty="0"/>
          </a:p>
        </p:txBody>
      </p:sp>
      <p:sp>
        <p:nvSpPr>
          <p:cNvPr id="5" name="Shape 2"/>
          <p:cNvSpPr/>
          <p:nvPr/>
        </p:nvSpPr>
        <p:spPr>
          <a:xfrm>
            <a:off x="868680" y="1691640"/>
            <a:ext cx="10332720" cy="749808"/>
          </a:xfrm>
          <a:prstGeom prst="roundRect">
            <a:avLst>
              <a:gd name="adj" fmla="val 9756"/>
            </a:avLst>
          </a:prstGeom>
          <a:solidFill>
            <a:srgbClr val="DDEFE6"/>
          </a:solidFill>
          <a:ln w="12700">
            <a:solidFill>
              <a:srgbClr val="DDEFE6">
                <a:alpha val="0"/>
              </a:srgbClr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1033272" y="1874520"/>
            <a:ext cx="310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D7A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1490472" y="1828800"/>
            <a:ext cx="9509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1B2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same UI has a working interaction</a:t>
            </a:r>
            <a:endParaRPr lang="en-US" sz="1450" dirty="0"/>
          </a:p>
        </p:txBody>
      </p:sp>
      <p:sp>
        <p:nvSpPr>
          <p:cNvPr id="8" name="Shape 5"/>
          <p:cNvSpPr/>
          <p:nvPr/>
        </p:nvSpPr>
        <p:spPr>
          <a:xfrm>
            <a:off x="868680" y="2560320"/>
            <a:ext cx="10332720" cy="749808"/>
          </a:xfrm>
          <a:prstGeom prst="roundRect">
            <a:avLst>
              <a:gd name="adj" fmla="val 9756"/>
            </a:avLst>
          </a:prstGeom>
          <a:solidFill>
            <a:srgbClr val="DDEFE6"/>
          </a:solidFill>
          <a:ln w="12700">
            <a:solidFill>
              <a:srgbClr val="DDEFE6">
                <a:alpha val="0"/>
              </a:srgbClr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033272" y="2743200"/>
            <a:ext cx="310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D7A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1490472" y="2697480"/>
            <a:ext cx="9509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1B2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participant can describe its memory in English</a:t>
            </a:r>
            <a:endParaRPr lang="en-US" sz="1450" dirty="0"/>
          </a:p>
        </p:txBody>
      </p:sp>
      <p:sp>
        <p:nvSpPr>
          <p:cNvPr id="11" name="Shape 8"/>
          <p:cNvSpPr/>
          <p:nvPr/>
        </p:nvSpPr>
        <p:spPr>
          <a:xfrm>
            <a:off x="868680" y="3429000"/>
            <a:ext cx="10332720" cy="749808"/>
          </a:xfrm>
          <a:prstGeom prst="roundRect">
            <a:avLst>
              <a:gd name="adj" fmla="val 9756"/>
            </a:avLst>
          </a:prstGeom>
          <a:solidFill>
            <a:srgbClr val="DDEFE6"/>
          </a:solidFill>
          <a:ln w="12700">
            <a:solidFill>
              <a:srgbClr val="DDEFE6">
                <a:alpha val="0"/>
              </a:srgbClr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033272" y="3611880"/>
            <a:ext cx="310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D7A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1490472" y="3566160"/>
            <a:ext cx="9509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1B2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 least two relevant states are visible</a:t>
            </a:r>
            <a:endParaRPr lang="en-US" sz="1450" dirty="0"/>
          </a:p>
        </p:txBody>
      </p:sp>
      <p:sp>
        <p:nvSpPr>
          <p:cNvPr id="14" name="Shape 11"/>
          <p:cNvSpPr/>
          <p:nvPr/>
        </p:nvSpPr>
        <p:spPr>
          <a:xfrm>
            <a:off x="868680" y="4297680"/>
            <a:ext cx="10332720" cy="749808"/>
          </a:xfrm>
          <a:prstGeom prst="roundRect">
            <a:avLst>
              <a:gd name="adj" fmla="val 9756"/>
            </a:avLst>
          </a:prstGeom>
          <a:solidFill>
            <a:srgbClr val="DDEFE6"/>
          </a:solidFill>
          <a:ln w="12700">
            <a:solidFill>
              <a:srgbClr val="DDEFE6">
                <a:alpha val="0"/>
              </a:srgbClr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1033272" y="4480560"/>
            <a:ext cx="310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D7A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1490472" y="4434840"/>
            <a:ext cx="9509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1B2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peer can trigger and recover the flow</a:t>
            </a:r>
            <a:endParaRPr lang="en-US" sz="1450" dirty="0"/>
          </a:p>
        </p:txBody>
      </p:sp>
      <p:sp>
        <p:nvSpPr>
          <p:cNvPr id="17" name="Text 14"/>
          <p:cNvSpPr/>
          <p:nvPr/>
        </p:nvSpPr>
        <p:spPr>
          <a:xfrm>
            <a:off x="868680" y="5806440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D7A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Gate: Ready · Ready with support · Not yet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64808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7848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02920" y="320040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160" kern="0" dirty="0">
                <a:solidFill>
                  <a:srgbClr val="7252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2</a:t>
            </a:r>
            <a:endParaRPr lang="en-US" sz="1000" dirty="0"/>
          </a:p>
        </p:txBody>
      </p:sp>
      <p:sp>
        <p:nvSpPr>
          <p:cNvPr id="4" name="Text 1"/>
          <p:cNvSpPr/>
          <p:nvPr/>
        </p:nvSpPr>
        <p:spPr>
          <a:xfrm>
            <a:off x="502920" y="713232"/>
            <a:ext cx="10789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1B2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Q&amp;A clinic</a:t>
            </a:r>
            <a:endParaRPr lang="en-US" sz="3100" dirty="0"/>
          </a:p>
        </p:txBody>
      </p:sp>
      <p:sp>
        <p:nvSpPr>
          <p:cNvPr id="5" name="Shape 2"/>
          <p:cNvSpPr/>
          <p:nvPr/>
        </p:nvSpPr>
        <p:spPr>
          <a:xfrm>
            <a:off x="658368" y="1737360"/>
            <a:ext cx="3477768" cy="117043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59536" y="1901952"/>
            <a:ext cx="307543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B2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a framework?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4337304" y="1737360"/>
            <a:ext cx="3477768" cy="117043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538472" y="1901952"/>
            <a:ext cx="307543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B2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state?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8016240" y="1737360"/>
            <a:ext cx="3477768" cy="117043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217408" y="1901952"/>
            <a:ext cx="307543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B2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React?</a:t>
            </a:r>
            <a:endParaRPr lang="en-US" sz="1800" dirty="0"/>
          </a:p>
        </p:txBody>
      </p:sp>
      <p:sp>
        <p:nvSpPr>
          <p:cNvPr id="11" name="Shape 8"/>
          <p:cNvSpPr/>
          <p:nvPr/>
        </p:nvSpPr>
        <p:spPr>
          <a:xfrm>
            <a:off x="658368" y="3108960"/>
            <a:ext cx="3477768" cy="117043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59536" y="3273552"/>
            <a:ext cx="307543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B2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should Agent remember?</a:t>
            </a:r>
            <a:endParaRPr lang="en-US" sz="1800" dirty="0"/>
          </a:p>
        </p:txBody>
      </p:sp>
      <p:sp>
        <p:nvSpPr>
          <p:cNvPr id="13" name="Shape 10"/>
          <p:cNvSpPr/>
          <p:nvPr/>
        </p:nvSpPr>
        <p:spPr>
          <a:xfrm>
            <a:off x="4337304" y="3108960"/>
            <a:ext cx="3477768" cy="117043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538472" y="3273552"/>
            <a:ext cx="307543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B2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Parking lot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658368" y="6108192"/>
            <a:ext cx="10607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i="1" dirty="0">
                <a:solidFill>
                  <a:srgbClr val="5363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Then move from “understanding AI” to “giving AI a brain.”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64808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7848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47F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7F20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 rot="1800000">
            <a:off x="7772400" y="-914400"/>
            <a:ext cx="5212080" cy="5212080"/>
          </a:xfrm>
          <a:prstGeom prst="arc">
            <a:avLst/>
          </a:prstGeom>
          <a:solidFill>
            <a:srgbClr val="F9C74F">
              <a:alpha val="98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731520" y="65836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9C7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3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731520" y="1828800"/>
            <a:ext cx="8961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3</a:t>
            </a:r>
            <a:endParaRPr lang="en-US" sz="4200" dirty="0"/>
          </a:p>
        </p:txBody>
      </p:sp>
      <p:sp>
        <p:nvSpPr>
          <p:cNvPr id="7" name="Text 4"/>
          <p:cNvSpPr/>
          <p:nvPr/>
        </p:nvSpPr>
        <p:spPr>
          <a:xfrm>
            <a:off x="749808" y="3090672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Give Agent a Modus brain</a:t>
            </a:r>
            <a:endParaRPr lang="en-US" sz="2400" dirty="0"/>
          </a:p>
        </p:txBody>
      </p:sp>
      <p:sp>
        <p:nvSpPr>
          <p:cNvPr id="8" name="Text 5"/>
          <p:cNvSpPr/>
          <p:nvPr/>
        </p:nvSpPr>
        <p:spPr>
          <a:xfrm>
            <a:off x="749808" y="5440680"/>
            <a:ext cx="5486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9C7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1 · Afternoon · First big assessment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64808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7848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02920" y="320040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160" kern="0" dirty="0">
                <a:solidFill>
                  <a:srgbClr val="F47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3</a:t>
            </a:r>
            <a:endParaRPr lang="en-US" sz="1000" dirty="0"/>
          </a:p>
        </p:txBody>
      </p:sp>
      <p:sp>
        <p:nvSpPr>
          <p:cNvPr id="4" name="Text 1"/>
          <p:cNvSpPr/>
          <p:nvPr/>
        </p:nvSpPr>
        <p:spPr>
          <a:xfrm>
            <a:off x="502920" y="713232"/>
            <a:ext cx="10789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1B2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blank Agent is capable—but it has amnesia.</a:t>
            </a:r>
            <a:endParaRPr lang="en-US" sz="3100" dirty="0"/>
          </a:p>
        </p:txBody>
      </p:sp>
      <p:sp>
        <p:nvSpPr>
          <p:cNvPr id="5" name="Shape 2"/>
          <p:cNvSpPr/>
          <p:nvPr/>
        </p:nvSpPr>
        <p:spPr>
          <a:xfrm>
            <a:off x="658368" y="1600200"/>
            <a:ext cx="5317236" cy="1170432"/>
          </a:xfrm>
          <a:prstGeom prst="roundRect">
            <a:avLst>
              <a:gd name="adj" fmla="val 6250"/>
            </a:avLst>
          </a:prstGeom>
          <a:solidFill>
            <a:srgbClr val="EBE3F5"/>
          </a:solidFill>
          <a:ln w="12700">
            <a:solidFill>
              <a:srgbClr val="EBE3F5">
                <a:alpha val="0"/>
              </a:srgbClr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59536" y="1764792"/>
            <a:ext cx="49149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B2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Rules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859536" y="2112264"/>
            <a:ext cx="49149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5363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Permanent guardrails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6176772" y="1600200"/>
            <a:ext cx="5317236" cy="1170432"/>
          </a:xfrm>
          <a:prstGeom prst="roundRect">
            <a:avLst>
              <a:gd name="adj" fmla="val 6250"/>
            </a:avLst>
          </a:prstGeom>
          <a:solidFill>
            <a:srgbClr val="EBE3F5"/>
          </a:solidFill>
          <a:ln w="12700">
            <a:solidFill>
              <a:srgbClr val="EBE3F5">
                <a:alpha val="0"/>
              </a:srgbClr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377940" y="1764792"/>
            <a:ext cx="49149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B2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Skills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6377940" y="2112264"/>
            <a:ext cx="49149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5363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Focused recipes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658368" y="2971800"/>
            <a:ext cx="5317236" cy="1170432"/>
          </a:xfrm>
          <a:prstGeom prst="roundRect">
            <a:avLst>
              <a:gd name="adj" fmla="val 6250"/>
            </a:avLst>
          </a:prstGeom>
          <a:solidFill>
            <a:srgbClr val="EBE3F5"/>
          </a:solidFill>
          <a:ln w="12700">
            <a:solidFill>
              <a:srgbClr val="EBE3F5">
                <a:alpha val="0"/>
              </a:srgbClr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59536" y="3136392"/>
            <a:ext cx="49149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B2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MCP</a:t>
            </a:r>
            <a:endParaRPr lang="en-US" sz="1700" dirty="0"/>
          </a:p>
        </p:txBody>
      </p:sp>
      <p:sp>
        <p:nvSpPr>
          <p:cNvPr id="13" name="Text 10"/>
          <p:cNvSpPr/>
          <p:nvPr/>
        </p:nvSpPr>
        <p:spPr>
          <a:xfrm>
            <a:off x="859536" y="3483864"/>
            <a:ext cx="49149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5363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Connected tools and facts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6176772" y="2971800"/>
            <a:ext cx="5317236" cy="1170432"/>
          </a:xfrm>
          <a:prstGeom prst="roundRect">
            <a:avLst>
              <a:gd name="adj" fmla="val 6250"/>
            </a:avLst>
          </a:prstGeom>
          <a:solidFill>
            <a:srgbClr val="EBE3F5"/>
          </a:solidFill>
          <a:ln w="12700">
            <a:solidFill>
              <a:srgbClr val="EBE3F5">
                <a:alpha val="0"/>
              </a:srgbClr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377940" y="3136392"/>
            <a:ext cx="49149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B2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Figma</a:t>
            </a:r>
            <a:endParaRPr lang="en-US" sz="1700" dirty="0"/>
          </a:p>
        </p:txBody>
      </p:sp>
      <p:sp>
        <p:nvSpPr>
          <p:cNvPr id="16" name="Text 13"/>
          <p:cNvSpPr/>
          <p:nvPr/>
        </p:nvSpPr>
        <p:spPr>
          <a:xfrm>
            <a:off x="6377940" y="3483864"/>
            <a:ext cx="49149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5363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design context</a:t>
            </a:r>
            <a:endParaRPr lang="en-US" sz="1250" dirty="0"/>
          </a:p>
        </p:txBody>
      </p:sp>
      <p:sp>
        <p:nvSpPr>
          <p:cNvPr id="17" name="Shape 14"/>
          <p:cNvSpPr/>
          <p:nvPr/>
        </p:nvSpPr>
        <p:spPr>
          <a:xfrm>
            <a:off x="658368" y="4343400"/>
            <a:ext cx="5317236" cy="1170432"/>
          </a:xfrm>
          <a:prstGeom prst="roundRect">
            <a:avLst>
              <a:gd name="adj" fmla="val 6250"/>
            </a:avLst>
          </a:prstGeom>
          <a:solidFill>
            <a:srgbClr val="EBE3F5"/>
          </a:solidFill>
          <a:ln w="12700">
            <a:solidFill>
              <a:srgbClr val="EBE3F5">
                <a:alpha val="0"/>
              </a:srgbClr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59536" y="4507992"/>
            <a:ext cx="49149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B2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Browser</a:t>
            </a:r>
            <a:endParaRPr lang="en-US" sz="1700" dirty="0"/>
          </a:p>
        </p:txBody>
      </p:sp>
      <p:sp>
        <p:nvSpPr>
          <p:cNvPr id="19" name="Text 16"/>
          <p:cNvSpPr/>
          <p:nvPr/>
        </p:nvSpPr>
        <p:spPr>
          <a:xfrm>
            <a:off x="859536" y="4855464"/>
            <a:ext cx="49149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5363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Visible evidence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64808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7848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02920" y="320040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160" kern="0" dirty="0">
                <a:solidFill>
                  <a:srgbClr val="F47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3</a:t>
            </a:r>
            <a:endParaRPr lang="en-US" sz="1000" dirty="0"/>
          </a:p>
        </p:txBody>
      </p:sp>
      <p:sp>
        <p:nvSpPr>
          <p:cNvPr id="4" name="Text 1"/>
          <p:cNvSpPr/>
          <p:nvPr/>
        </p:nvSpPr>
        <p:spPr>
          <a:xfrm>
            <a:off x="502920" y="713232"/>
            <a:ext cx="10789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1B2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the official Modus one-step setup.</a:t>
            </a:r>
            <a:endParaRPr lang="en-US" sz="3100" dirty="0"/>
          </a:p>
        </p:txBody>
      </p:sp>
      <p:sp>
        <p:nvSpPr>
          <p:cNvPr id="5" name="Text 2"/>
          <p:cNvSpPr/>
          <p:nvPr/>
        </p:nvSpPr>
        <p:spPr>
          <a:xfrm>
            <a:off x="685800" y="1965960"/>
            <a:ext cx="1078992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47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prompt installs the Docs MCP, user rules, and user skills.</a:t>
            </a:r>
            <a:endParaRPr lang="en-US" sz="3800" dirty="0"/>
          </a:p>
        </p:txBody>
      </p:sp>
      <p:sp>
        <p:nvSpPr>
          <p:cNvPr id="6" name="Text 3"/>
          <p:cNvSpPr/>
          <p:nvPr/>
        </p:nvSpPr>
        <p:spPr>
          <a:xfrm>
            <a:off x="658368" y="6108192"/>
            <a:ext cx="10607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i="1" dirty="0">
                <a:solidFill>
                  <a:srgbClr val="5363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modus.trimble.com/setup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64808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7848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28</a:t>
            </a:fld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02920" y="320040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160" kern="0" dirty="0">
                <a:solidFill>
                  <a:srgbClr val="F47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3</a:t>
            </a:r>
            <a:endParaRPr lang="en-US" sz="1000" dirty="0"/>
          </a:p>
        </p:txBody>
      </p:sp>
      <p:sp>
        <p:nvSpPr>
          <p:cNvPr id="4" name="Text 1"/>
          <p:cNvSpPr/>
          <p:nvPr/>
        </p:nvSpPr>
        <p:spPr>
          <a:xfrm>
            <a:off x="502920" y="713232"/>
            <a:ext cx="10789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1B2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Rules are permanent guardrails.</a:t>
            </a:r>
            <a:endParaRPr lang="en-US" sz="3100" dirty="0"/>
          </a:p>
        </p:txBody>
      </p:sp>
      <p:sp>
        <p:nvSpPr>
          <p:cNvPr id="5" name="Shape 2"/>
          <p:cNvSpPr/>
          <p:nvPr/>
        </p:nvSpPr>
        <p:spPr>
          <a:xfrm>
            <a:off x="658368" y="1691640"/>
            <a:ext cx="5317236" cy="117043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59536" y="1856232"/>
            <a:ext cx="49149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B2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Modus components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6176772" y="1691640"/>
            <a:ext cx="5317236" cy="117043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377940" y="1856232"/>
            <a:ext cx="49149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B2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Follow accessible patterns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658368" y="3063240"/>
            <a:ext cx="5317236" cy="117043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59536" y="3227832"/>
            <a:ext cx="49149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B2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semantic tokens</a:t>
            </a:r>
            <a:endParaRPr lang="en-US" sz="1800" dirty="0"/>
          </a:p>
        </p:txBody>
      </p:sp>
      <p:sp>
        <p:nvSpPr>
          <p:cNvPr id="11" name="Shape 8"/>
          <p:cNvSpPr/>
          <p:nvPr/>
        </p:nvSpPr>
        <p:spPr>
          <a:xfrm>
            <a:off x="6176772" y="3063240"/>
            <a:ext cx="5317236" cy="117043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377940" y="3227832"/>
            <a:ext cx="49149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B2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Avoid custom-CSS drift</a:t>
            </a:r>
            <a:endParaRPr lang="en-US" sz="1800" dirty="0"/>
          </a:p>
        </p:txBody>
      </p:sp>
      <p:sp>
        <p:nvSpPr>
          <p:cNvPr id="13" name="Shape 10"/>
          <p:cNvSpPr/>
          <p:nvPr/>
        </p:nvSpPr>
        <p:spPr>
          <a:xfrm>
            <a:off x="658368" y="4434840"/>
            <a:ext cx="5317236" cy="117043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59536" y="4599432"/>
            <a:ext cx="49149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B2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Respect framework integration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64808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7848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29</a:t>
            </a:fld>
            <a:endParaRPr 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02920" y="320040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160" kern="0" dirty="0">
                <a:solidFill>
                  <a:srgbClr val="F47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3</a:t>
            </a:r>
            <a:endParaRPr lang="en-US" sz="1000" dirty="0"/>
          </a:p>
        </p:txBody>
      </p:sp>
      <p:sp>
        <p:nvSpPr>
          <p:cNvPr id="4" name="Text 1"/>
          <p:cNvSpPr/>
          <p:nvPr/>
        </p:nvSpPr>
        <p:spPr>
          <a:xfrm>
            <a:off x="502920" y="713232"/>
            <a:ext cx="10789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1B2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Skills are recipes for recurring work.</a:t>
            </a:r>
            <a:endParaRPr lang="en-US" sz="3100" dirty="0"/>
          </a:p>
        </p:txBody>
      </p:sp>
      <p:sp>
        <p:nvSpPr>
          <p:cNvPr id="5" name="Shape 2"/>
          <p:cNvSpPr/>
          <p:nvPr/>
        </p:nvSpPr>
        <p:spPr>
          <a:xfrm>
            <a:off x="658368" y="1691640"/>
            <a:ext cx="5317236" cy="117043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59536" y="1856232"/>
            <a:ext cx="49149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B2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Look up component contracts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6176772" y="1691640"/>
            <a:ext cx="5317236" cy="117043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377940" y="1856232"/>
            <a:ext cx="49149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B2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forms and tables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658368" y="3063240"/>
            <a:ext cx="5317236" cy="117043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59536" y="3227832"/>
            <a:ext cx="49149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B2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icons correctly</a:t>
            </a:r>
            <a:endParaRPr lang="en-US" sz="1800" dirty="0"/>
          </a:p>
        </p:txBody>
      </p:sp>
      <p:sp>
        <p:nvSpPr>
          <p:cNvPr id="11" name="Shape 8"/>
          <p:cNvSpPr/>
          <p:nvPr/>
        </p:nvSpPr>
        <p:spPr>
          <a:xfrm>
            <a:off x="6176772" y="3063240"/>
            <a:ext cx="5317236" cy="117043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377940" y="3227832"/>
            <a:ext cx="49149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B2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Apply Blueprint patterns</a:t>
            </a:r>
            <a:endParaRPr lang="en-US" sz="1800" dirty="0"/>
          </a:p>
        </p:txBody>
      </p:sp>
      <p:sp>
        <p:nvSpPr>
          <p:cNvPr id="13" name="Shape 10"/>
          <p:cNvSpPr/>
          <p:nvPr/>
        </p:nvSpPr>
        <p:spPr>
          <a:xfrm>
            <a:off x="658368" y="4434840"/>
            <a:ext cx="5317236" cy="117043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59536" y="4599432"/>
            <a:ext cx="49149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B2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Handle modal and navigation workflows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64808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7848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30</a:t>
            </a:fld>
            <a:endParaRPr 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02920" y="320040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160" kern="0" dirty="0">
                <a:solidFill>
                  <a:srgbClr val="F47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3</a:t>
            </a:r>
            <a:endParaRPr lang="en-US" sz="1000" dirty="0"/>
          </a:p>
        </p:txBody>
      </p:sp>
      <p:sp>
        <p:nvSpPr>
          <p:cNvPr id="4" name="Text 1"/>
          <p:cNvSpPr/>
          <p:nvPr/>
        </p:nvSpPr>
        <p:spPr>
          <a:xfrm>
            <a:off x="502920" y="713232"/>
            <a:ext cx="10789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1B2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MCP connects Agent to live tools and facts.</a:t>
            </a:r>
            <a:endParaRPr lang="en-US" sz="3100" dirty="0"/>
          </a:p>
        </p:txBody>
      </p:sp>
      <p:sp>
        <p:nvSpPr>
          <p:cNvPr id="5" name="Shape 2"/>
          <p:cNvSpPr/>
          <p:nvPr/>
        </p:nvSpPr>
        <p:spPr>
          <a:xfrm>
            <a:off x="658368" y="1691640"/>
            <a:ext cx="5317236" cy="117043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59536" y="1856232"/>
            <a:ext cx="49149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B2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Modus Docs MCP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6176772" y="1691640"/>
            <a:ext cx="5317236" cy="117043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377940" y="1856232"/>
            <a:ext cx="49149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B2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Official Figma MCP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658368" y="3063240"/>
            <a:ext cx="5317236" cy="117043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59536" y="3227832"/>
            <a:ext cx="49149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B2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Optional Notion / Linear / GitHub</a:t>
            </a:r>
            <a:endParaRPr lang="en-US" sz="1800" dirty="0"/>
          </a:p>
        </p:txBody>
      </p:sp>
      <p:sp>
        <p:nvSpPr>
          <p:cNvPr id="11" name="Shape 8"/>
          <p:cNvSpPr/>
          <p:nvPr/>
        </p:nvSpPr>
        <p:spPr>
          <a:xfrm>
            <a:off x="6176772" y="3063240"/>
            <a:ext cx="5317236" cy="117043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377940" y="3227832"/>
            <a:ext cx="49149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B2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Version-aware component guidance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64808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7848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31</a:t>
            </a:fld>
            <a:endParaRPr 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02920" y="320040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160" kern="0" dirty="0">
                <a:solidFill>
                  <a:srgbClr val="F47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3</a:t>
            </a:r>
            <a:endParaRPr lang="en-US" sz="1000" dirty="0"/>
          </a:p>
        </p:txBody>
      </p:sp>
      <p:sp>
        <p:nvSpPr>
          <p:cNvPr id="4" name="Text 1"/>
          <p:cNvSpPr/>
          <p:nvPr/>
        </p:nvSpPr>
        <p:spPr>
          <a:xfrm>
            <a:off x="502920" y="713232"/>
            <a:ext cx="10789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1B2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Figma → Agent → Modus-aware implementation</a:t>
            </a:r>
            <a:endParaRPr lang="en-US" sz="3100" dirty="0"/>
          </a:p>
        </p:txBody>
      </p:sp>
      <p:sp>
        <p:nvSpPr>
          <p:cNvPr id="5" name="Shape 2"/>
          <p:cNvSpPr/>
          <p:nvPr/>
        </p:nvSpPr>
        <p:spPr>
          <a:xfrm>
            <a:off x="658368" y="2148840"/>
            <a:ext cx="1714500" cy="960120"/>
          </a:xfrm>
          <a:prstGeom prst="roundRect">
            <a:avLst>
              <a:gd name="adj" fmla="val 7619"/>
            </a:avLst>
          </a:prstGeom>
          <a:solidFill>
            <a:srgbClr val="DDEFE6"/>
          </a:solidFill>
          <a:ln w="12700">
            <a:solidFill>
              <a:srgbClr val="DDEFE6">
                <a:alpha val="0"/>
              </a:srgbClr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68096" y="2276856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47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768096" y="2542032"/>
            <a:ext cx="14950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90" b="1" dirty="0">
                <a:solidFill>
                  <a:srgbClr val="1B2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Modus 2.0 library</a:t>
            </a:r>
            <a:endParaRPr lang="en-US" sz="1390" dirty="0"/>
          </a:p>
        </p:txBody>
      </p:sp>
      <p:sp>
        <p:nvSpPr>
          <p:cNvPr id="8" name="Shape 5"/>
          <p:cNvSpPr/>
          <p:nvPr/>
        </p:nvSpPr>
        <p:spPr>
          <a:xfrm>
            <a:off x="2482596" y="2148840"/>
            <a:ext cx="1714500" cy="960120"/>
          </a:xfrm>
          <a:prstGeom prst="roundRect">
            <a:avLst>
              <a:gd name="adj" fmla="val 7619"/>
            </a:avLst>
          </a:prstGeom>
          <a:solidFill>
            <a:srgbClr val="D9EBF7"/>
          </a:solidFill>
          <a:ln w="12700">
            <a:solidFill>
              <a:srgbClr val="D9EBF7">
                <a:alpha val="0"/>
              </a:srgbClr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2592324" y="2276856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47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2592324" y="2542032"/>
            <a:ext cx="14950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90" b="1" dirty="0">
                <a:solidFill>
                  <a:srgbClr val="1B2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Copy link to selection</a:t>
            </a:r>
            <a:endParaRPr lang="en-US" sz="1390" dirty="0"/>
          </a:p>
        </p:txBody>
      </p:sp>
      <p:sp>
        <p:nvSpPr>
          <p:cNvPr id="11" name="Shape 8"/>
          <p:cNvSpPr/>
          <p:nvPr/>
        </p:nvSpPr>
        <p:spPr>
          <a:xfrm>
            <a:off x="4306824" y="2148840"/>
            <a:ext cx="1714500" cy="960120"/>
          </a:xfrm>
          <a:prstGeom prst="roundRect">
            <a:avLst>
              <a:gd name="adj" fmla="val 7619"/>
            </a:avLst>
          </a:prstGeom>
          <a:solidFill>
            <a:srgbClr val="DDEFE6"/>
          </a:solidFill>
          <a:ln w="12700">
            <a:solidFill>
              <a:srgbClr val="DDEFE6">
                <a:alpha val="0"/>
              </a:srgbClr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416552" y="2276856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47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4416552" y="2542032"/>
            <a:ext cx="14950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90" b="1" dirty="0">
                <a:solidFill>
                  <a:srgbClr val="1B2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Paste into Agent</a:t>
            </a:r>
            <a:endParaRPr lang="en-US" sz="1390" dirty="0"/>
          </a:p>
        </p:txBody>
      </p:sp>
      <p:sp>
        <p:nvSpPr>
          <p:cNvPr id="14" name="Shape 11"/>
          <p:cNvSpPr/>
          <p:nvPr/>
        </p:nvSpPr>
        <p:spPr>
          <a:xfrm>
            <a:off x="6131052" y="2148840"/>
            <a:ext cx="1714500" cy="960120"/>
          </a:xfrm>
          <a:prstGeom prst="roundRect">
            <a:avLst>
              <a:gd name="adj" fmla="val 7619"/>
            </a:avLst>
          </a:prstGeom>
          <a:solidFill>
            <a:srgbClr val="D9EBF7"/>
          </a:solidFill>
          <a:ln w="12700">
            <a:solidFill>
              <a:srgbClr val="D9EBF7">
                <a:alpha val="0"/>
              </a:srgbClr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240780" y="2276856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47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6240780" y="2542032"/>
            <a:ext cx="14950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90" b="1" dirty="0">
                <a:solidFill>
                  <a:srgbClr val="1B2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Name user goal + states</a:t>
            </a:r>
            <a:endParaRPr lang="en-US" sz="1390" dirty="0"/>
          </a:p>
        </p:txBody>
      </p:sp>
      <p:sp>
        <p:nvSpPr>
          <p:cNvPr id="17" name="Shape 14"/>
          <p:cNvSpPr/>
          <p:nvPr/>
        </p:nvSpPr>
        <p:spPr>
          <a:xfrm>
            <a:off x="7955280" y="2148840"/>
            <a:ext cx="1714500" cy="960120"/>
          </a:xfrm>
          <a:prstGeom prst="roundRect">
            <a:avLst>
              <a:gd name="adj" fmla="val 7619"/>
            </a:avLst>
          </a:prstGeom>
          <a:solidFill>
            <a:srgbClr val="DDEFE6"/>
          </a:solidFill>
          <a:ln w="12700">
            <a:solidFill>
              <a:srgbClr val="DDEFE6">
                <a:alpha val="0"/>
              </a:srgbClr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065008" y="2276856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47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8065008" y="2542032"/>
            <a:ext cx="14950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90" b="1" dirty="0">
                <a:solidFill>
                  <a:srgbClr val="1B2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 in Browser</a:t>
            </a:r>
            <a:endParaRPr lang="en-US" sz="1390" dirty="0"/>
          </a:p>
        </p:txBody>
      </p:sp>
      <p:sp>
        <p:nvSpPr>
          <p:cNvPr id="20" name="Shape 17"/>
          <p:cNvSpPr/>
          <p:nvPr/>
        </p:nvSpPr>
        <p:spPr>
          <a:xfrm>
            <a:off x="9779508" y="2148840"/>
            <a:ext cx="1714500" cy="960120"/>
          </a:xfrm>
          <a:prstGeom prst="roundRect">
            <a:avLst>
              <a:gd name="adj" fmla="val 7619"/>
            </a:avLst>
          </a:prstGeom>
          <a:solidFill>
            <a:srgbClr val="D9EBF7"/>
          </a:solidFill>
          <a:ln w="12700">
            <a:solidFill>
              <a:srgbClr val="D9EBF7">
                <a:alpha val="0"/>
              </a:srgbClr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889236" y="2276856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47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9889236" y="2542032"/>
            <a:ext cx="14950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90" b="1" dirty="0">
                <a:solidFill>
                  <a:srgbClr val="1B2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Compare and revise</a:t>
            </a:r>
            <a:endParaRPr lang="en-US" sz="1390" dirty="0"/>
          </a:p>
        </p:txBody>
      </p:sp>
      <p:sp>
        <p:nvSpPr>
          <p:cNvPr id="23" name="Text 20"/>
          <p:cNvSpPr/>
          <p:nvPr/>
        </p:nvSpPr>
        <p:spPr>
          <a:xfrm>
            <a:off x="658368" y="6108192"/>
            <a:ext cx="10607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i="1" dirty="0">
                <a:solidFill>
                  <a:srgbClr val="5363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Install the official Figma plugin in Agent: /add-plugin figma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64808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7848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32</a:t>
            </a:fld>
            <a:endParaRPr lang="en-US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02920" y="320040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160" kern="0" dirty="0">
                <a:solidFill>
                  <a:srgbClr val="F47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3</a:t>
            </a:r>
            <a:endParaRPr lang="en-US" sz="1000" dirty="0"/>
          </a:p>
        </p:txBody>
      </p:sp>
      <p:sp>
        <p:nvSpPr>
          <p:cNvPr id="4" name="Text 1"/>
          <p:cNvSpPr/>
          <p:nvPr/>
        </p:nvSpPr>
        <p:spPr>
          <a:xfrm>
            <a:off x="502920" y="713232"/>
            <a:ext cx="10789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1B2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Useful additions—only when they match the work</a:t>
            </a:r>
            <a:endParaRPr lang="en-US" sz="3100" dirty="0"/>
          </a:p>
        </p:txBody>
      </p:sp>
      <p:sp>
        <p:nvSpPr>
          <p:cNvPr id="5" name="Shape 2"/>
          <p:cNvSpPr/>
          <p:nvPr/>
        </p:nvSpPr>
        <p:spPr>
          <a:xfrm>
            <a:off x="658368" y="1600200"/>
            <a:ext cx="5317236" cy="117043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59536" y="1764792"/>
            <a:ext cx="49149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B2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Notion MCP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859536" y="2112264"/>
            <a:ext cx="49149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5363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Bring requirements into Agent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6176772" y="1600200"/>
            <a:ext cx="5317236" cy="117043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377940" y="1764792"/>
            <a:ext cx="49149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B2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Linear / Jira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6377940" y="2112264"/>
            <a:ext cx="49149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5363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tickets as the brief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658368" y="2971800"/>
            <a:ext cx="5317236" cy="117043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59536" y="3136392"/>
            <a:ext cx="49149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B2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 MCP</a:t>
            </a:r>
            <a:endParaRPr lang="en-US" sz="1700" dirty="0"/>
          </a:p>
        </p:txBody>
      </p:sp>
      <p:sp>
        <p:nvSpPr>
          <p:cNvPr id="13" name="Text 10"/>
          <p:cNvSpPr/>
          <p:nvPr/>
        </p:nvSpPr>
        <p:spPr>
          <a:xfrm>
            <a:off x="859536" y="3483864"/>
            <a:ext cx="49149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5363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 project work and later delivery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6176772" y="2971800"/>
            <a:ext cx="5317236" cy="117043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377940" y="3136392"/>
            <a:ext cx="49149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B2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Image generation</a:t>
            </a:r>
            <a:endParaRPr lang="en-US" sz="1700" dirty="0"/>
          </a:p>
        </p:txBody>
      </p:sp>
      <p:sp>
        <p:nvSpPr>
          <p:cNvPr id="16" name="Text 13"/>
          <p:cNvSpPr/>
          <p:nvPr/>
        </p:nvSpPr>
        <p:spPr>
          <a:xfrm>
            <a:off x="6377940" y="3483864"/>
            <a:ext cx="49149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5363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Temporary concept assets</a:t>
            </a:r>
            <a:endParaRPr lang="en-US" sz="1250" dirty="0"/>
          </a:p>
        </p:txBody>
      </p:sp>
      <p:sp>
        <p:nvSpPr>
          <p:cNvPr id="17" name="Shape 14"/>
          <p:cNvSpPr/>
          <p:nvPr/>
        </p:nvSpPr>
        <p:spPr>
          <a:xfrm>
            <a:off x="658368" y="4343400"/>
            <a:ext cx="5317236" cy="117043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59536" y="4507992"/>
            <a:ext cx="49149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B2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marketplace</a:t>
            </a:r>
            <a:endParaRPr lang="en-US" sz="1700" dirty="0"/>
          </a:p>
        </p:txBody>
      </p:sp>
      <p:sp>
        <p:nvSpPr>
          <p:cNvPr id="19" name="Text 16"/>
          <p:cNvSpPr/>
          <p:nvPr/>
        </p:nvSpPr>
        <p:spPr>
          <a:xfrm>
            <a:off x="859536" y="4855464"/>
            <a:ext cx="49149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5363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Approved shared plugins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64808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7848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33</a:t>
            </a:fld>
            <a:endParaRPr lang="en-US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02920" y="320040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160" kern="0" dirty="0">
                <a:solidFill>
                  <a:srgbClr val="F47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3</a:t>
            </a:r>
            <a:endParaRPr lang="en-US" sz="1000" dirty="0"/>
          </a:p>
        </p:txBody>
      </p:sp>
      <p:sp>
        <p:nvSpPr>
          <p:cNvPr id="4" name="Text 1"/>
          <p:cNvSpPr/>
          <p:nvPr/>
        </p:nvSpPr>
        <p:spPr>
          <a:xfrm>
            <a:off x="502920" y="713232"/>
            <a:ext cx="10789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1B2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3 big assessment</a:t>
            </a:r>
            <a:endParaRPr lang="en-US" sz="3100" dirty="0"/>
          </a:p>
        </p:txBody>
      </p:sp>
      <p:sp>
        <p:nvSpPr>
          <p:cNvPr id="5" name="Shape 2"/>
          <p:cNvSpPr/>
          <p:nvPr/>
        </p:nvSpPr>
        <p:spPr>
          <a:xfrm>
            <a:off x="868680" y="1691640"/>
            <a:ext cx="5257800" cy="749808"/>
          </a:xfrm>
          <a:prstGeom prst="roundRect">
            <a:avLst>
              <a:gd name="adj" fmla="val 9756"/>
            </a:avLst>
          </a:prstGeom>
          <a:solidFill>
            <a:srgbClr val="DDEFE6"/>
          </a:solidFill>
          <a:ln w="12700">
            <a:solidFill>
              <a:srgbClr val="DDEFE6">
                <a:alpha val="0"/>
              </a:srgbClr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1033272" y="1874520"/>
            <a:ext cx="310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D7A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1490472" y="1828800"/>
            <a:ext cx="4434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1B2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Official Modus setup completed</a:t>
            </a:r>
            <a:endParaRPr lang="en-US" sz="1450" dirty="0"/>
          </a:p>
        </p:txBody>
      </p:sp>
      <p:sp>
        <p:nvSpPr>
          <p:cNvPr id="8" name="Shape 5"/>
          <p:cNvSpPr/>
          <p:nvPr/>
        </p:nvSpPr>
        <p:spPr>
          <a:xfrm>
            <a:off x="6355080" y="1691640"/>
            <a:ext cx="5257800" cy="749808"/>
          </a:xfrm>
          <a:prstGeom prst="roundRect">
            <a:avLst>
              <a:gd name="adj" fmla="val 9756"/>
            </a:avLst>
          </a:prstGeom>
          <a:solidFill>
            <a:srgbClr val="DDEFE6"/>
          </a:solidFill>
          <a:ln w="12700">
            <a:solidFill>
              <a:srgbClr val="DDEFE6">
                <a:alpha val="0"/>
              </a:srgbClr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519672" y="1874520"/>
            <a:ext cx="310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D7A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6976872" y="1828800"/>
            <a:ext cx="4434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1B2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Figma plugin/MCP is connected</a:t>
            </a:r>
            <a:endParaRPr lang="en-US" sz="1450" dirty="0"/>
          </a:p>
        </p:txBody>
      </p:sp>
      <p:sp>
        <p:nvSpPr>
          <p:cNvPr id="11" name="Shape 8"/>
          <p:cNvSpPr/>
          <p:nvPr/>
        </p:nvSpPr>
        <p:spPr>
          <a:xfrm>
            <a:off x="868680" y="2849880"/>
            <a:ext cx="5257800" cy="749808"/>
          </a:xfrm>
          <a:prstGeom prst="roundRect">
            <a:avLst>
              <a:gd name="adj" fmla="val 9756"/>
            </a:avLst>
          </a:prstGeom>
          <a:solidFill>
            <a:srgbClr val="DDEFE6"/>
          </a:solidFill>
          <a:ln w="12700">
            <a:solidFill>
              <a:srgbClr val="DDEFE6">
                <a:alpha val="0"/>
              </a:srgbClr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033272" y="3032760"/>
            <a:ext cx="310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D7A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1490472" y="2987040"/>
            <a:ext cx="4434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1B2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Figma selection—not only a screenshot—was used</a:t>
            </a:r>
            <a:endParaRPr lang="en-US" sz="1450" dirty="0"/>
          </a:p>
        </p:txBody>
      </p:sp>
      <p:sp>
        <p:nvSpPr>
          <p:cNvPr id="14" name="Shape 11"/>
          <p:cNvSpPr/>
          <p:nvPr/>
        </p:nvSpPr>
        <p:spPr>
          <a:xfrm>
            <a:off x="6355080" y="2849880"/>
            <a:ext cx="5257800" cy="749808"/>
          </a:xfrm>
          <a:prstGeom prst="roundRect">
            <a:avLst>
              <a:gd name="adj" fmla="val 9756"/>
            </a:avLst>
          </a:prstGeom>
          <a:solidFill>
            <a:srgbClr val="DDEFE6"/>
          </a:solidFill>
          <a:ln w="12700">
            <a:solidFill>
              <a:srgbClr val="DDEFE6">
                <a:alpha val="0"/>
              </a:srgbClr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519672" y="3032760"/>
            <a:ext cx="310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D7A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6976872" y="2987040"/>
            <a:ext cx="4434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1B2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verifies the app in Browser</a:t>
            </a:r>
            <a:endParaRPr lang="en-US" sz="1450" dirty="0"/>
          </a:p>
        </p:txBody>
      </p:sp>
      <p:sp>
        <p:nvSpPr>
          <p:cNvPr id="17" name="Shape 14"/>
          <p:cNvSpPr/>
          <p:nvPr/>
        </p:nvSpPr>
        <p:spPr>
          <a:xfrm>
            <a:off x="868680" y="4008120"/>
            <a:ext cx="5257800" cy="749808"/>
          </a:xfrm>
          <a:prstGeom prst="roundRect">
            <a:avLst>
              <a:gd name="adj" fmla="val 9756"/>
            </a:avLst>
          </a:prstGeom>
          <a:solidFill>
            <a:srgbClr val="DDEFE6"/>
          </a:solidFill>
          <a:ln w="12700">
            <a:solidFill>
              <a:srgbClr val="DDEFE6">
                <a:alpha val="0"/>
              </a:srgbClr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1033272" y="4191000"/>
            <a:ext cx="310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D7A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1490472" y="4145280"/>
            <a:ext cx="4434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1B2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Participant restores one Checkpoint</a:t>
            </a:r>
            <a:endParaRPr lang="en-US" sz="1450" dirty="0"/>
          </a:p>
        </p:txBody>
      </p:sp>
      <p:sp>
        <p:nvSpPr>
          <p:cNvPr id="20" name="Shape 17"/>
          <p:cNvSpPr/>
          <p:nvPr/>
        </p:nvSpPr>
        <p:spPr>
          <a:xfrm>
            <a:off x="6355080" y="4008120"/>
            <a:ext cx="5257800" cy="749808"/>
          </a:xfrm>
          <a:prstGeom prst="roundRect">
            <a:avLst>
              <a:gd name="adj" fmla="val 9756"/>
            </a:avLst>
          </a:prstGeom>
          <a:solidFill>
            <a:srgbClr val="DDEFE6"/>
          </a:solidFill>
          <a:ln w="12700">
            <a:solidFill>
              <a:srgbClr val="DDEFE6">
                <a:alpha val="0"/>
              </a:srgbClr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6519672" y="4191000"/>
            <a:ext cx="310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D7A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2" name="Text 19"/>
          <p:cNvSpPr/>
          <p:nvPr/>
        </p:nvSpPr>
        <p:spPr>
          <a:xfrm>
            <a:off x="6976872" y="4145280"/>
            <a:ext cx="4434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1B2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Interaction still works</a:t>
            </a:r>
            <a:endParaRPr lang="en-US" sz="1450" dirty="0"/>
          </a:p>
        </p:txBody>
      </p:sp>
      <p:sp>
        <p:nvSpPr>
          <p:cNvPr id="23" name="Text 20"/>
          <p:cNvSpPr/>
          <p:nvPr/>
        </p:nvSpPr>
        <p:spPr>
          <a:xfrm>
            <a:off x="868680" y="5806440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D7A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After this gate: ready to do AI independently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64808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7848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34</a:t>
            </a:fld>
            <a:endParaRPr lang="en-US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02920" y="320040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160" kern="0" dirty="0">
                <a:solidFill>
                  <a:srgbClr val="F47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3</a:t>
            </a:r>
            <a:endParaRPr lang="en-US" sz="1000" dirty="0"/>
          </a:p>
        </p:txBody>
      </p:sp>
      <p:sp>
        <p:nvSpPr>
          <p:cNvPr id="4" name="Text 1"/>
          <p:cNvSpPr/>
          <p:nvPr/>
        </p:nvSpPr>
        <p:spPr>
          <a:xfrm>
            <a:off x="502920" y="713232"/>
            <a:ext cx="10789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1B2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1 reflection + Q&amp;A</a:t>
            </a:r>
            <a:endParaRPr lang="en-US" sz="3100" dirty="0"/>
          </a:p>
        </p:txBody>
      </p:sp>
      <p:sp>
        <p:nvSpPr>
          <p:cNvPr id="5" name="Shape 2"/>
          <p:cNvSpPr/>
          <p:nvPr/>
        </p:nvSpPr>
        <p:spPr>
          <a:xfrm>
            <a:off x="658368" y="1737360"/>
            <a:ext cx="5317236" cy="117043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59536" y="1901952"/>
            <a:ext cx="49149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B2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did the brain change?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6176772" y="1737360"/>
            <a:ext cx="5317236" cy="117043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377940" y="1901952"/>
            <a:ext cx="49149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B2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did Agent guess?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658368" y="3108960"/>
            <a:ext cx="5317236" cy="117043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59536" y="3273552"/>
            <a:ext cx="49149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B2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did Browser prove?</a:t>
            </a:r>
            <a:endParaRPr lang="en-US" sz="1800" dirty="0"/>
          </a:p>
        </p:txBody>
      </p:sp>
      <p:sp>
        <p:nvSpPr>
          <p:cNvPr id="11" name="Shape 8"/>
          <p:cNvSpPr/>
          <p:nvPr/>
        </p:nvSpPr>
        <p:spPr>
          <a:xfrm>
            <a:off x="6176772" y="3108960"/>
            <a:ext cx="5317236" cy="117043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377940" y="3273552"/>
            <a:ext cx="49149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B2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remains a designer decision?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658368" y="6108192"/>
            <a:ext cx="10607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i="1" dirty="0">
                <a:solidFill>
                  <a:srgbClr val="5363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Tomorrow: use the company vehicle and raise the quality bar.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64808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7848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35</a:t>
            </a:fld>
            <a:endParaRPr lang="en-US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2D7A5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D7A58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 rot="1800000">
            <a:off x="7772400" y="-914400"/>
            <a:ext cx="5212080" cy="5212080"/>
          </a:xfrm>
          <a:prstGeom prst="arc">
            <a:avLst/>
          </a:prstGeom>
          <a:solidFill>
            <a:srgbClr val="F9C74F">
              <a:alpha val="98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731520" y="65836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9C7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4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731520" y="1828800"/>
            <a:ext cx="8961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4</a:t>
            </a:r>
            <a:endParaRPr lang="en-US" sz="4200" dirty="0"/>
          </a:p>
        </p:txBody>
      </p:sp>
      <p:sp>
        <p:nvSpPr>
          <p:cNvPr id="7" name="Text 4"/>
          <p:cNvSpPr/>
          <p:nvPr/>
        </p:nvSpPr>
        <p:spPr>
          <a:xfrm>
            <a:off x="749808" y="3090672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the production-quality Modus version</a:t>
            </a:r>
            <a:endParaRPr lang="en-US" sz="2400" dirty="0"/>
          </a:p>
        </p:txBody>
      </p:sp>
      <p:sp>
        <p:nvSpPr>
          <p:cNvPr id="8" name="Text 5"/>
          <p:cNvSpPr/>
          <p:nvPr/>
        </p:nvSpPr>
        <p:spPr>
          <a:xfrm>
            <a:off x="749808" y="5440680"/>
            <a:ext cx="5486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9C7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2 · Morning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64808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7848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36</a:t>
            </a:fld>
            <a:endParaRPr lang="en-US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02920" y="320040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160" kern="0" dirty="0">
                <a:solidFill>
                  <a:srgbClr val="2D7A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4</a:t>
            </a:r>
            <a:endParaRPr lang="en-US" sz="1000" dirty="0"/>
          </a:p>
        </p:txBody>
      </p:sp>
      <p:sp>
        <p:nvSpPr>
          <p:cNvPr id="4" name="Text 1"/>
          <p:cNvSpPr/>
          <p:nvPr/>
        </p:nvSpPr>
        <p:spPr>
          <a:xfrm>
            <a:off x="502920" y="713232"/>
            <a:ext cx="10789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1B2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Modus already built the road.</a:t>
            </a:r>
            <a:endParaRPr lang="en-US" sz="3100" dirty="0"/>
          </a:p>
        </p:txBody>
      </p:sp>
      <p:sp>
        <p:nvSpPr>
          <p:cNvPr id="5" name="Shape 2"/>
          <p:cNvSpPr/>
          <p:nvPr/>
        </p:nvSpPr>
        <p:spPr>
          <a:xfrm>
            <a:off x="658368" y="1600200"/>
            <a:ext cx="3477768" cy="117043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59536" y="1764792"/>
            <a:ext cx="30754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B2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Foundations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859536" y="2112264"/>
            <a:ext cx="307543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5363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Type, color, space, breakpoints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4337304" y="1600200"/>
            <a:ext cx="3477768" cy="117043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538472" y="1764792"/>
            <a:ext cx="30754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B2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Components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4538472" y="2112264"/>
            <a:ext cx="307543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5363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Production controls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8016240" y="1600200"/>
            <a:ext cx="3477768" cy="117043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217408" y="1764792"/>
            <a:ext cx="30754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B2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Patterns</a:t>
            </a:r>
            <a:endParaRPr lang="en-US" sz="1700" dirty="0"/>
          </a:p>
        </p:txBody>
      </p:sp>
      <p:sp>
        <p:nvSpPr>
          <p:cNvPr id="13" name="Text 10"/>
          <p:cNvSpPr/>
          <p:nvPr/>
        </p:nvSpPr>
        <p:spPr>
          <a:xfrm>
            <a:off x="8217408" y="2112264"/>
            <a:ext cx="307543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5363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Composable interactions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658368" y="2971800"/>
            <a:ext cx="3477768" cy="117043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59536" y="3136392"/>
            <a:ext cx="30754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B2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Templates</a:t>
            </a:r>
            <a:endParaRPr lang="en-US" sz="1700" dirty="0"/>
          </a:p>
        </p:txBody>
      </p:sp>
      <p:sp>
        <p:nvSpPr>
          <p:cNvPr id="16" name="Text 13"/>
          <p:cNvSpPr/>
          <p:nvPr/>
        </p:nvSpPr>
        <p:spPr>
          <a:xfrm>
            <a:off x="859536" y="3483864"/>
            <a:ext cx="307543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5363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structures</a:t>
            </a:r>
            <a:endParaRPr lang="en-US" sz="1250" dirty="0"/>
          </a:p>
        </p:txBody>
      </p:sp>
      <p:sp>
        <p:nvSpPr>
          <p:cNvPr id="17" name="Shape 14"/>
          <p:cNvSpPr/>
          <p:nvPr/>
        </p:nvSpPr>
        <p:spPr>
          <a:xfrm>
            <a:off x="4337304" y="2971800"/>
            <a:ext cx="3477768" cy="117043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538472" y="3136392"/>
            <a:ext cx="30754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B2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Figma libraries</a:t>
            </a:r>
            <a:endParaRPr lang="en-US" sz="1700" dirty="0"/>
          </a:p>
        </p:txBody>
      </p:sp>
      <p:sp>
        <p:nvSpPr>
          <p:cNvPr id="19" name="Text 16"/>
          <p:cNvSpPr/>
          <p:nvPr/>
        </p:nvSpPr>
        <p:spPr>
          <a:xfrm>
            <a:off x="4538472" y="3483864"/>
            <a:ext cx="307543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5363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 assets that match delivery</a:t>
            </a:r>
            <a:endParaRPr lang="en-US" sz="1250" dirty="0"/>
          </a:p>
        </p:txBody>
      </p:sp>
      <p:sp>
        <p:nvSpPr>
          <p:cNvPr id="20" name="Shape 17"/>
          <p:cNvSpPr/>
          <p:nvPr/>
        </p:nvSpPr>
        <p:spPr>
          <a:xfrm>
            <a:off x="8016240" y="2971800"/>
            <a:ext cx="3477768" cy="117043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8217408" y="3136392"/>
            <a:ext cx="30754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B2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tooling</a:t>
            </a:r>
            <a:endParaRPr lang="en-US" sz="1700" dirty="0"/>
          </a:p>
        </p:txBody>
      </p:sp>
      <p:sp>
        <p:nvSpPr>
          <p:cNvPr id="22" name="Text 19"/>
          <p:cNvSpPr/>
          <p:nvPr/>
        </p:nvSpPr>
        <p:spPr>
          <a:xfrm>
            <a:off x="8217408" y="3483864"/>
            <a:ext cx="307543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5363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Rules, skills, MCP, CLI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64808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7848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37</a:t>
            </a:fld>
            <a:endParaRPr lang="en-US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02920" y="320040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160" kern="0" dirty="0">
                <a:solidFill>
                  <a:srgbClr val="2D7A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4</a:t>
            </a:r>
            <a:endParaRPr lang="en-US" sz="1000" dirty="0"/>
          </a:p>
        </p:txBody>
      </p:sp>
      <p:sp>
        <p:nvSpPr>
          <p:cNvPr id="4" name="Text 1"/>
          <p:cNvSpPr/>
          <p:nvPr/>
        </p:nvSpPr>
        <p:spPr>
          <a:xfrm>
            <a:off x="502920" y="713232"/>
            <a:ext cx="10789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1B2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progressively larger building blocks.</a:t>
            </a:r>
            <a:endParaRPr lang="en-US" sz="3100" dirty="0"/>
          </a:p>
        </p:txBody>
      </p:sp>
      <p:sp>
        <p:nvSpPr>
          <p:cNvPr id="5" name="Shape 2"/>
          <p:cNvSpPr/>
          <p:nvPr/>
        </p:nvSpPr>
        <p:spPr>
          <a:xfrm>
            <a:off x="5093208" y="5394960"/>
            <a:ext cx="2011680" cy="548640"/>
          </a:xfrm>
          <a:prstGeom prst="roundRect">
            <a:avLst>
              <a:gd name="adj" fmla="val 13333"/>
            </a:avLst>
          </a:prstGeom>
          <a:solidFill>
            <a:srgbClr val="D9EBF7"/>
          </a:solidFill>
          <a:ln w="12700">
            <a:solidFill>
              <a:srgbClr val="D9EBF7">
                <a:alpha val="0"/>
              </a:srgbClr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202936" y="5486400"/>
            <a:ext cx="17922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2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Foundations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4384548" y="4681728"/>
            <a:ext cx="3429000" cy="548640"/>
          </a:xfrm>
          <a:prstGeom prst="roundRect">
            <a:avLst>
              <a:gd name="adj" fmla="val 13333"/>
            </a:avLst>
          </a:prstGeom>
          <a:solidFill>
            <a:srgbClr val="DDEFE6"/>
          </a:solidFill>
          <a:ln w="12700">
            <a:solidFill>
              <a:srgbClr val="DDEFE6">
                <a:alpha val="0"/>
              </a:srgbClr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494276" y="4773168"/>
            <a:ext cx="32095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2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Components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3675888" y="3968496"/>
            <a:ext cx="4846320" cy="548640"/>
          </a:xfrm>
          <a:prstGeom prst="roundRect">
            <a:avLst>
              <a:gd name="adj" fmla="val 13333"/>
            </a:avLst>
          </a:prstGeom>
          <a:solidFill>
            <a:srgbClr val="EBE3F5"/>
          </a:solidFill>
          <a:ln w="12700">
            <a:solidFill>
              <a:srgbClr val="EBE3F5">
                <a:alpha val="0"/>
              </a:srgbClr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785616" y="4059936"/>
            <a:ext cx="46268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2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Patterns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2967228" y="3255264"/>
            <a:ext cx="6263640" cy="548640"/>
          </a:xfrm>
          <a:prstGeom prst="roundRect">
            <a:avLst>
              <a:gd name="adj" fmla="val 13333"/>
            </a:avLst>
          </a:prstGeom>
          <a:solidFill>
            <a:srgbClr val="E8ECEF"/>
          </a:solidFill>
          <a:ln w="12700">
            <a:solidFill>
              <a:srgbClr val="E8ECEF">
                <a:alpha val="0"/>
              </a:srgbClr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3076956" y="3346704"/>
            <a:ext cx="6044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2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Templates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2258568" y="2542032"/>
            <a:ext cx="7680960" cy="548640"/>
          </a:xfrm>
          <a:prstGeom prst="roundRect">
            <a:avLst>
              <a:gd name="adj" fmla="val 13333"/>
            </a:avLst>
          </a:prstGeom>
          <a:solidFill>
            <a:srgbClr val="F9C74F"/>
          </a:solidFill>
          <a:ln w="12700">
            <a:solidFill>
              <a:srgbClr val="F9C74F">
                <a:alpha val="0"/>
              </a:srgbClr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2368296" y="2633472"/>
            <a:ext cx="74615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2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product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658368" y="6108192"/>
            <a:ext cx="10607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i="1" dirty="0">
                <a:solidFill>
                  <a:srgbClr val="5363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Adapt existing language. Do not ask Agent to invent a parallel design system.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64808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7848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38</a:t>
            </a:fld>
            <a:endParaRPr lang="en-US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02920" y="320040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160" kern="0" dirty="0">
                <a:solidFill>
                  <a:srgbClr val="2D7A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4</a:t>
            </a:r>
            <a:endParaRPr lang="en-US" sz="1000" dirty="0"/>
          </a:p>
        </p:txBody>
      </p:sp>
      <p:sp>
        <p:nvSpPr>
          <p:cNvPr id="4" name="Text 1"/>
          <p:cNvSpPr/>
          <p:nvPr/>
        </p:nvSpPr>
        <p:spPr>
          <a:xfrm>
            <a:off x="502920" y="713232"/>
            <a:ext cx="10789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1B2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Production quality is more than visual fidelity.</a:t>
            </a:r>
            <a:endParaRPr lang="en-US" sz="3100" dirty="0"/>
          </a:p>
        </p:txBody>
      </p:sp>
      <p:sp>
        <p:nvSpPr>
          <p:cNvPr id="5" name="Shape 2"/>
          <p:cNvSpPr/>
          <p:nvPr/>
        </p:nvSpPr>
        <p:spPr>
          <a:xfrm>
            <a:off x="658368" y="1691640"/>
            <a:ext cx="3477768" cy="117043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59536" y="1856232"/>
            <a:ext cx="307543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B2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Intentional task flow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4337304" y="1691640"/>
            <a:ext cx="3477768" cy="117043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538472" y="1856232"/>
            <a:ext cx="307543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B2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 states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8016240" y="1691640"/>
            <a:ext cx="3477768" cy="117043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217408" y="1856232"/>
            <a:ext cx="307543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B2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Modus components and tokens</a:t>
            </a:r>
            <a:endParaRPr lang="en-US" sz="1800" dirty="0"/>
          </a:p>
        </p:txBody>
      </p:sp>
      <p:sp>
        <p:nvSpPr>
          <p:cNvPr id="11" name="Shape 8"/>
          <p:cNvSpPr/>
          <p:nvPr/>
        </p:nvSpPr>
        <p:spPr>
          <a:xfrm>
            <a:off x="658368" y="3063240"/>
            <a:ext cx="3477768" cy="117043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59536" y="3227832"/>
            <a:ext cx="307543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B2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Responsive layout</a:t>
            </a:r>
            <a:endParaRPr lang="en-US" sz="1800" dirty="0"/>
          </a:p>
        </p:txBody>
      </p:sp>
      <p:sp>
        <p:nvSpPr>
          <p:cNvPr id="13" name="Shape 10"/>
          <p:cNvSpPr/>
          <p:nvPr/>
        </p:nvSpPr>
        <p:spPr>
          <a:xfrm>
            <a:off x="4337304" y="3063240"/>
            <a:ext cx="3477768" cy="117043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538472" y="3227832"/>
            <a:ext cx="307543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B2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Keyboard and visible focus</a:t>
            </a:r>
            <a:endParaRPr lang="en-US" sz="1800" dirty="0"/>
          </a:p>
        </p:txBody>
      </p:sp>
      <p:sp>
        <p:nvSpPr>
          <p:cNvPr id="15" name="Shape 12"/>
          <p:cNvSpPr/>
          <p:nvPr/>
        </p:nvSpPr>
        <p:spPr>
          <a:xfrm>
            <a:off x="8016240" y="3063240"/>
            <a:ext cx="3477768" cy="117043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8217408" y="3227832"/>
            <a:ext cx="307543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B2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Truthful data assumptions</a:t>
            </a:r>
            <a:endParaRPr lang="en-US" sz="1800" dirty="0"/>
          </a:p>
        </p:txBody>
      </p:sp>
      <p:sp>
        <p:nvSpPr>
          <p:cNvPr id="17" name="Shape 14"/>
          <p:cNvSpPr/>
          <p:nvPr/>
        </p:nvSpPr>
        <p:spPr>
          <a:xfrm>
            <a:off x="658368" y="4434840"/>
            <a:ext cx="3477768" cy="117043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59536" y="4599432"/>
            <a:ext cx="307543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B2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Shareable evidence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64808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7848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39</a:t>
            </a:fld>
            <a:endParaRPr lang="en-US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02920" y="320040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160" kern="0" dirty="0">
                <a:solidFill>
                  <a:srgbClr val="2D7A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4</a:t>
            </a:r>
            <a:endParaRPr lang="en-US" sz="1000" dirty="0"/>
          </a:p>
        </p:txBody>
      </p:sp>
      <p:sp>
        <p:nvSpPr>
          <p:cNvPr id="4" name="Text 1"/>
          <p:cNvSpPr/>
          <p:nvPr/>
        </p:nvSpPr>
        <p:spPr>
          <a:xfrm>
            <a:off x="502920" y="713232"/>
            <a:ext cx="10789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1B2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builds. Browser provides evidence.</a:t>
            </a:r>
            <a:endParaRPr lang="en-US" sz="3100" dirty="0"/>
          </a:p>
        </p:txBody>
      </p:sp>
      <p:sp>
        <p:nvSpPr>
          <p:cNvPr id="5" name="Shape 2"/>
          <p:cNvSpPr/>
          <p:nvPr/>
        </p:nvSpPr>
        <p:spPr>
          <a:xfrm>
            <a:off x="658368" y="2148840"/>
            <a:ext cx="1714500" cy="960120"/>
          </a:xfrm>
          <a:prstGeom prst="roundRect">
            <a:avLst>
              <a:gd name="adj" fmla="val 7619"/>
            </a:avLst>
          </a:prstGeom>
          <a:solidFill>
            <a:srgbClr val="DDEFE6"/>
          </a:solidFill>
          <a:ln w="12700">
            <a:solidFill>
              <a:srgbClr val="DDEFE6">
                <a:alpha val="0"/>
              </a:srgbClr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68096" y="2276856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D7A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768096" y="2542032"/>
            <a:ext cx="14950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90" b="1" dirty="0">
                <a:solidFill>
                  <a:srgbClr val="1B2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 the task</a:t>
            </a:r>
            <a:endParaRPr lang="en-US" sz="1390" dirty="0"/>
          </a:p>
        </p:txBody>
      </p:sp>
      <p:sp>
        <p:nvSpPr>
          <p:cNvPr id="8" name="Shape 5"/>
          <p:cNvSpPr/>
          <p:nvPr/>
        </p:nvSpPr>
        <p:spPr>
          <a:xfrm>
            <a:off x="2482596" y="2148840"/>
            <a:ext cx="1714500" cy="960120"/>
          </a:xfrm>
          <a:prstGeom prst="roundRect">
            <a:avLst>
              <a:gd name="adj" fmla="val 7619"/>
            </a:avLst>
          </a:prstGeom>
          <a:solidFill>
            <a:srgbClr val="D9EBF7"/>
          </a:solidFill>
          <a:ln w="12700">
            <a:solidFill>
              <a:srgbClr val="D9EBF7">
                <a:alpha val="0"/>
              </a:srgbClr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2592324" y="2276856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D7A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2592324" y="2542032"/>
            <a:ext cx="14950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90" b="1" dirty="0">
                <a:solidFill>
                  <a:srgbClr val="1B2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empty/loading/error/success</a:t>
            </a:r>
            <a:endParaRPr lang="en-US" sz="1390" dirty="0"/>
          </a:p>
        </p:txBody>
      </p:sp>
      <p:sp>
        <p:nvSpPr>
          <p:cNvPr id="11" name="Shape 8"/>
          <p:cNvSpPr/>
          <p:nvPr/>
        </p:nvSpPr>
        <p:spPr>
          <a:xfrm>
            <a:off x="4306824" y="2148840"/>
            <a:ext cx="1714500" cy="960120"/>
          </a:xfrm>
          <a:prstGeom prst="roundRect">
            <a:avLst>
              <a:gd name="adj" fmla="val 7619"/>
            </a:avLst>
          </a:prstGeom>
          <a:solidFill>
            <a:srgbClr val="DDEFE6"/>
          </a:solidFill>
          <a:ln w="12700">
            <a:solidFill>
              <a:srgbClr val="DDEFE6">
                <a:alpha val="0"/>
              </a:srgbClr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416552" y="2276856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D7A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4416552" y="2542032"/>
            <a:ext cx="14950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90" b="1" dirty="0">
                <a:solidFill>
                  <a:srgbClr val="1B2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keyboard only</a:t>
            </a:r>
            <a:endParaRPr lang="en-US" sz="1390" dirty="0"/>
          </a:p>
        </p:txBody>
      </p:sp>
      <p:sp>
        <p:nvSpPr>
          <p:cNvPr id="14" name="Shape 11"/>
          <p:cNvSpPr/>
          <p:nvPr/>
        </p:nvSpPr>
        <p:spPr>
          <a:xfrm>
            <a:off x="6131052" y="2148840"/>
            <a:ext cx="1714500" cy="960120"/>
          </a:xfrm>
          <a:prstGeom prst="roundRect">
            <a:avLst>
              <a:gd name="adj" fmla="val 7619"/>
            </a:avLst>
          </a:prstGeom>
          <a:solidFill>
            <a:srgbClr val="D9EBF7"/>
          </a:solidFill>
          <a:ln w="12700">
            <a:solidFill>
              <a:srgbClr val="D9EBF7">
                <a:alpha val="0"/>
              </a:srgbClr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240780" y="2276856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D7A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6240780" y="2542032"/>
            <a:ext cx="14950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90" b="1" dirty="0">
                <a:solidFill>
                  <a:srgbClr val="1B2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 narrow + wide</a:t>
            </a:r>
            <a:endParaRPr lang="en-US" sz="1390" dirty="0"/>
          </a:p>
        </p:txBody>
      </p:sp>
      <p:sp>
        <p:nvSpPr>
          <p:cNvPr id="17" name="Shape 14"/>
          <p:cNvSpPr/>
          <p:nvPr/>
        </p:nvSpPr>
        <p:spPr>
          <a:xfrm>
            <a:off x="7955280" y="2148840"/>
            <a:ext cx="1714500" cy="960120"/>
          </a:xfrm>
          <a:prstGeom prst="roundRect">
            <a:avLst>
              <a:gd name="adj" fmla="val 7619"/>
            </a:avLst>
          </a:prstGeom>
          <a:solidFill>
            <a:srgbClr val="DDEFE6"/>
          </a:solidFill>
          <a:ln w="12700">
            <a:solidFill>
              <a:srgbClr val="DDEFE6">
                <a:alpha val="0"/>
              </a:srgbClr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065008" y="2276856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D7A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8065008" y="2542032"/>
            <a:ext cx="14950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90" b="1" dirty="0">
                <a:solidFill>
                  <a:srgbClr val="1B2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Stress long content</a:t>
            </a:r>
            <a:endParaRPr lang="en-US" sz="1390" dirty="0"/>
          </a:p>
        </p:txBody>
      </p:sp>
      <p:sp>
        <p:nvSpPr>
          <p:cNvPr id="20" name="Shape 17"/>
          <p:cNvSpPr/>
          <p:nvPr/>
        </p:nvSpPr>
        <p:spPr>
          <a:xfrm>
            <a:off x="9779508" y="2148840"/>
            <a:ext cx="1714500" cy="960120"/>
          </a:xfrm>
          <a:prstGeom prst="roundRect">
            <a:avLst>
              <a:gd name="adj" fmla="val 7619"/>
            </a:avLst>
          </a:prstGeom>
          <a:solidFill>
            <a:srgbClr val="D9EBF7"/>
          </a:solidFill>
          <a:ln w="12700">
            <a:solidFill>
              <a:srgbClr val="D9EBF7">
                <a:alpha val="0"/>
              </a:srgbClr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889236" y="2276856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D7A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9889236" y="2542032"/>
            <a:ext cx="14950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90" b="1" dirty="0">
                <a:solidFill>
                  <a:srgbClr val="1B2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Re-test earlier behavior</a:t>
            </a:r>
            <a:endParaRPr lang="en-US" sz="139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64808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7848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40</a:t>
            </a:fld>
            <a:endParaRPr lang="en-US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02920" y="320040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160" kern="0" dirty="0">
                <a:solidFill>
                  <a:srgbClr val="2D7A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4</a:t>
            </a:r>
            <a:endParaRPr lang="en-US" sz="1000" dirty="0"/>
          </a:p>
        </p:txBody>
      </p:sp>
      <p:sp>
        <p:nvSpPr>
          <p:cNvPr id="4" name="Text 1"/>
          <p:cNvSpPr/>
          <p:nvPr/>
        </p:nvSpPr>
        <p:spPr>
          <a:xfrm>
            <a:off x="502920" y="713232"/>
            <a:ext cx="10789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1B2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Repair drill: evidence before instruction.</a:t>
            </a:r>
            <a:endParaRPr lang="en-US" sz="3100" dirty="0"/>
          </a:p>
        </p:txBody>
      </p:sp>
      <p:sp>
        <p:nvSpPr>
          <p:cNvPr id="5" name="Shape 2"/>
          <p:cNvSpPr/>
          <p:nvPr/>
        </p:nvSpPr>
        <p:spPr>
          <a:xfrm>
            <a:off x="658368" y="2148840"/>
            <a:ext cx="2079346" cy="960120"/>
          </a:xfrm>
          <a:prstGeom prst="roundRect">
            <a:avLst>
              <a:gd name="adj" fmla="val 7619"/>
            </a:avLst>
          </a:prstGeom>
          <a:solidFill>
            <a:srgbClr val="DDEFE6"/>
          </a:solidFill>
          <a:ln w="12700">
            <a:solidFill>
              <a:srgbClr val="DDEFE6">
                <a:alpha val="0"/>
              </a:srgbClr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68096" y="2276856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D7A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768096" y="2542032"/>
            <a:ext cx="185989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25" b="1" dirty="0">
                <a:solidFill>
                  <a:srgbClr val="1B2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Observe symptom</a:t>
            </a:r>
            <a:endParaRPr lang="en-US" sz="1425" dirty="0"/>
          </a:p>
        </p:txBody>
      </p:sp>
      <p:sp>
        <p:nvSpPr>
          <p:cNvPr id="8" name="Shape 5"/>
          <p:cNvSpPr/>
          <p:nvPr/>
        </p:nvSpPr>
        <p:spPr>
          <a:xfrm>
            <a:off x="2847442" y="2148840"/>
            <a:ext cx="2079346" cy="960120"/>
          </a:xfrm>
          <a:prstGeom prst="roundRect">
            <a:avLst>
              <a:gd name="adj" fmla="val 7619"/>
            </a:avLst>
          </a:prstGeom>
          <a:solidFill>
            <a:srgbClr val="D9EBF7"/>
          </a:solidFill>
          <a:ln w="12700">
            <a:solidFill>
              <a:srgbClr val="D9EBF7">
                <a:alpha val="0"/>
              </a:srgbClr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2957170" y="2276856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D7A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2957170" y="2542032"/>
            <a:ext cx="185989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25" b="1" dirty="0">
                <a:solidFill>
                  <a:srgbClr val="1B2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State a hypothesis</a:t>
            </a:r>
            <a:endParaRPr lang="en-US" sz="1425" dirty="0"/>
          </a:p>
        </p:txBody>
      </p:sp>
      <p:sp>
        <p:nvSpPr>
          <p:cNvPr id="11" name="Shape 8"/>
          <p:cNvSpPr/>
          <p:nvPr/>
        </p:nvSpPr>
        <p:spPr>
          <a:xfrm>
            <a:off x="5036515" y="2148840"/>
            <a:ext cx="2079346" cy="960120"/>
          </a:xfrm>
          <a:prstGeom prst="roundRect">
            <a:avLst>
              <a:gd name="adj" fmla="val 7619"/>
            </a:avLst>
          </a:prstGeom>
          <a:solidFill>
            <a:srgbClr val="DDEFE6"/>
          </a:solidFill>
          <a:ln w="12700">
            <a:solidFill>
              <a:srgbClr val="DDEFE6">
                <a:alpha val="0"/>
              </a:srgbClr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146243" y="2276856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D7A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5146243" y="2542032"/>
            <a:ext cx="185989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25" b="1" dirty="0">
                <a:solidFill>
                  <a:srgbClr val="1B2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Ask one bounded correction</a:t>
            </a:r>
            <a:endParaRPr lang="en-US" sz="1425" dirty="0"/>
          </a:p>
        </p:txBody>
      </p:sp>
      <p:sp>
        <p:nvSpPr>
          <p:cNvPr id="14" name="Shape 11"/>
          <p:cNvSpPr/>
          <p:nvPr/>
        </p:nvSpPr>
        <p:spPr>
          <a:xfrm>
            <a:off x="7225589" y="2148840"/>
            <a:ext cx="2079346" cy="960120"/>
          </a:xfrm>
          <a:prstGeom prst="roundRect">
            <a:avLst>
              <a:gd name="adj" fmla="val 7619"/>
            </a:avLst>
          </a:prstGeom>
          <a:solidFill>
            <a:srgbClr val="D9EBF7"/>
          </a:solidFill>
          <a:ln w="12700">
            <a:solidFill>
              <a:srgbClr val="D9EBF7">
                <a:alpha val="0"/>
              </a:srgbClr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335317" y="2276856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D7A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7335317" y="2542032"/>
            <a:ext cx="185989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25" b="1" dirty="0">
                <a:solidFill>
                  <a:srgbClr val="1B2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Verify the fix</a:t>
            </a:r>
            <a:endParaRPr lang="en-US" sz="1425" dirty="0"/>
          </a:p>
        </p:txBody>
      </p:sp>
      <p:sp>
        <p:nvSpPr>
          <p:cNvPr id="17" name="Shape 14"/>
          <p:cNvSpPr/>
          <p:nvPr/>
        </p:nvSpPr>
        <p:spPr>
          <a:xfrm>
            <a:off x="9414662" y="2148840"/>
            <a:ext cx="2079346" cy="960120"/>
          </a:xfrm>
          <a:prstGeom prst="roundRect">
            <a:avLst>
              <a:gd name="adj" fmla="val 7619"/>
            </a:avLst>
          </a:prstGeom>
          <a:solidFill>
            <a:srgbClr val="DDEFE6"/>
          </a:solidFill>
          <a:ln w="12700">
            <a:solidFill>
              <a:srgbClr val="DDEFE6">
                <a:alpha val="0"/>
              </a:srgbClr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9524390" y="2276856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D7A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9524390" y="2542032"/>
            <a:ext cx="185989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25" b="1" dirty="0">
                <a:solidFill>
                  <a:srgbClr val="1B2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Regression-check the flow</a:t>
            </a:r>
            <a:endParaRPr lang="en-US" sz="1425" dirty="0"/>
          </a:p>
        </p:txBody>
      </p:sp>
      <p:sp>
        <p:nvSpPr>
          <p:cNvPr id="20" name="Text 17"/>
          <p:cNvSpPr/>
          <p:nvPr/>
        </p:nvSpPr>
        <p:spPr>
          <a:xfrm>
            <a:off x="658368" y="6108192"/>
            <a:ext cx="10607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i="1" dirty="0">
                <a:solidFill>
                  <a:srgbClr val="5363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 not say “make it better.” Say what failed, where, and what acceptance looks like.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64808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7848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41</a:t>
            </a:fld>
            <a:endParaRPr lang="en-US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02920" y="320040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160" kern="0" dirty="0">
                <a:solidFill>
                  <a:srgbClr val="2D7A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4</a:t>
            </a:r>
            <a:endParaRPr lang="en-US" sz="1000" dirty="0"/>
          </a:p>
        </p:txBody>
      </p:sp>
      <p:sp>
        <p:nvSpPr>
          <p:cNvPr id="4" name="Text 1"/>
          <p:cNvSpPr/>
          <p:nvPr/>
        </p:nvSpPr>
        <p:spPr>
          <a:xfrm>
            <a:off x="502920" y="713232"/>
            <a:ext cx="10789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1B2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4 assessment</a:t>
            </a:r>
            <a:endParaRPr lang="en-US" sz="3100" dirty="0"/>
          </a:p>
        </p:txBody>
      </p:sp>
      <p:sp>
        <p:nvSpPr>
          <p:cNvPr id="5" name="Shape 2"/>
          <p:cNvSpPr/>
          <p:nvPr/>
        </p:nvSpPr>
        <p:spPr>
          <a:xfrm>
            <a:off x="868680" y="1691640"/>
            <a:ext cx="5257800" cy="749808"/>
          </a:xfrm>
          <a:prstGeom prst="roundRect">
            <a:avLst>
              <a:gd name="adj" fmla="val 9756"/>
            </a:avLst>
          </a:prstGeom>
          <a:solidFill>
            <a:srgbClr val="DDEFE6"/>
          </a:solidFill>
          <a:ln w="12700">
            <a:solidFill>
              <a:srgbClr val="DDEFE6">
                <a:alpha val="0"/>
              </a:srgbClr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1033272" y="1874520"/>
            <a:ext cx="310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D7A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1490472" y="1828800"/>
            <a:ext cx="4434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1B2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Looks and behaves like Modus</a:t>
            </a:r>
            <a:endParaRPr lang="en-US" sz="1450" dirty="0"/>
          </a:p>
        </p:txBody>
      </p:sp>
      <p:sp>
        <p:nvSpPr>
          <p:cNvPr id="8" name="Shape 5"/>
          <p:cNvSpPr/>
          <p:nvPr/>
        </p:nvSpPr>
        <p:spPr>
          <a:xfrm>
            <a:off x="6355080" y="1691640"/>
            <a:ext cx="5257800" cy="749808"/>
          </a:xfrm>
          <a:prstGeom prst="roundRect">
            <a:avLst>
              <a:gd name="adj" fmla="val 9756"/>
            </a:avLst>
          </a:prstGeom>
          <a:solidFill>
            <a:srgbClr val="DDEFE6"/>
          </a:solidFill>
          <a:ln w="12700">
            <a:solidFill>
              <a:srgbClr val="DDEFE6">
                <a:alpha val="0"/>
              </a:srgbClr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519672" y="1874520"/>
            <a:ext cx="310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D7A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6976872" y="1828800"/>
            <a:ext cx="4434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1B2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Relevant states work</a:t>
            </a:r>
            <a:endParaRPr lang="en-US" sz="1450" dirty="0"/>
          </a:p>
        </p:txBody>
      </p:sp>
      <p:sp>
        <p:nvSpPr>
          <p:cNvPr id="11" name="Shape 8"/>
          <p:cNvSpPr/>
          <p:nvPr/>
        </p:nvSpPr>
        <p:spPr>
          <a:xfrm>
            <a:off x="868680" y="2849880"/>
            <a:ext cx="5257800" cy="749808"/>
          </a:xfrm>
          <a:prstGeom prst="roundRect">
            <a:avLst>
              <a:gd name="adj" fmla="val 9756"/>
            </a:avLst>
          </a:prstGeom>
          <a:solidFill>
            <a:srgbClr val="DDEFE6"/>
          </a:solidFill>
          <a:ln w="12700">
            <a:solidFill>
              <a:srgbClr val="DDEFE6">
                <a:alpha val="0"/>
              </a:srgbClr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033272" y="3032760"/>
            <a:ext cx="310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D7A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1490472" y="2987040"/>
            <a:ext cx="4434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1B2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Peer completes task without explanation</a:t>
            </a:r>
            <a:endParaRPr lang="en-US" sz="1450" dirty="0"/>
          </a:p>
        </p:txBody>
      </p:sp>
      <p:sp>
        <p:nvSpPr>
          <p:cNvPr id="14" name="Shape 11"/>
          <p:cNvSpPr/>
          <p:nvPr/>
        </p:nvSpPr>
        <p:spPr>
          <a:xfrm>
            <a:off x="6355080" y="2849880"/>
            <a:ext cx="5257800" cy="749808"/>
          </a:xfrm>
          <a:prstGeom prst="roundRect">
            <a:avLst>
              <a:gd name="adj" fmla="val 9756"/>
            </a:avLst>
          </a:prstGeom>
          <a:solidFill>
            <a:srgbClr val="DDEFE6"/>
          </a:solidFill>
          <a:ln w="12700">
            <a:solidFill>
              <a:srgbClr val="DDEFE6">
                <a:alpha val="0"/>
              </a:srgbClr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519672" y="3032760"/>
            <a:ext cx="310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D7A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6976872" y="2987040"/>
            <a:ext cx="4434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1B2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Narrow and wide layouts pass</a:t>
            </a:r>
            <a:endParaRPr lang="en-US" sz="1450" dirty="0"/>
          </a:p>
        </p:txBody>
      </p:sp>
      <p:sp>
        <p:nvSpPr>
          <p:cNvPr id="17" name="Shape 14"/>
          <p:cNvSpPr/>
          <p:nvPr/>
        </p:nvSpPr>
        <p:spPr>
          <a:xfrm>
            <a:off x="868680" y="4008120"/>
            <a:ext cx="5257800" cy="749808"/>
          </a:xfrm>
          <a:prstGeom prst="roundRect">
            <a:avLst>
              <a:gd name="adj" fmla="val 9756"/>
            </a:avLst>
          </a:prstGeom>
          <a:solidFill>
            <a:srgbClr val="DDEFE6"/>
          </a:solidFill>
          <a:ln w="12700">
            <a:solidFill>
              <a:srgbClr val="DDEFE6">
                <a:alpha val="0"/>
              </a:srgbClr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1033272" y="4191000"/>
            <a:ext cx="310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D7A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1490472" y="4145280"/>
            <a:ext cx="4434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1B2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Keyboard/focus/labels are checked</a:t>
            </a:r>
            <a:endParaRPr lang="en-US" sz="1450" dirty="0"/>
          </a:p>
        </p:txBody>
      </p:sp>
      <p:sp>
        <p:nvSpPr>
          <p:cNvPr id="20" name="Shape 17"/>
          <p:cNvSpPr/>
          <p:nvPr/>
        </p:nvSpPr>
        <p:spPr>
          <a:xfrm>
            <a:off x="6355080" y="4008120"/>
            <a:ext cx="5257800" cy="749808"/>
          </a:xfrm>
          <a:prstGeom prst="roundRect">
            <a:avLst>
              <a:gd name="adj" fmla="val 9756"/>
            </a:avLst>
          </a:prstGeom>
          <a:solidFill>
            <a:srgbClr val="DDEFE6"/>
          </a:solidFill>
          <a:ln w="12700">
            <a:solidFill>
              <a:srgbClr val="DDEFE6">
                <a:alpha val="0"/>
              </a:srgbClr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6519672" y="4191000"/>
            <a:ext cx="310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D7A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2" name="Text 19"/>
          <p:cNvSpPr/>
          <p:nvPr/>
        </p:nvSpPr>
        <p:spPr>
          <a:xfrm>
            <a:off x="6976872" y="4145280"/>
            <a:ext cx="4434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1B2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Known limits are stated</a:t>
            </a:r>
            <a:endParaRPr lang="en-US" sz="1450" dirty="0"/>
          </a:p>
        </p:txBody>
      </p:sp>
      <p:sp>
        <p:nvSpPr>
          <p:cNvPr id="23" name="Text 20"/>
          <p:cNvSpPr/>
          <p:nvPr/>
        </p:nvSpPr>
        <p:spPr>
          <a:xfrm>
            <a:off x="868680" y="5806440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D7A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gate: product quality, not code knowledge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64808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7848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42</a:t>
            </a:fld>
            <a:endParaRPr lang="en-US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02920" y="320040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160" kern="0" dirty="0">
                <a:solidFill>
                  <a:srgbClr val="2D7A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4</a:t>
            </a:r>
            <a:endParaRPr lang="en-US" sz="1000" dirty="0"/>
          </a:p>
        </p:txBody>
      </p:sp>
      <p:sp>
        <p:nvSpPr>
          <p:cNvPr id="4" name="Text 1"/>
          <p:cNvSpPr/>
          <p:nvPr/>
        </p:nvSpPr>
        <p:spPr>
          <a:xfrm>
            <a:off x="502920" y="713232"/>
            <a:ext cx="10789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1B2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Q&amp;A clinic</a:t>
            </a:r>
            <a:endParaRPr lang="en-US" sz="3100" dirty="0"/>
          </a:p>
        </p:txBody>
      </p:sp>
      <p:sp>
        <p:nvSpPr>
          <p:cNvPr id="5" name="Shape 2"/>
          <p:cNvSpPr/>
          <p:nvPr/>
        </p:nvSpPr>
        <p:spPr>
          <a:xfrm>
            <a:off x="658368" y="1737360"/>
            <a:ext cx="3477768" cy="117043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59536" y="1901952"/>
            <a:ext cx="307543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B2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Modus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4337304" y="1737360"/>
            <a:ext cx="3477768" cy="117043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538472" y="1901952"/>
            <a:ext cx="307543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B2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Interaction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8016240" y="1737360"/>
            <a:ext cx="3477768" cy="117043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217408" y="1901952"/>
            <a:ext cx="307543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B2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Responsive</a:t>
            </a:r>
            <a:endParaRPr lang="en-US" sz="1800" dirty="0"/>
          </a:p>
        </p:txBody>
      </p:sp>
      <p:sp>
        <p:nvSpPr>
          <p:cNvPr id="11" name="Shape 8"/>
          <p:cNvSpPr/>
          <p:nvPr/>
        </p:nvSpPr>
        <p:spPr>
          <a:xfrm>
            <a:off x="658368" y="3108960"/>
            <a:ext cx="3477768" cy="117043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59536" y="3273552"/>
            <a:ext cx="307543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B2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Accessibility</a:t>
            </a:r>
            <a:endParaRPr lang="en-US" sz="1800" dirty="0"/>
          </a:p>
        </p:txBody>
      </p:sp>
      <p:sp>
        <p:nvSpPr>
          <p:cNvPr id="13" name="Shape 10"/>
          <p:cNvSpPr/>
          <p:nvPr/>
        </p:nvSpPr>
        <p:spPr>
          <a:xfrm>
            <a:off x="4337304" y="3108960"/>
            <a:ext cx="3477768" cy="117043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538472" y="3273552"/>
            <a:ext cx="307543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B2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Repair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658368" y="6108192"/>
            <a:ext cx="10607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i="1" dirty="0">
                <a:solidFill>
                  <a:srgbClr val="5363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Then make the work available to other people.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64808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7848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43</a:t>
            </a:fld>
            <a:endParaRPr lang="en-US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003E6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3E63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 rot="1800000">
            <a:off x="7772400" y="-914400"/>
            <a:ext cx="5212080" cy="5212080"/>
          </a:xfrm>
          <a:prstGeom prst="arc">
            <a:avLst/>
          </a:prstGeom>
          <a:solidFill>
            <a:srgbClr val="F9C74F">
              <a:alpha val="98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731520" y="65836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9C7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5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731520" y="1828800"/>
            <a:ext cx="8961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5</a:t>
            </a:r>
            <a:endParaRPr lang="en-US" sz="4200" dirty="0"/>
          </a:p>
        </p:txBody>
      </p:sp>
      <p:sp>
        <p:nvSpPr>
          <p:cNvPr id="7" name="Text 4"/>
          <p:cNvSpPr/>
          <p:nvPr/>
        </p:nvSpPr>
        <p:spPr>
          <a:xfrm>
            <a:off x="749808" y="3090672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GitHub, access, and delivery</a:t>
            </a:r>
            <a:endParaRPr lang="en-US" sz="2400" dirty="0"/>
          </a:p>
        </p:txBody>
      </p:sp>
      <p:sp>
        <p:nvSpPr>
          <p:cNvPr id="8" name="Text 5"/>
          <p:cNvSpPr/>
          <p:nvPr/>
        </p:nvSpPr>
        <p:spPr>
          <a:xfrm>
            <a:off x="749808" y="5440680"/>
            <a:ext cx="5486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9C7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2 · Afternoon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64808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7848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44</a:t>
            </a:fld>
            <a:endParaRPr lang="en-US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02920" y="320040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160" kern="0" dirty="0">
                <a:solidFill>
                  <a:srgbClr val="003E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5</a:t>
            </a:r>
            <a:endParaRPr lang="en-US" sz="1000" dirty="0"/>
          </a:p>
        </p:txBody>
      </p:sp>
      <p:sp>
        <p:nvSpPr>
          <p:cNvPr id="4" name="Text 1"/>
          <p:cNvSpPr/>
          <p:nvPr/>
        </p:nvSpPr>
        <p:spPr>
          <a:xfrm>
            <a:off x="502920" y="713232"/>
            <a:ext cx="10789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1B2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prototype is not delivered while it lives only on your Mac.</a:t>
            </a:r>
            <a:endParaRPr lang="en-US" sz="3100" dirty="0"/>
          </a:p>
        </p:txBody>
      </p:sp>
      <p:sp>
        <p:nvSpPr>
          <p:cNvPr id="5" name="Shape 2"/>
          <p:cNvSpPr/>
          <p:nvPr/>
        </p:nvSpPr>
        <p:spPr>
          <a:xfrm>
            <a:off x="658368" y="2148840"/>
            <a:ext cx="1714500" cy="960120"/>
          </a:xfrm>
          <a:prstGeom prst="roundRect">
            <a:avLst>
              <a:gd name="adj" fmla="val 7619"/>
            </a:avLst>
          </a:prstGeom>
          <a:solidFill>
            <a:srgbClr val="DDEFE6"/>
          </a:solidFill>
          <a:ln w="12700">
            <a:solidFill>
              <a:srgbClr val="DDEFE6">
                <a:alpha val="0"/>
              </a:srgbClr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68096" y="2276856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3E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768096" y="2542032"/>
            <a:ext cx="14950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90" b="1" dirty="0">
                <a:solidFill>
                  <a:srgbClr val="1B2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Their GitHub account</a:t>
            </a:r>
            <a:endParaRPr lang="en-US" sz="1390" dirty="0"/>
          </a:p>
        </p:txBody>
      </p:sp>
      <p:sp>
        <p:nvSpPr>
          <p:cNvPr id="8" name="Shape 5"/>
          <p:cNvSpPr/>
          <p:nvPr/>
        </p:nvSpPr>
        <p:spPr>
          <a:xfrm>
            <a:off x="2482596" y="2148840"/>
            <a:ext cx="1714500" cy="960120"/>
          </a:xfrm>
          <a:prstGeom prst="roundRect">
            <a:avLst>
              <a:gd name="adj" fmla="val 7619"/>
            </a:avLst>
          </a:prstGeom>
          <a:solidFill>
            <a:srgbClr val="D9EBF7"/>
          </a:solidFill>
          <a:ln w="12700">
            <a:solidFill>
              <a:srgbClr val="D9EBF7">
                <a:alpha val="0"/>
              </a:srgbClr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2592324" y="2276856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3E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2592324" y="2542032"/>
            <a:ext cx="14950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90" b="1" dirty="0">
                <a:solidFill>
                  <a:srgbClr val="1B2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 repository</a:t>
            </a:r>
            <a:endParaRPr lang="en-US" sz="1390" dirty="0"/>
          </a:p>
        </p:txBody>
      </p:sp>
      <p:sp>
        <p:nvSpPr>
          <p:cNvPr id="11" name="Shape 8"/>
          <p:cNvSpPr/>
          <p:nvPr/>
        </p:nvSpPr>
        <p:spPr>
          <a:xfrm>
            <a:off x="4306824" y="2148840"/>
            <a:ext cx="1714500" cy="960120"/>
          </a:xfrm>
          <a:prstGeom prst="roundRect">
            <a:avLst>
              <a:gd name="adj" fmla="val 7619"/>
            </a:avLst>
          </a:prstGeom>
          <a:solidFill>
            <a:srgbClr val="DDEFE6"/>
          </a:solidFill>
          <a:ln w="12700">
            <a:solidFill>
              <a:srgbClr val="DDEFE6">
                <a:alpha val="0"/>
              </a:srgbClr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416552" y="2276856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3E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4416552" y="2542032"/>
            <a:ext cx="14950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90" b="1" dirty="0">
                <a:solidFill>
                  <a:srgbClr val="1B2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Commit a named snapshot</a:t>
            </a:r>
            <a:endParaRPr lang="en-US" sz="1390" dirty="0"/>
          </a:p>
        </p:txBody>
      </p:sp>
      <p:sp>
        <p:nvSpPr>
          <p:cNvPr id="14" name="Shape 11"/>
          <p:cNvSpPr/>
          <p:nvPr/>
        </p:nvSpPr>
        <p:spPr>
          <a:xfrm>
            <a:off x="6131052" y="2148840"/>
            <a:ext cx="1714500" cy="960120"/>
          </a:xfrm>
          <a:prstGeom prst="roundRect">
            <a:avLst>
              <a:gd name="adj" fmla="val 7619"/>
            </a:avLst>
          </a:prstGeom>
          <a:solidFill>
            <a:srgbClr val="D9EBF7"/>
          </a:solidFill>
          <a:ln w="12700">
            <a:solidFill>
              <a:srgbClr val="D9EBF7">
                <a:alpha val="0"/>
              </a:srgbClr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240780" y="2276856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3E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6240780" y="2542032"/>
            <a:ext cx="14950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90" b="1" dirty="0">
                <a:solidFill>
                  <a:srgbClr val="1B2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Publish</a:t>
            </a:r>
            <a:endParaRPr lang="en-US" sz="1390" dirty="0"/>
          </a:p>
        </p:txBody>
      </p:sp>
      <p:sp>
        <p:nvSpPr>
          <p:cNvPr id="17" name="Shape 14"/>
          <p:cNvSpPr/>
          <p:nvPr/>
        </p:nvSpPr>
        <p:spPr>
          <a:xfrm>
            <a:off x="7955280" y="2148840"/>
            <a:ext cx="1714500" cy="960120"/>
          </a:xfrm>
          <a:prstGeom prst="roundRect">
            <a:avLst>
              <a:gd name="adj" fmla="val 7619"/>
            </a:avLst>
          </a:prstGeom>
          <a:solidFill>
            <a:srgbClr val="DDEFE6"/>
          </a:solidFill>
          <a:ln w="12700">
            <a:solidFill>
              <a:srgbClr val="DDEFE6">
                <a:alpha val="0"/>
              </a:srgbClr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065008" y="2276856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3E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8065008" y="2542032"/>
            <a:ext cx="14950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90" b="1" dirty="0">
                <a:solidFill>
                  <a:srgbClr val="1B2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 live preview</a:t>
            </a:r>
            <a:endParaRPr lang="en-US" sz="1390" dirty="0"/>
          </a:p>
        </p:txBody>
      </p:sp>
      <p:sp>
        <p:nvSpPr>
          <p:cNvPr id="20" name="Shape 17"/>
          <p:cNvSpPr/>
          <p:nvPr/>
        </p:nvSpPr>
        <p:spPr>
          <a:xfrm>
            <a:off x="9779508" y="2148840"/>
            <a:ext cx="1714500" cy="960120"/>
          </a:xfrm>
          <a:prstGeom prst="roundRect">
            <a:avLst>
              <a:gd name="adj" fmla="val 7619"/>
            </a:avLst>
          </a:prstGeom>
          <a:solidFill>
            <a:srgbClr val="D9EBF7"/>
          </a:solidFill>
          <a:ln w="12700">
            <a:solidFill>
              <a:srgbClr val="D9EBF7">
                <a:alpha val="0"/>
              </a:srgbClr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889236" y="2276856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3E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9889236" y="2542032"/>
            <a:ext cx="14950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90" b="1" dirty="0">
                <a:solidFill>
                  <a:srgbClr val="1B2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Share links</a:t>
            </a:r>
            <a:endParaRPr lang="en-US" sz="1390" dirty="0"/>
          </a:p>
        </p:txBody>
      </p:sp>
      <p:sp>
        <p:nvSpPr>
          <p:cNvPr id="23" name="Text 20"/>
          <p:cNvSpPr/>
          <p:nvPr/>
        </p:nvSpPr>
        <p:spPr>
          <a:xfrm>
            <a:off x="658368" y="6108192"/>
            <a:ext cx="10607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i="1" dirty="0">
                <a:solidFill>
                  <a:srgbClr val="5363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Modus AI PDLC Playbook documents the path through Netlify deployment.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64808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7848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45</a:t>
            </a:fld>
            <a:endParaRPr lang="en-US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02920" y="320040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160" kern="0" dirty="0">
                <a:solidFill>
                  <a:srgbClr val="003E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5</a:t>
            </a:r>
            <a:endParaRPr lang="en-US" sz="1000" dirty="0"/>
          </a:p>
        </p:txBody>
      </p:sp>
      <p:sp>
        <p:nvSpPr>
          <p:cNvPr id="4" name="Text 1"/>
          <p:cNvSpPr/>
          <p:nvPr/>
        </p:nvSpPr>
        <p:spPr>
          <a:xfrm>
            <a:off x="502920" y="713232"/>
            <a:ext cx="10789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1B2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 access—not secrets.</a:t>
            </a:r>
            <a:endParaRPr lang="en-US" sz="3100" dirty="0"/>
          </a:p>
        </p:txBody>
      </p:sp>
      <p:sp>
        <p:nvSpPr>
          <p:cNvPr id="5" name="Shape 2"/>
          <p:cNvSpPr/>
          <p:nvPr/>
        </p:nvSpPr>
        <p:spPr>
          <a:xfrm>
            <a:off x="658368" y="1645920"/>
            <a:ext cx="5257800" cy="4251960"/>
          </a:xfrm>
          <a:prstGeom prst="roundRect">
            <a:avLst>
              <a:gd name="adj" fmla="val 1720"/>
            </a:avLst>
          </a:prstGeom>
          <a:solidFill>
            <a:srgbClr val="DDEFE6"/>
          </a:solidFill>
          <a:ln w="12700">
            <a:solidFill>
              <a:srgbClr val="DDEFE6">
                <a:alpha val="0"/>
              </a:srgbClr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6126480" y="1645920"/>
            <a:ext cx="5257800" cy="4251960"/>
          </a:xfrm>
          <a:prstGeom prst="roundRect">
            <a:avLst>
              <a:gd name="adj" fmla="val 1720"/>
            </a:avLst>
          </a:prstGeom>
          <a:solidFill>
            <a:srgbClr val="F7E2E2"/>
          </a:solidFill>
          <a:ln w="12700">
            <a:solidFill>
              <a:srgbClr val="F7E2E2">
                <a:alpha val="0"/>
              </a:srgbClr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914400" y="1901952"/>
            <a:ext cx="4709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2D7A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6382512" y="1901952"/>
            <a:ext cx="4709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B83B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 not teach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932688" y="248716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D7A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1316736" y="2468880"/>
            <a:ext cx="4251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1B2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Private vs public</a:t>
            </a:r>
            <a:endParaRPr lang="en-US" sz="1550" dirty="0"/>
          </a:p>
        </p:txBody>
      </p:sp>
      <p:sp>
        <p:nvSpPr>
          <p:cNvPr id="11" name="Text 8"/>
          <p:cNvSpPr/>
          <p:nvPr/>
        </p:nvSpPr>
        <p:spPr>
          <a:xfrm>
            <a:off x="932688" y="300837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D7A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1316736" y="2990088"/>
            <a:ext cx="4251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1B2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a collaborator</a:t>
            </a:r>
            <a:endParaRPr lang="en-US" sz="1550" dirty="0"/>
          </a:p>
        </p:txBody>
      </p:sp>
      <p:sp>
        <p:nvSpPr>
          <p:cNvPr id="13" name="Text 10"/>
          <p:cNvSpPr/>
          <p:nvPr/>
        </p:nvSpPr>
        <p:spPr>
          <a:xfrm>
            <a:off x="932688" y="352958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D7A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1316736" y="3511296"/>
            <a:ext cx="4251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1B2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View vs push access</a:t>
            </a:r>
            <a:endParaRPr lang="en-US" sz="1550" dirty="0"/>
          </a:p>
        </p:txBody>
      </p:sp>
      <p:sp>
        <p:nvSpPr>
          <p:cNvPr id="15" name="Text 12"/>
          <p:cNvSpPr/>
          <p:nvPr/>
        </p:nvSpPr>
        <p:spPr>
          <a:xfrm>
            <a:off x="932688" y="405079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D7A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1316736" y="4032504"/>
            <a:ext cx="4251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1B2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Org vs personal repo</a:t>
            </a:r>
            <a:endParaRPr lang="en-US" sz="1550" dirty="0"/>
          </a:p>
        </p:txBody>
      </p:sp>
      <p:sp>
        <p:nvSpPr>
          <p:cNvPr id="17" name="Text 14"/>
          <p:cNvSpPr/>
          <p:nvPr/>
        </p:nvSpPr>
        <p:spPr>
          <a:xfrm>
            <a:off x="932688" y="45720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D7A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1316736" y="4553712"/>
            <a:ext cx="4251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1B2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 link + live link</a:t>
            </a:r>
            <a:endParaRPr lang="en-US" sz="1550" dirty="0"/>
          </a:p>
        </p:txBody>
      </p:sp>
      <p:sp>
        <p:nvSpPr>
          <p:cNvPr id="19" name="Text 16"/>
          <p:cNvSpPr/>
          <p:nvPr/>
        </p:nvSpPr>
        <p:spPr>
          <a:xfrm>
            <a:off x="6400800" y="248716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B83B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6784848" y="2468880"/>
            <a:ext cx="4251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1B2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Tokens</a:t>
            </a:r>
            <a:endParaRPr lang="en-US" sz="1550" dirty="0"/>
          </a:p>
        </p:txBody>
      </p:sp>
      <p:sp>
        <p:nvSpPr>
          <p:cNvPr id="21" name="Text 18"/>
          <p:cNvSpPr/>
          <p:nvPr/>
        </p:nvSpPr>
        <p:spPr>
          <a:xfrm>
            <a:off x="6400800" y="300837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B83B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6784848" y="2990088"/>
            <a:ext cx="4251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1B2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.env files</a:t>
            </a:r>
            <a:endParaRPr lang="en-US" sz="1550" dirty="0"/>
          </a:p>
        </p:txBody>
      </p:sp>
      <p:sp>
        <p:nvSpPr>
          <p:cNvPr id="23" name="Text 20"/>
          <p:cNvSpPr/>
          <p:nvPr/>
        </p:nvSpPr>
        <p:spPr>
          <a:xfrm>
            <a:off x="6400800" y="352958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B83B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300" dirty="0"/>
          </a:p>
        </p:txBody>
      </p:sp>
      <p:sp>
        <p:nvSpPr>
          <p:cNvPr id="24" name="Text 21"/>
          <p:cNvSpPr/>
          <p:nvPr/>
        </p:nvSpPr>
        <p:spPr>
          <a:xfrm>
            <a:off x="6784848" y="3511296"/>
            <a:ext cx="4251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1B2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 secrets</a:t>
            </a:r>
            <a:endParaRPr lang="en-US" sz="1550" dirty="0"/>
          </a:p>
        </p:txBody>
      </p:sp>
      <p:sp>
        <p:nvSpPr>
          <p:cNvPr id="25" name="Text 22"/>
          <p:cNvSpPr/>
          <p:nvPr/>
        </p:nvSpPr>
        <p:spPr>
          <a:xfrm>
            <a:off x="6400800" y="405079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B83B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300" dirty="0"/>
          </a:p>
        </p:txBody>
      </p:sp>
      <p:sp>
        <p:nvSpPr>
          <p:cNvPr id="26" name="Text 23"/>
          <p:cNvSpPr/>
          <p:nvPr/>
        </p:nvSpPr>
        <p:spPr>
          <a:xfrm>
            <a:off x="6784848" y="4032504"/>
            <a:ext cx="4251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1B2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Production credentials</a:t>
            </a:r>
            <a:endParaRPr lang="en-US" sz="1550" dirty="0"/>
          </a:p>
        </p:txBody>
      </p:sp>
      <p:sp>
        <p:nvSpPr>
          <p:cNvPr id="27" name="Text 24"/>
          <p:cNvSpPr/>
          <p:nvPr/>
        </p:nvSpPr>
        <p:spPr>
          <a:xfrm>
            <a:off x="6400800" y="45720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B83B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300" dirty="0"/>
          </a:p>
        </p:txBody>
      </p:sp>
      <p:sp>
        <p:nvSpPr>
          <p:cNvPr id="28" name="Text 25"/>
          <p:cNvSpPr/>
          <p:nvPr/>
        </p:nvSpPr>
        <p:spPr>
          <a:xfrm>
            <a:off x="6784848" y="4553712"/>
            <a:ext cx="4251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1B2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 data</a:t>
            </a:r>
            <a:endParaRPr lang="en-US" sz="15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64808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7848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46</a:t>
            </a:fld>
            <a:endParaRPr lang="en-US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02920" y="320040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160" kern="0" dirty="0">
                <a:solidFill>
                  <a:srgbClr val="003E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5</a:t>
            </a:r>
            <a:endParaRPr lang="en-US" sz="1000" dirty="0"/>
          </a:p>
        </p:txBody>
      </p:sp>
      <p:sp>
        <p:nvSpPr>
          <p:cNvPr id="4" name="Text 1"/>
          <p:cNvSpPr/>
          <p:nvPr/>
        </p:nvSpPr>
        <p:spPr>
          <a:xfrm>
            <a:off x="502920" y="713232"/>
            <a:ext cx="10789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1B2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5 assessment</a:t>
            </a:r>
            <a:endParaRPr lang="en-US" sz="3100" dirty="0"/>
          </a:p>
        </p:txBody>
      </p:sp>
      <p:sp>
        <p:nvSpPr>
          <p:cNvPr id="5" name="Shape 2"/>
          <p:cNvSpPr/>
          <p:nvPr/>
        </p:nvSpPr>
        <p:spPr>
          <a:xfrm>
            <a:off x="868680" y="1691640"/>
            <a:ext cx="5257800" cy="749808"/>
          </a:xfrm>
          <a:prstGeom prst="roundRect">
            <a:avLst>
              <a:gd name="adj" fmla="val 9756"/>
            </a:avLst>
          </a:prstGeom>
          <a:solidFill>
            <a:srgbClr val="DDEFE6"/>
          </a:solidFill>
          <a:ln w="12700">
            <a:solidFill>
              <a:srgbClr val="DDEFE6">
                <a:alpha val="0"/>
              </a:srgbClr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1033272" y="1874520"/>
            <a:ext cx="310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D7A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1490472" y="1828800"/>
            <a:ext cx="4434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1B2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 is under their GitHub account</a:t>
            </a:r>
            <a:endParaRPr lang="en-US" sz="1450" dirty="0"/>
          </a:p>
        </p:txBody>
      </p:sp>
      <p:sp>
        <p:nvSpPr>
          <p:cNvPr id="8" name="Shape 5"/>
          <p:cNvSpPr/>
          <p:nvPr/>
        </p:nvSpPr>
        <p:spPr>
          <a:xfrm>
            <a:off x="6355080" y="1691640"/>
            <a:ext cx="5257800" cy="749808"/>
          </a:xfrm>
          <a:prstGeom prst="roundRect">
            <a:avLst>
              <a:gd name="adj" fmla="val 9756"/>
            </a:avLst>
          </a:prstGeom>
          <a:solidFill>
            <a:srgbClr val="DDEFE6"/>
          </a:solidFill>
          <a:ln w="12700">
            <a:solidFill>
              <a:srgbClr val="DDEFE6">
                <a:alpha val="0"/>
              </a:srgbClr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519672" y="1874520"/>
            <a:ext cx="310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D7A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6976872" y="1828800"/>
            <a:ext cx="4434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1B2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named commit exists</a:t>
            </a:r>
            <a:endParaRPr lang="en-US" sz="1450" dirty="0"/>
          </a:p>
        </p:txBody>
      </p:sp>
      <p:sp>
        <p:nvSpPr>
          <p:cNvPr id="11" name="Shape 8"/>
          <p:cNvSpPr/>
          <p:nvPr/>
        </p:nvSpPr>
        <p:spPr>
          <a:xfrm>
            <a:off x="868680" y="2849880"/>
            <a:ext cx="5257800" cy="749808"/>
          </a:xfrm>
          <a:prstGeom prst="roundRect">
            <a:avLst>
              <a:gd name="adj" fmla="val 9756"/>
            </a:avLst>
          </a:prstGeom>
          <a:solidFill>
            <a:srgbClr val="DDEFE6"/>
          </a:solidFill>
          <a:ln w="12700">
            <a:solidFill>
              <a:srgbClr val="DDEFE6">
                <a:alpha val="0"/>
              </a:srgbClr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033272" y="3032760"/>
            <a:ext cx="310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D7A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1490472" y="2987040"/>
            <a:ext cx="4434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1B2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URL opens for another person</a:t>
            </a:r>
            <a:endParaRPr lang="en-US" sz="1450" dirty="0"/>
          </a:p>
        </p:txBody>
      </p:sp>
      <p:sp>
        <p:nvSpPr>
          <p:cNvPr id="14" name="Shape 11"/>
          <p:cNvSpPr/>
          <p:nvPr/>
        </p:nvSpPr>
        <p:spPr>
          <a:xfrm>
            <a:off x="6355080" y="2849880"/>
            <a:ext cx="5257800" cy="749808"/>
          </a:xfrm>
          <a:prstGeom prst="roundRect">
            <a:avLst>
              <a:gd name="adj" fmla="val 9756"/>
            </a:avLst>
          </a:prstGeom>
          <a:solidFill>
            <a:srgbClr val="DDEFE6"/>
          </a:solidFill>
          <a:ln w="12700">
            <a:solidFill>
              <a:srgbClr val="DDEFE6">
                <a:alpha val="0"/>
              </a:srgbClr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519672" y="3032760"/>
            <a:ext cx="310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D7A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6976872" y="2987040"/>
            <a:ext cx="4434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1B2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Collaborator access is added or demonstrated</a:t>
            </a:r>
            <a:endParaRPr lang="en-US" sz="1450" dirty="0"/>
          </a:p>
        </p:txBody>
      </p:sp>
      <p:sp>
        <p:nvSpPr>
          <p:cNvPr id="17" name="Shape 14"/>
          <p:cNvSpPr/>
          <p:nvPr/>
        </p:nvSpPr>
        <p:spPr>
          <a:xfrm>
            <a:off x="868680" y="4008120"/>
            <a:ext cx="5257800" cy="749808"/>
          </a:xfrm>
          <a:prstGeom prst="roundRect">
            <a:avLst>
              <a:gd name="adj" fmla="val 9756"/>
            </a:avLst>
          </a:prstGeom>
          <a:solidFill>
            <a:srgbClr val="DDEFE6"/>
          </a:solidFill>
          <a:ln w="12700">
            <a:solidFill>
              <a:srgbClr val="DDEFE6">
                <a:alpha val="0"/>
              </a:srgbClr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1033272" y="4191000"/>
            <a:ext cx="310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D7A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1490472" y="4145280"/>
            <a:ext cx="4434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1B2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Figma + repo + preview links are recorded</a:t>
            </a:r>
            <a:endParaRPr lang="en-US" sz="1450" dirty="0"/>
          </a:p>
        </p:txBody>
      </p:sp>
      <p:sp>
        <p:nvSpPr>
          <p:cNvPr id="20" name="Shape 17"/>
          <p:cNvSpPr/>
          <p:nvPr/>
        </p:nvSpPr>
        <p:spPr>
          <a:xfrm>
            <a:off x="6355080" y="4008120"/>
            <a:ext cx="5257800" cy="749808"/>
          </a:xfrm>
          <a:prstGeom prst="roundRect">
            <a:avLst>
              <a:gd name="adj" fmla="val 9756"/>
            </a:avLst>
          </a:prstGeom>
          <a:solidFill>
            <a:srgbClr val="DDEFE6"/>
          </a:solidFill>
          <a:ln w="12700">
            <a:solidFill>
              <a:srgbClr val="DDEFE6">
                <a:alpha val="0"/>
              </a:srgbClr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6519672" y="4191000"/>
            <a:ext cx="310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D7A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2" name="Text 19"/>
          <p:cNvSpPr/>
          <p:nvPr/>
        </p:nvSpPr>
        <p:spPr>
          <a:xfrm>
            <a:off x="6976872" y="4145280"/>
            <a:ext cx="4434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1B2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Known limitations are documented</a:t>
            </a:r>
            <a:endParaRPr lang="en-US" sz="1450" dirty="0"/>
          </a:p>
        </p:txBody>
      </p:sp>
      <p:sp>
        <p:nvSpPr>
          <p:cNvPr id="23" name="Text 20"/>
          <p:cNvSpPr/>
          <p:nvPr/>
        </p:nvSpPr>
        <p:spPr>
          <a:xfrm>
            <a:off x="868680" y="5806440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D7A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Delivery gate: another person can access and understand the work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64808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7848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47</a:t>
            </a:fld>
            <a:endParaRPr lang="en-US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02920" y="320040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160" kern="0" dirty="0">
                <a:solidFill>
                  <a:srgbClr val="1B2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CLOSE</a:t>
            </a:r>
            <a:endParaRPr lang="en-US" sz="1000" dirty="0"/>
          </a:p>
        </p:txBody>
      </p:sp>
      <p:sp>
        <p:nvSpPr>
          <p:cNvPr id="4" name="Text 1"/>
          <p:cNvSpPr/>
          <p:nvPr/>
        </p:nvSpPr>
        <p:spPr>
          <a:xfrm>
            <a:off x="502920" y="713232"/>
            <a:ext cx="10789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1B2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Final quality rubric</a:t>
            </a:r>
            <a:endParaRPr lang="en-US" sz="3100" dirty="0"/>
          </a:p>
        </p:txBody>
      </p:sp>
      <p:sp>
        <p:nvSpPr>
          <p:cNvPr id="5" name="Shape 2"/>
          <p:cNvSpPr/>
          <p:nvPr/>
        </p:nvSpPr>
        <p:spPr>
          <a:xfrm>
            <a:off x="658368" y="1600200"/>
            <a:ext cx="5317236" cy="671170"/>
          </a:xfrm>
          <a:prstGeom prst="roundRect">
            <a:avLst>
              <a:gd name="adj" fmla="val 10899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59536" y="1764792"/>
            <a:ext cx="4914900" cy="34198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B2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framing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6176772" y="1600200"/>
            <a:ext cx="5317236" cy="671170"/>
          </a:xfrm>
          <a:prstGeom prst="roundRect">
            <a:avLst>
              <a:gd name="adj" fmla="val 10899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377940" y="1764792"/>
            <a:ext cx="4914900" cy="34198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B2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direction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658368" y="2472538"/>
            <a:ext cx="5317236" cy="671170"/>
          </a:xfrm>
          <a:prstGeom prst="roundRect">
            <a:avLst>
              <a:gd name="adj" fmla="val 10899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59536" y="2637130"/>
            <a:ext cx="4914900" cy="34198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B2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Functional states</a:t>
            </a:r>
            <a:endParaRPr lang="en-US" sz="1800" dirty="0"/>
          </a:p>
        </p:txBody>
      </p:sp>
      <p:sp>
        <p:nvSpPr>
          <p:cNvPr id="11" name="Shape 8"/>
          <p:cNvSpPr/>
          <p:nvPr/>
        </p:nvSpPr>
        <p:spPr>
          <a:xfrm>
            <a:off x="6176772" y="2472538"/>
            <a:ext cx="5317236" cy="671170"/>
          </a:xfrm>
          <a:prstGeom prst="roundRect">
            <a:avLst>
              <a:gd name="adj" fmla="val 10899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377940" y="2637130"/>
            <a:ext cx="4914900" cy="34198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B2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 judgment</a:t>
            </a:r>
            <a:endParaRPr lang="en-US" sz="1800" dirty="0"/>
          </a:p>
        </p:txBody>
      </p:sp>
      <p:sp>
        <p:nvSpPr>
          <p:cNvPr id="13" name="Shape 10"/>
          <p:cNvSpPr/>
          <p:nvPr/>
        </p:nvSpPr>
        <p:spPr>
          <a:xfrm>
            <a:off x="658368" y="3344875"/>
            <a:ext cx="5317236" cy="671170"/>
          </a:xfrm>
          <a:prstGeom prst="roundRect">
            <a:avLst>
              <a:gd name="adj" fmla="val 10899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59536" y="3509467"/>
            <a:ext cx="4914900" cy="34198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B2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Modus quality</a:t>
            </a:r>
            <a:endParaRPr lang="en-US" sz="1800" dirty="0"/>
          </a:p>
        </p:txBody>
      </p:sp>
      <p:sp>
        <p:nvSpPr>
          <p:cNvPr id="15" name="Shape 12"/>
          <p:cNvSpPr/>
          <p:nvPr/>
        </p:nvSpPr>
        <p:spPr>
          <a:xfrm>
            <a:off x="6176772" y="3344875"/>
            <a:ext cx="5317236" cy="671170"/>
          </a:xfrm>
          <a:prstGeom prst="roundRect">
            <a:avLst>
              <a:gd name="adj" fmla="val 10899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377940" y="3509467"/>
            <a:ext cx="4914900" cy="34198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B2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Responsive behavior</a:t>
            </a:r>
            <a:endParaRPr lang="en-US" sz="1800" dirty="0"/>
          </a:p>
        </p:txBody>
      </p:sp>
      <p:sp>
        <p:nvSpPr>
          <p:cNvPr id="17" name="Shape 14"/>
          <p:cNvSpPr/>
          <p:nvPr/>
        </p:nvSpPr>
        <p:spPr>
          <a:xfrm>
            <a:off x="658368" y="4217213"/>
            <a:ext cx="5317236" cy="671170"/>
          </a:xfrm>
          <a:prstGeom prst="roundRect">
            <a:avLst>
              <a:gd name="adj" fmla="val 10899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59536" y="4381805"/>
            <a:ext cx="4914900" cy="34198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B2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Accessibility</a:t>
            </a:r>
            <a:endParaRPr lang="en-US" sz="1800" dirty="0"/>
          </a:p>
        </p:txBody>
      </p:sp>
      <p:sp>
        <p:nvSpPr>
          <p:cNvPr id="19" name="Shape 16"/>
          <p:cNvSpPr/>
          <p:nvPr/>
        </p:nvSpPr>
        <p:spPr>
          <a:xfrm>
            <a:off x="6176772" y="4217213"/>
            <a:ext cx="5317236" cy="671170"/>
          </a:xfrm>
          <a:prstGeom prst="roundRect">
            <a:avLst>
              <a:gd name="adj" fmla="val 10899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377940" y="4381805"/>
            <a:ext cx="4914900" cy="34198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B2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Diagnosis</a:t>
            </a:r>
            <a:endParaRPr lang="en-US" sz="1800" dirty="0"/>
          </a:p>
        </p:txBody>
      </p:sp>
      <p:sp>
        <p:nvSpPr>
          <p:cNvPr id="21" name="Shape 18"/>
          <p:cNvSpPr/>
          <p:nvPr/>
        </p:nvSpPr>
        <p:spPr>
          <a:xfrm>
            <a:off x="658368" y="5089550"/>
            <a:ext cx="5317236" cy="671170"/>
          </a:xfrm>
          <a:prstGeom prst="roundRect">
            <a:avLst>
              <a:gd name="adj" fmla="val 10899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859536" y="5254142"/>
            <a:ext cx="4914900" cy="34198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B2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Safety</a:t>
            </a:r>
            <a:endParaRPr lang="en-US" sz="1800" dirty="0"/>
          </a:p>
        </p:txBody>
      </p:sp>
      <p:sp>
        <p:nvSpPr>
          <p:cNvPr id="23" name="Shape 20"/>
          <p:cNvSpPr/>
          <p:nvPr/>
        </p:nvSpPr>
        <p:spPr>
          <a:xfrm>
            <a:off x="6176772" y="5089550"/>
            <a:ext cx="5317236" cy="671170"/>
          </a:xfrm>
          <a:prstGeom prst="roundRect">
            <a:avLst>
              <a:gd name="adj" fmla="val 10899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6377940" y="5254142"/>
            <a:ext cx="4914900" cy="34198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B2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Handoff</a:t>
            </a:r>
            <a:endParaRPr lang="en-US" sz="1800" dirty="0"/>
          </a:p>
        </p:txBody>
      </p:sp>
      <p:sp>
        <p:nvSpPr>
          <p:cNvPr id="25" name="Text 22"/>
          <p:cNvSpPr/>
          <p:nvPr/>
        </p:nvSpPr>
        <p:spPr>
          <a:xfrm>
            <a:off x="658368" y="6108192"/>
            <a:ext cx="10607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i="1" dirty="0">
                <a:solidFill>
                  <a:srgbClr val="5363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0–3 each. Require at least 2 in states, accessibility, safety, and handoff.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64808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7848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48</a:t>
            </a:fld>
            <a:endParaRPr lang="en-US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02920" y="320040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160" kern="0" dirty="0">
                <a:solidFill>
                  <a:srgbClr val="1B2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CLOSE</a:t>
            </a:r>
            <a:endParaRPr lang="en-US" sz="1000" dirty="0"/>
          </a:p>
        </p:txBody>
      </p:sp>
      <p:sp>
        <p:nvSpPr>
          <p:cNvPr id="4" name="Text 1"/>
          <p:cNvSpPr/>
          <p:nvPr/>
        </p:nvSpPr>
        <p:spPr>
          <a:xfrm>
            <a:off x="502920" y="713232"/>
            <a:ext cx="10789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1B2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Three-minute final showcase</a:t>
            </a:r>
            <a:endParaRPr lang="en-US" sz="3100" dirty="0"/>
          </a:p>
        </p:txBody>
      </p:sp>
      <p:sp>
        <p:nvSpPr>
          <p:cNvPr id="5" name="Shape 2"/>
          <p:cNvSpPr/>
          <p:nvPr/>
        </p:nvSpPr>
        <p:spPr>
          <a:xfrm>
            <a:off x="658368" y="1691640"/>
            <a:ext cx="3477768" cy="117043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59536" y="1856232"/>
            <a:ext cx="307543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B2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problem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4337304" y="1691640"/>
            <a:ext cx="3477768" cy="117043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538472" y="1856232"/>
            <a:ext cx="307543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B2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Interaction and states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8016240" y="1691640"/>
            <a:ext cx="3477768" cy="117043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217408" y="1856232"/>
            <a:ext cx="307543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B2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Brain inputs used</a:t>
            </a:r>
            <a:endParaRPr lang="en-US" sz="1800" dirty="0"/>
          </a:p>
        </p:txBody>
      </p:sp>
      <p:sp>
        <p:nvSpPr>
          <p:cNvPr id="11" name="Shape 8"/>
          <p:cNvSpPr/>
          <p:nvPr/>
        </p:nvSpPr>
        <p:spPr>
          <a:xfrm>
            <a:off x="658368" y="3063240"/>
            <a:ext cx="3477768" cy="117043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59536" y="3227832"/>
            <a:ext cx="307543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B2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URL + repo</a:t>
            </a:r>
            <a:endParaRPr lang="en-US" sz="1800" dirty="0"/>
          </a:p>
        </p:txBody>
      </p:sp>
      <p:sp>
        <p:nvSpPr>
          <p:cNvPr id="13" name="Shape 10"/>
          <p:cNvSpPr/>
          <p:nvPr/>
        </p:nvSpPr>
        <p:spPr>
          <a:xfrm>
            <a:off x="4337304" y="3063240"/>
            <a:ext cx="3477768" cy="117043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538472" y="3227832"/>
            <a:ext cx="307543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B2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AI failure and repair</a:t>
            </a:r>
            <a:endParaRPr lang="en-US" sz="1800" dirty="0"/>
          </a:p>
        </p:txBody>
      </p:sp>
      <p:sp>
        <p:nvSpPr>
          <p:cNvPr id="15" name="Shape 12"/>
          <p:cNvSpPr/>
          <p:nvPr/>
        </p:nvSpPr>
        <p:spPr>
          <a:xfrm>
            <a:off x="8016240" y="3063240"/>
            <a:ext cx="3477768" cy="117043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8217408" y="3227832"/>
            <a:ext cx="307543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B2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judgment AI could not make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64808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7848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49</a:t>
            </a:fld>
            <a:endParaRPr lang="en-US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02920" y="320040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160" kern="0" dirty="0">
                <a:solidFill>
                  <a:srgbClr val="1B2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CLOSE</a:t>
            </a:r>
            <a:endParaRPr lang="en-US" sz="1000" dirty="0"/>
          </a:p>
        </p:txBody>
      </p:sp>
      <p:sp>
        <p:nvSpPr>
          <p:cNvPr id="4" name="Text 1"/>
          <p:cNvSpPr/>
          <p:nvPr/>
        </p:nvSpPr>
        <p:spPr>
          <a:xfrm>
            <a:off x="502920" y="713232"/>
            <a:ext cx="10789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1B2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workshop is the start—not the finish.</a:t>
            </a:r>
            <a:endParaRPr lang="en-US" sz="3100" dirty="0"/>
          </a:p>
        </p:txBody>
      </p:sp>
      <p:sp>
        <p:nvSpPr>
          <p:cNvPr id="5" name="Shape 2"/>
          <p:cNvSpPr/>
          <p:nvPr/>
        </p:nvSpPr>
        <p:spPr>
          <a:xfrm>
            <a:off x="658368" y="1600200"/>
            <a:ext cx="10835640" cy="889254"/>
          </a:xfrm>
          <a:prstGeom prst="roundRect">
            <a:avLst>
              <a:gd name="adj" fmla="val 8226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59536" y="1764792"/>
            <a:ext cx="104333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B2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 hours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859536" y="2112264"/>
            <a:ext cx="10433304" cy="2308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5363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Reconstruct the operating loop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658368" y="2690622"/>
            <a:ext cx="10835640" cy="889254"/>
          </a:xfrm>
          <a:prstGeom prst="roundRect">
            <a:avLst>
              <a:gd name="adj" fmla="val 8226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59536" y="2855214"/>
            <a:ext cx="104333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B2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days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859536" y="3202686"/>
            <a:ext cx="10433304" cy="2308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5363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Repair a seeded defect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658368" y="3781044"/>
            <a:ext cx="10835640" cy="889254"/>
          </a:xfrm>
          <a:prstGeom prst="roundRect">
            <a:avLst>
              <a:gd name="adj" fmla="val 8226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59536" y="3945636"/>
            <a:ext cx="104333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B2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 days</a:t>
            </a:r>
            <a:endParaRPr lang="en-US" sz="1700" dirty="0"/>
          </a:p>
        </p:txBody>
      </p:sp>
      <p:sp>
        <p:nvSpPr>
          <p:cNvPr id="13" name="Text 10"/>
          <p:cNvSpPr/>
          <p:nvPr/>
        </p:nvSpPr>
        <p:spPr>
          <a:xfrm>
            <a:off x="859536" y="4293108"/>
            <a:ext cx="10433304" cy="2308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5363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a new-domain flow without a template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658368" y="4871466"/>
            <a:ext cx="10835640" cy="889254"/>
          </a:xfrm>
          <a:prstGeom prst="roundRect">
            <a:avLst>
              <a:gd name="adj" fmla="val 8226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59536" y="5036058"/>
            <a:ext cx="104333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B2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45 days</a:t>
            </a:r>
            <a:endParaRPr lang="en-US" sz="1700" dirty="0"/>
          </a:p>
        </p:txBody>
      </p:sp>
      <p:sp>
        <p:nvSpPr>
          <p:cNvPr id="16" name="Text 13"/>
          <p:cNvSpPr/>
          <p:nvPr/>
        </p:nvSpPr>
        <p:spPr>
          <a:xfrm>
            <a:off x="859536" y="5383530"/>
            <a:ext cx="10433304" cy="2308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5363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Peer critique with the same rubric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64808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7848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50</a:t>
            </a:fld>
            <a:endParaRPr lang="en-US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02920" y="320040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160" kern="0" dirty="0">
                <a:solidFill>
                  <a:srgbClr val="1B2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CLOSE</a:t>
            </a:r>
            <a:endParaRPr lang="en-US" sz="1000" dirty="0"/>
          </a:p>
        </p:txBody>
      </p:sp>
      <p:sp>
        <p:nvSpPr>
          <p:cNvPr id="4" name="Text 1"/>
          <p:cNvSpPr/>
          <p:nvPr/>
        </p:nvSpPr>
        <p:spPr>
          <a:xfrm>
            <a:off x="502920" y="713232"/>
            <a:ext cx="10789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1B2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English starts the work. Design judgment makes it good.</a:t>
            </a:r>
            <a:endParaRPr lang="en-US" sz="3100" dirty="0"/>
          </a:p>
        </p:txBody>
      </p:sp>
      <p:sp>
        <p:nvSpPr>
          <p:cNvPr id="5" name="Text 2"/>
          <p:cNvSpPr/>
          <p:nvPr/>
        </p:nvSpPr>
        <p:spPr>
          <a:xfrm>
            <a:off x="685800" y="1965960"/>
            <a:ext cx="1078992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1B2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Frame. Generate. Inspect. Verify. Ship.</a:t>
            </a:r>
            <a:endParaRPr lang="en-US" sz="3800" dirty="0"/>
          </a:p>
        </p:txBody>
      </p:sp>
      <p:sp>
        <p:nvSpPr>
          <p:cNvPr id="6" name="Text 3"/>
          <p:cNvSpPr/>
          <p:nvPr/>
        </p:nvSpPr>
        <p:spPr>
          <a:xfrm>
            <a:off x="658368" y="6108192"/>
            <a:ext cx="10607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i="1" dirty="0">
                <a:solidFill>
                  <a:srgbClr val="5363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modus.trimble.com/modus-ai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64808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7848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51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51</Slides>
  <Notes>51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51</vt:i4>
      </vt:variant>
    </vt:vector>
  </HeadingPairs>
  <TitlesOfParts>
    <vt:vector size="5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</vt:vector>
  </TitlesOfParts>
  <Company>Trimble Modus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Zero to Production-Quality Vibe Coder</dc:title>
  <dc:subject>A two-day, Agent-only workshop for product designers</dc:subject>
  <dc:creator>Modus AI Design Workshop</dc:creator>
  <cp:lastModifiedBy>Modus AI Design Workshop</cp:lastModifiedBy>
  <cp:revision>1</cp:revision>
  <dcterms:created xsi:type="dcterms:W3CDTF">2026-08-15T13:50:39Z</dcterms:created>
  <dcterms:modified xsi:type="dcterms:W3CDTF">2026-08-15T13:50:39Z</dcterms:modified>
</cp:coreProperties>
</file>